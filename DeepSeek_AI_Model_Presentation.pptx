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Introduce the topic: DeepSeek is being studied as an AI engineering case study, not just as a chatbot product. State the scope up front: system architecture, frontend, backend, every core algorithm with worked math, and a full step-by-step execution trace on one real prompt. This framing tells the examiner you understand DeepSeek as an engineered pipeline, which is exactly what they are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DeepSeek simply: it's an LLM, meaning it belongs to the Generative AI + NLP family, built on the Transformer. Mention the developer and country because faculty will ask 'who built it'. Highlight the two engineering ideas you'll return to all presentation: MoE (sparse activation) and MLA (compressed attention) — these are DeepSeek's real technical contribution, not just 'another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your five-point roadmap for the whole talk — literally tell the panel 'my presentation follows these five objectives in order'. This slide is what makes the deck feel like an engineering study rather than a product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left to right: developer, timeline, model type, then the two headline numbers — 671B total vs 37B activated — because that single fact explains why DeepSeek is cheap to run despite being huge. On the comparison panel, be careful to say ChatGPT's internals are not public, so this is an informed comparison, not a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S-shaped flow with your hand: row 1 goes left to right from User to Backend Server, drops down, row 2 goes right to left through the core model stack, drops down again, and row 3 goes left to right back out to the User. Emphasize box 7, the Transformer Decoder — that's where MLA attention and DeepSeekMoE live, the two components this whole seminar is really about. Mention the autoregressive loop note: the model does not generate the full answer in one shot, it predicts one token at a time and feeds it back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top row then bottom row: the user types in the Chat UI, the frontend validates the prompt, sends it as an API request, then listens for a streaming response so text appears word-by-word instead of waiting for the full answer. The render engine formats markdown and code blocks, and session history keeps prior turns so the conversation has memory across the frontend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server-side counterpart to the frontend slide. Emphasize box 4, Inference Engine — that's the GPU cluster actually running the model. Use the left list to explain what happens inside that box layer by layer, and the right panel to explain how DeepSeek makes this affordable at scale: batching, expert parallelism, FP8 precision, and loss-free load balancing.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one continuous ten-step numbered flow split into two columns for space. Steps 5 through 8 are the important loop to call out verbally: the decoder doesn't run once — it re-runs for every single token it produces, which is why this is called autoregressive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next block of slides — tell the panel each row gets its own dedicated slide next. Group them verbally into three stages: input-stage algorithms prepare the text, decoder-layer algorithms do the heavy reasoning (repeated 61 times in V3), and output-stage algorithms turn that reasoning into an actual chosen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Tokenization is step zero — nothing else in the model works on raw text, only on integers. Explain BPE with the merge-frequent-pairs idea in one sentence, then walk the worked example: the phrase splits into four pieces, each piece maps to one integer ID from the vocabulary. If asked why not just use whole words: rare or misspelled words would break a whole-word vocabulary, but subwords can always represent them by falling back to smaller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embedding as a lookup: the matrix has one row per vocabulary entry, and the token ID just selects which row to pull out. That row is a list of numbers with no inherent meaning to a human, but during training the model arranges these vectors so that tokens used in similar contexts get similar vectors. Mention the DeepSeek-V3 hidden size (7168) as the concrete number if asked for specifics.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step exists first: self-attention by itself is order-blind, it would treat 'dog bites man' and 'man bites dog' identically without position information. RoPE fixes this by rotating each vector by an angle tied to its position, so words that are close together end up with a small rotational difference and far-apart words a large one — that difference is what the attention dot-product actually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zooms into ONE of the 61 identical layers from the earlier pipeline diagram. Walk down the block: input first hits Layer Norm, then goes through masked Multi-head Latent Attention, gets added back to itself (residual), normalized again, passed through the DeepSeekMoE feed-forward block, and added back again. Two ideas the panel will likely probe: masking (why the model can't peek at future words) and residual connections (why very deep 61-layer networks don't fail to train — the residual path lets gradients flow straight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Transformer. Every word computes a Query, Key and Value; the grid on the right shows, for the sentence 'Artificial Intelligence is amazing', how strongly each word (row) attends to every other word (column) — darker means stronger focus, and each row sums to 1 because of softmax. Then explain DeepSeek's specific contribution, MLA: normal attention needs to cache a full Key and Value per token per head, which gets expensive for long conversations; MLA compresses K and V into one small latent vector per token before caching, and expands it back only when needed, cutting memory cost sharply.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FFN is intentionally simple: expand, activate, compress. Each token goes through this independently — no cross-token interaction here, that happened already in attention. Set up the next slide by pointing out the limitation: running this full FFN for every token through every expert would be expensive at 671B parameters — that's exactly the problem DeepSeekMoE is designed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single Feed-Forward block from the previous slide with many smaller expert networks. The router looks at each token and scores every expert, then only the top few — shown lit up here as Expert 2 and Expert 4 — actually run for that token; the rest stay idle and cost nothing. That's why DeepSeek-V3 can have 671 billion total parameters but only spend about 37 billion of them per token — you get the knowledge capacity of a huge model with the inference cost of a much smaller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Softmax is the bridge between raw model scores and an actual decision. Walk the bar chart: out of thousands of vocabulary words, these four have the highest scores for this context, and after softmax they become clean percentages that sum to 100. Since 'Amazing' has 82%, the simplest decoding rule — greedy decoding — would just pick it directly. That sets up the next slide on decoding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different rules for turning the softmax probability distribution into one actual chosen word. Greedy is simplest but can loop; beam search explores multiple candidate sentences at once for quality at the cost of compute; temperature sampling introduces controlled randomness, which is what makes chat responses feel natural instead of robotic. If asked which DeepSeek actually uses in production: sampling-based decoding (temperature + top-p) for conversational use, since pure greedy output tends to sound repetitive.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Announce that this is the execution-demonstration block: one real prompt traced through all ten internal steps, three per slide across three slides. Read the prompt, then walk steps 1 to 3 exactly as written: the sentence becomes 6 tokens, each token becomes a 7168-length vector, and each vector is rotated by its position before entering the decoder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trace: step 4 is the full 61-layer decoder stack running once; step 5 zooms into one attention pattern inside it — 'Intelligence' paying most attention to 'Artificial', which makes sense semantically; step 6 shows the MoE router activating only 2 of 5 experts for this particular context, so most of the model's 671B parameters sit idle for this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the trace: the feed-forward output goes through softmax one more time to score the whole vocabulary, the single highest-scoring token 'Artificial' is chosen as the first output token, and then the entire nine-step process repeats — tokenize the growing sequence, embed, encode position, attend, route through experts, feed-forward, softmax, pick — once per output token until the model emits a stop token. The boxed sentence at the bottom is the kind of final answer that process would eventually assemble word by word; make clear to the panel it's an illustrative sample output, not a verbatim model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fast scan across ten domains rather than reading each card verbatim — group them verbally: knowledge work (education, research, content), business (finance, customer support, automation), and technical domains (coding, cybersecurity, robotics).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a balanced engineering evaluation, not marketing. On advantages, tie every point back to a specific mechanism you already explained — MoE, MLA, RL reasoning. On limitations, be ready for the follow-up 'so is it actually cheap?' — answer: cheaper per-token than an equivalently capable dense model, but still needs serious infrastructure because 671B parameters must all be stored even if not all are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where the whole LLM field, not just DeepSeek, is heading next: longer and cheaper context handling, multimodal input, sparser attention, deeper RL-based reasoning, on-device distillation, and agentic tool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every earlier slide back to one sentence: DeepSeek is a case study in getting frontier performance through architectural efficiency — not by making the model simpler, but by making sure most of it stays idle for any given token. Thank the panel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these on hand in case the panel asks where the specific numbers came from — particularly the 671B/37B figures and the MLA/MoE architecture details, which all trace back to the official DeepSeek-V3 technical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42"/>
        </a:solidFill>
      </p:bgPr>
    </p:bg>
    <p:spTree>
      <p:nvGrpSpPr>
        <p:cNvPr id="1" name=""/>
        <p:cNvGrpSpPr/>
        <p:nvPr/>
      </p:nvGrpSpPr>
      <p:grpSpPr>
        <a:xfrm>
          <a:off x="0" y="0"/>
          <a:ext cx="0" cy="0"/>
          <a:chOff x="0" y="0"/>
          <a:chExt cx="0" cy="0"/>
        </a:xfrm>
      </p:grpSpPr>
      <p:sp>
        <p:nvSpPr>
          <p:cNvPr id="2" name="Shape 0"/>
          <p:cNvSpPr/>
          <p:nvPr/>
        </p:nvSpPr>
        <p:spPr>
          <a:xfrm>
            <a:off x="9418320" y="1188720"/>
            <a:ext cx="1188720" cy="548640"/>
          </a:xfrm>
          <a:prstGeom prst="line">
            <a:avLst/>
          </a:prstGeom>
          <a:noFill/>
          <a:ln w="15875">
            <a:solidFill>
              <a:srgbClr val="2C3A82"/>
            </a:solidFill>
            <a:prstDash val="solid"/>
          </a:ln>
        </p:spPr>
      </p:sp>
      <p:sp>
        <p:nvSpPr>
          <p:cNvPr id="3" name="Shape 1"/>
          <p:cNvSpPr/>
          <p:nvPr/>
        </p:nvSpPr>
        <p:spPr>
          <a:xfrm>
            <a:off x="8869680" y="1188720"/>
            <a:ext cx="548640" cy="1188720"/>
          </a:xfrm>
          <a:prstGeom prst="line">
            <a:avLst/>
          </a:prstGeom>
          <a:noFill/>
          <a:ln w="15875">
            <a:solidFill>
              <a:srgbClr val="2C3A82"/>
            </a:solidFill>
            <a:prstDash val="solid"/>
          </a:ln>
        </p:spPr>
      </p:sp>
      <p:sp>
        <p:nvSpPr>
          <p:cNvPr id="4" name="Shape 2"/>
          <p:cNvSpPr/>
          <p:nvPr/>
        </p:nvSpPr>
        <p:spPr>
          <a:xfrm>
            <a:off x="10149840" y="1737360"/>
            <a:ext cx="457200" cy="1280160"/>
          </a:xfrm>
          <a:prstGeom prst="line">
            <a:avLst/>
          </a:prstGeom>
          <a:noFill/>
          <a:ln w="15875">
            <a:solidFill>
              <a:srgbClr val="2C3A82"/>
            </a:solidFill>
            <a:prstDash val="solid"/>
          </a:ln>
        </p:spPr>
      </p:sp>
      <p:sp>
        <p:nvSpPr>
          <p:cNvPr id="5" name="Shape 3"/>
          <p:cNvSpPr/>
          <p:nvPr/>
        </p:nvSpPr>
        <p:spPr>
          <a:xfrm>
            <a:off x="8869680" y="2377440"/>
            <a:ext cx="1280160" cy="640080"/>
          </a:xfrm>
          <a:prstGeom prst="line">
            <a:avLst/>
          </a:prstGeom>
          <a:noFill/>
          <a:ln w="15875">
            <a:solidFill>
              <a:srgbClr val="2C3A82"/>
            </a:solidFill>
            <a:prstDash val="solid"/>
          </a:ln>
        </p:spPr>
      </p:sp>
      <p:sp>
        <p:nvSpPr>
          <p:cNvPr id="6" name="Shape 4"/>
          <p:cNvSpPr/>
          <p:nvPr/>
        </p:nvSpPr>
        <p:spPr>
          <a:xfrm>
            <a:off x="10607040" y="1737360"/>
            <a:ext cx="731520" cy="731520"/>
          </a:xfrm>
          <a:prstGeom prst="line">
            <a:avLst/>
          </a:prstGeom>
          <a:noFill/>
          <a:ln w="15875">
            <a:solidFill>
              <a:srgbClr val="2C3A82"/>
            </a:solidFill>
            <a:prstDash val="solid"/>
          </a:ln>
        </p:spPr>
      </p:sp>
      <p:sp>
        <p:nvSpPr>
          <p:cNvPr id="7" name="Shape 5"/>
          <p:cNvSpPr/>
          <p:nvPr/>
        </p:nvSpPr>
        <p:spPr>
          <a:xfrm>
            <a:off x="10149840" y="2468880"/>
            <a:ext cx="1188720" cy="548640"/>
          </a:xfrm>
          <a:prstGeom prst="line">
            <a:avLst/>
          </a:prstGeom>
          <a:noFill/>
          <a:ln w="15875">
            <a:solidFill>
              <a:srgbClr val="2C3A82"/>
            </a:solidFill>
            <a:prstDash val="solid"/>
          </a:ln>
        </p:spPr>
      </p:sp>
      <p:sp>
        <p:nvSpPr>
          <p:cNvPr id="8" name="Shape 6"/>
          <p:cNvSpPr/>
          <p:nvPr/>
        </p:nvSpPr>
        <p:spPr>
          <a:xfrm>
            <a:off x="8869680" y="2377440"/>
            <a:ext cx="457200" cy="1371600"/>
          </a:xfrm>
          <a:prstGeom prst="line">
            <a:avLst/>
          </a:prstGeom>
          <a:noFill/>
          <a:ln w="15875">
            <a:solidFill>
              <a:srgbClr val="2C3A82"/>
            </a:solidFill>
            <a:prstDash val="solid"/>
          </a:ln>
        </p:spPr>
      </p:sp>
      <p:sp>
        <p:nvSpPr>
          <p:cNvPr id="9" name="Shape 7"/>
          <p:cNvSpPr/>
          <p:nvPr/>
        </p:nvSpPr>
        <p:spPr>
          <a:xfrm>
            <a:off x="10149840" y="3017520"/>
            <a:ext cx="548640" cy="1280160"/>
          </a:xfrm>
          <a:prstGeom prst="line">
            <a:avLst/>
          </a:prstGeom>
          <a:noFill/>
          <a:ln w="15875">
            <a:solidFill>
              <a:srgbClr val="2C3A82"/>
            </a:solidFill>
            <a:prstDash val="solid"/>
          </a:ln>
        </p:spPr>
      </p:sp>
      <p:sp>
        <p:nvSpPr>
          <p:cNvPr id="10" name="Shape 8"/>
          <p:cNvSpPr/>
          <p:nvPr/>
        </p:nvSpPr>
        <p:spPr>
          <a:xfrm>
            <a:off x="11338560" y="2468880"/>
            <a:ext cx="91440" cy="2468880"/>
          </a:xfrm>
          <a:prstGeom prst="line">
            <a:avLst/>
          </a:prstGeom>
          <a:noFill/>
          <a:ln w="15875">
            <a:solidFill>
              <a:srgbClr val="2C3A82"/>
            </a:solidFill>
            <a:prstDash val="solid"/>
          </a:ln>
        </p:spPr>
      </p:sp>
      <p:sp>
        <p:nvSpPr>
          <p:cNvPr id="11" name="Shape 9"/>
          <p:cNvSpPr/>
          <p:nvPr/>
        </p:nvSpPr>
        <p:spPr>
          <a:xfrm>
            <a:off x="9326880" y="3749040"/>
            <a:ext cx="1371600" cy="548640"/>
          </a:xfrm>
          <a:prstGeom prst="line">
            <a:avLst/>
          </a:prstGeom>
          <a:noFill/>
          <a:ln w="15875">
            <a:solidFill>
              <a:srgbClr val="2C3A82"/>
            </a:solidFill>
            <a:prstDash val="solid"/>
          </a:ln>
        </p:spPr>
      </p:sp>
      <p:sp>
        <p:nvSpPr>
          <p:cNvPr id="12" name="Shape 10"/>
          <p:cNvSpPr/>
          <p:nvPr/>
        </p:nvSpPr>
        <p:spPr>
          <a:xfrm>
            <a:off x="8686800" y="3749040"/>
            <a:ext cx="640080" cy="731520"/>
          </a:xfrm>
          <a:prstGeom prst="line">
            <a:avLst/>
          </a:prstGeom>
          <a:noFill/>
          <a:ln w="15875">
            <a:solidFill>
              <a:srgbClr val="2C3A82"/>
            </a:solidFill>
            <a:prstDash val="solid"/>
          </a:ln>
        </p:spPr>
      </p:sp>
      <p:sp>
        <p:nvSpPr>
          <p:cNvPr id="13" name="Shape 11"/>
          <p:cNvSpPr/>
          <p:nvPr/>
        </p:nvSpPr>
        <p:spPr>
          <a:xfrm>
            <a:off x="10698480" y="4297680"/>
            <a:ext cx="731520" cy="640080"/>
          </a:xfrm>
          <a:prstGeom prst="line">
            <a:avLst/>
          </a:prstGeom>
          <a:noFill/>
          <a:ln w="15875">
            <a:solidFill>
              <a:srgbClr val="2C3A82"/>
            </a:solidFill>
            <a:prstDash val="solid"/>
          </a:ln>
        </p:spPr>
      </p:sp>
      <p:sp>
        <p:nvSpPr>
          <p:cNvPr id="14" name="Shape 12"/>
          <p:cNvSpPr/>
          <p:nvPr/>
        </p:nvSpPr>
        <p:spPr>
          <a:xfrm>
            <a:off x="8686800" y="4480560"/>
            <a:ext cx="1188720" cy="914400"/>
          </a:xfrm>
          <a:prstGeom prst="line">
            <a:avLst/>
          </a:prstGeom>
          <a:noFill/>
          <a:ln w="15875">
            <a:solidFill>
              <a:srgbClr val="2C3A82"/>
            </a:solidFill>
            <a:prstDash val="solid"/>
          </a:ln>
        </p:spPr>
      </p:sp>
      <p:sp>
        <p:nvSpPr>
          <p:cNvPr id="15" name="Shape 13"/>
          <p:cNvSpPr/>
          <p:nvPr/>
        </p:nvSpPr>
        <p:spPr>
          <a:xfrm>
            <a:off x="9875520" y="4297680"/>
            <a:ext cx="822960" cy="1097280"/>
          </a:xfrm>
          <a:prstGeom prst="line">
            <a:avLst/>
          </a:prstGeom>
          <a:noFill/>
          <a:ln w="15875">
            <a:solidFill>
              <a:srgbClr val="2C3A82"/>
            </a:solidFill>
            <a:prstDash val="solid"/>
          </a:ln>
        </p:spPr>
      </p:sp>
      <p:sp>
        <p:nvSpPr>
          <p:cNvPr id="16" name="Shape 14"/>
          <p:cNvSpPr/>
          <p:nvPr/>
        </p:nvSpPr>
        <p:spPr>
          <a:xfrm>
            <a:off x="9875520" y="4937760"/>
            <a:ext cx="1554480" cy="457200"/>
          </a:xfrm>
          <a:prstGeom prst="line">
            <a:avLst/>
          </a:prstGeom>
          <a:noFill/>
          <a:ln w="15875">
            <a:solidFill>
              <a:srgbClr val="2C3A82"/>
            </a:solidFill>
            <a:prstDash val="solid"/>
          </a:ln>
        </p:spPr>
      </p:sp>
      <p:sp>
        <p:nvSpPr>
          <p:cNvPr id="17" name="Shape 15"/>
          <p:cNvSpPr/>
          <p:nvPr/>
        </p:nvSpPr>
        <p:spPr>
          <a:xfrm>
            <a:off x="10607040" y="1737360"/>
            <a:ext cx="731520" cy="731520"/>
          </a:xfrm>
          <a:prstGeom prst="line">
            <a:avLst/>
          </a:prstGeom>
          <a:noFill/>
          <a:ln w="15875">
            <a:solidFill>
              <a:srgbClr val="2C3A82"/>
            </a:solidFill>
            <a:prstDash val="solid"/>
          </a:ln>
        </p:spPr>
      </p:sp>
      <p:sp>
        <p:nvSpPr>
          <p:cNvPr id="18" name="Shape 16"/>
          <p:cNvSpPr/>
          <p:nvPr/>
        </p:nvSpPr>
        <p:spPr>
          <a:xfrm>
            <a:off x="9317736" y="1088136"/>
            <a:ext cx="201168" cy="201168"/>
          </a:xfrm>
          <a:prstGeom prst="ellipse">
            <a:avLst/>
          </a:prstGeom>
          <a:solidFill>
            <a:srgbClr val="4FD8EB"/>
          </a:solidFill>
          <a:ln/>
        </p:spPr>
      </p:sp>
      <p:sp>
        <p:nvSpPr>
          <p:cNvPr id="19" name="Text 17"/>
          <p:cNvSpPr/>
          <p:nvPr/>
        </p:nvSpPr>
        <p:spPr>
          <a:xfrm>
            <a:off x="9317736" y="1088136"/>
            <a:ext cx="201168" cy="201168"/>
          </a:xfrm>
          <a:prstGeom prst="rect">
            <a:avLst/>
          </a:prstGeom>
          <a:noFill/>
          <a:ln/>
        </p:spPr>
        <p:txBody>
          <a:bodyPr wrap="square" rtlCol="0" anchor="ctr"/>
          <a:lstStyle/>
          <a:p>
            <a:pPr algn="ctr" indent="0" marL="0">
              <a:buNone/>
            </a:pPr>
            <a:endParaRPr lang="en-US" sz="100" dirty="0"/>
          </a:p>
        </p:txBody>
      </p:sp>
      <p:sp>
        <p:nvSpPr>
          <p:cNvPr id="20" name="Shape 18"/>
          <p:cNvSpPr/>
          <p:nvPr/>
        </p:nvSpPr>
        <p:spPr>
          <a:xfrm>
            <a:off x="10543032" y="1673352"/>
            <a:ext cx="128016" cy="128016"/>
          </a:xfrm>
          <a:prstGeom prst="ellipse">
            <a:avLst/>
          </a:prstGeom>
          <a:solidFill>
            <a:srgbClr val="9A72E8"/>
          </a:solidFill>
          <a:ln/>
        </p:spPr>
      </p:sp>
      <p:sp>
        <p:nvSpPr>
          <p:cNvPr id="21" name="Text 19"/>
          <p:cNvSpPr/>
          <p:nvPr/>
        </p:nvSpPr>
        <p:spPr>
          <a:xfrm>
            <a:off x="10543032" y="1673352"/>
            <a:ext cx="128016" cy="128016"/>
          </a:xfrm>
          <a:prstGeom prst="rect">
            <a:avLst/>
          </a:prstGeom>
          <a:noFill/>
          <a:ln/>
        </p:spPr>
        <p:txBody>
          <a:bodyPr wrap="square" rtlCol="0" anchor="ctr"/>
          <a:lstStyle/>
          <a:p>
            <a:pPr algn="ctr" indent="0" marL="0">
              <a:buNone/>
            </a:pPr>
            <a:endParaRPr lang="en-US" sz="100" dirty="0"/>
          </a:p>
        </p:txBody>
      </p:sp>
      <p:sp>
        <p:nvSpPr>
          <p:cNvPr id="22" name="Shape 20"/>
          <p:cNvSpPr/>
          <p:nvPr/>
        </p:nvSpPr>
        <p:spPr>
          <a:xfrm>
            <a:off x="8805672" y="2313432"/>
            <a:ext cx="128016" cy="128016"/>
          </a:xfrm>
          <a:prstGeom prst="ellipse">
            <a:avLst/>
          </a:prstGeom>
          <a:solidFill>
            <a:srgbClr val="9A72E8"/>
          </a:solidFill>
          <a:ln/>
        </p:spPr>
      </p:sp>
      <p:sp>
        <p:nvSpPr>
          <p:cNvPr id="23" name="Text 21"/>
          <p:cNvSpPr/>
          <p:nvPr/>
        </p:nvSpPr>
        <p:spPr>
          <a:xfrm>
            <a:off x="8805672" y="2313432"/>
            <a:ext cx="128016" cy="128016"/>
          </a:xfrm>
          <a:prstGeom prst="rect">
            <a:avLst/>
          </a:prstGeom>
          <a:noFill/>
          <a:ln/>
        </p:spPr>
        <p:txBody>
          <a:bodyPr wrap="square" rtlCol="0" anchor="ctr"/>
          <a:lstStyle/>
          <a:p>
            <a:pPr algn="ctr" indent="0" marL="0">
              <a:buNone/>
            </a:pPr>
            <a:endParaRPr lang="en-US" sz="100" dirty="0"/>
          </a:p>
        </p:txBody>
      </p:sp>
      <p:sp>
        <p:nvSpPr>
          <p:cNvPr id="24" name="Shape 22"/>
          <p:cNvSpPr/>
          <p:nvPr/>
        </p:nvSpPr>
        <p:spPr>
          <a:xfrm>
            <a:off x="10049256" y="2916936"/>
            <a:ext cx="201168" cy="201168"/>
          </a:xfrm>
          <a:prstGeom prst="ellipse">
            <a:avLst/>
          </a:prstGeom>
          <a:solidFill>
            <a:srgbClr val="9A72E8"/>
          </a:solidFill>
          <a:ln/>
        </p:spPr>
      </p:sp>
      <p:sp>
        <p:nvSpPr>
          <p:cNvPr id="25" name="Text 23"/>
          <p:cNvSpPr/>
          <p:nvPr/>
        </p:nvSpPr>
        <p:spPr>
          <a:xfrm>
            <a:off x="10049256" y="2916936"/>
            <a:ext cx="201168" cy="201168"/>
          </a:xfrm>
          <a:prstGeom prst="rect">
            <a:avLst/>
          </a:prstGeom>
          <a:noFill/>
          <a:ln/>
        </p:spPr>
        <p:txBody>
          <a:bodyPr wrap="square" rtlCol="0" anchor="ctr"/>
          <a:lstStyle/>
          <a:p>
            <a:pPr algn="ctr" indent="0" marL="0">
              <a:buNone/>
            </a:pPr>
            <a:endParaRPr lang="en-US" sz="100" dirty="0"/>
          </a:p>
        </p:txBody>
      </p:sp>
      <p:sp>
        <p:nvSpPr>
          <p:cNvPr id="26" name="Shape 24"/>
          <p:cNvSpPr/>
          <p:nvPr/>
        </p:nvSpPr>
        <p:spPr>
          <a:xfrm>
            <a:off x="11274552" y="2404872"/>
            <a:ext cx="128016" cy="128016"/>
          </a:xfrm>
          <a:prstGeom prst="ellipse">
            <a:avLst/>
          </a:prstGeom>
          <a:solidFill>
            <a:srgbClr val="4FD8EB"/>
          </a:solidFill>
          <a:ln/>
        </p:spPr>
      </p:sp>
      <p:sp>
        <p:nvSpPr>
          <p:cNvPr id="27" name="Text 25"/>
          <p:cNvSpPr/>
          <p:nvPr/>
        </p:nvSpPr>
        <p:spPr>
          <a:xfrm>
            <a:off x="11274552" y="2404872"/>
            <a:ext cx="128016" cy="128016"/>
          </a:xfrm>
          <a:prstGeom prst="rect">
            <a:avLst/>
          </a:prstGeom>
          <a:noFill/>
          <a:ln/>
        </p:spPr>
        <p:txBody>
          <a:bodyPr wrap="square" rtlCol="0" anchor="ctr"/>
          <a:lstStyle/>
          <a:p>
            <a:pPr algn="ctr" indent="0" marL="0">
              <a:buNone/>
            </a:pPr>
            <a:endParaRPr lang="en-US" sz="100" dirty="0"/>
          </a:p>
        </p:txBody>
      </p:sp>
      <p:sp>
        <p:nvSpPr>
          <p:cNvPr id="28" name="Shape 26"/>
          <p:cNvSpPr/>
          <p:nvPr/>
        </p:nvSpPr>
        <p:spPr>
          <a:xfrm>
            <a:off x="9262872" y="3685032"/>
            <a:ext cx="128016" cy="128016"/>
          </a:xfrm>
          <a:prstGeom prst="ellipse">
            <a:avLst/>
          </a:prstGeom>
          <a:solidFill>
            <a:srgbClr val="9A72E8"/>
          </a:solidFill>
          <a:ln/>
        </p:spPr>
      </p:sp>
      <p:sp>
        <p:nvSpPr>
          <p:cNvPr id="29" name="Text 27"/>
          <p:cNvSpPr/>
          <p:nvPr/>
        </p:nvSpPr>
        <p:spPr>
          <a:xfrm>
            <a:off x="9262872" y="3685032"/>
            <a:ext cx="128016" cy="128016"/>
          </a:xfrm>
          <a:prstGeom prst="rect">
            <a:avLst/>
          </a:prstGeom>
          <a:noFill/>
          <a:ln/>
        </p:spPr>
        <p:txBody>
          <a:bodyPr wrap="square" rtlCol="0" anchor="ctr"/>
          <a:lstStyle/>
          <a:p>
            <a:pPr algn="ctr" indent="0" marL="0">
              <a:buNone/>
            </a:pPr>
            <a:endParaRPr lang="en-US" sz="100" dirty="0"/>
          </a:p>
        </p:txBody>
      </p:sp>
      <p:sp>
        <p:nvSpPr>
          <p:cNvPr id="30" name="Shape 28"/>
          <p:cNvSpPr/>
          <p:nvPr/>
        </p:nvSpPr>
        <p:spPr>
          <a:xfrm>
            <a:off x="10597896" y="4197096"/>
            <a:ext cx="201168" cy="201168"/>
          </a:xfrm>
          <a:prstGeom prst="ellipse">
            <a:avLst/>
          </a:prstGeom>
          <a:solidFill>
            <a:srgbClr val="9A72E8"/>
          </a:solidFill>
          <a:ln/>
        </p:spPr>
      </p:sp>
      <p:sp>
        <p:nvSpPr>
          <p:cNvPr id="31" name="Text 29"/>
          <p:cNvSpPr/>
          <p:nvPr/>
        </p:nvSpPr>
        <p:spPr>
          <a:xfrm>
            <a:off x="10597896" y="4197096"/>
            <a:ext cx="201168" cy="201168"/>
          </a:xfrm>
          <a:prstGeom prst="rect">
            <a:avLst/>
          </a:prstGeom>
          <a:noFill/>
          <a:ln/>
        </p:spPr>
        <p:txBody>
          <a:bodyPr wrap="square" rtlCol="0" anchor="ctr"/>
          <a:lstStyle/>
          <a:p>
            <a:pPr algn="ctr" indent="0" marL="0">
              <a:buNone/>
            </a:pPr>
            <a:endParaRPr lang="en-US" sz="100" dirty="0"/>
          </a:p>
        </p:txBody>
      </p:sp>
      <p:sp>
        <p:nvSpPr>
          <p:cNvPr id="32" name="Shape 30"/>
          <p:cNvSpPr/>
          <p:nvPr/>
        </p:nvSpPr>
        <p:spPr>
          <a:xfrm>
            <a:off x="8622792" y="4416552"/>
            <a:ext cx="128016" cy="128016"/>
          </a:xfrm>
          <a:prstGeom prst="ellipse">
            <a:avLst/>
          </a:prstGeom>
          <a:solidFill>
            <a:srgbClr val="9A72E8"/>
          </a:solidFill>
          <a:ln/>
        </p:spPr>
      </p:sp>
      <p:sp>
        <p:nvSpPr>
          <p:cNvPr id="33" name="Text 31"/>
          <p:cNvSpPr/>
          <p:nvPr/>
        </p:nvSpPr>
        <p:spPr>
          <a:xfrm>
            <a:off x="8622792" y="4416552"/>
            <a:ext cx="128016" cy="128016"/>
          </a:xfrm>
          <a:prstGeom prst="rect">
            <a:avLst/>
          </a:prstGeom>
          <a:noFill/>
          <a:ln/>
        </p:spPr>
        <p:txBody>
          <a:bodyPr wrap="square" rtlCol="0" anchor="ctr"/>
          <a:lstStyle/>
          <a:p>
            <a:pPr algn="ctr" indent="0" marL="0">
              <a:buNone/>
            </a:pPr>
            <a:endParaRPr lang="en-US" sz="100" dirty="0"/>
          </a:p>
        </p:txBody>
      </p:sp>
      <p:sp>
        <p:nvSpPr>
          <p:cNvPr id="34" name="Shape 32"/>
          <p:cNvSpPr/>
          <p:nvPr/>
        </p:nvSpPr>
        <p:spPr>
          <a:xfrm>
            <a:off x="11365992" y="4873752"/>
            <a:ext cx="128016" cy="128016"/>
          </a:xfrm>
          <a:prstGeom prst="ellipse">
            <a:avLst/>
          </a:prstGeom>
          <a:solidFill>
            <a:srgbClr val="4FD8EB"/>
          </a:solidFill>
          <a:ln/>
        </p:spPr>
      </p:sp>
      <p:sp>
        <p:nvSpPr>
          <p:cNvPr id="35" name="Text 33"/>
          <p:cNvSpPr/>
          <p:nvPr/>
        </p:nvSpPr>
        <p:spPr>
          <a:xfrm>
            <a:off x="11365992" y="4873752"/>
            <a:ext cx="128016" cy="128016"/>
          </a:xfrm>
          <a:prstGeom prst="rect">
            <a:avLst/>
          </a:prstGeom>
          <a:noFill/>
          <a:ln/>
        </p:spPr>
        <p:txBody>
          <a:bodyPr wrap="square" rtlCol="0" anchor="ctr"/>
          <a:lstStyle/>
          <a:p>
            <a:pPr algn="ctr" indent="0" marL="0">
              <a:buNone/>
            </a:pPr>
            <a:endParaRPr lang="en-US" sz="100" dirty="0"/>
          </a:p>
        </p:txBody>
      </p:sp>
      <p:sp>
        <p:nvSpPr>
          <p:cNvPr id="36" name="Shape 34"/>
          <p:cNvSpPr/>
          <p:nvPr/>
        </p:nvSpPr>
        <p:spPr>
          <a:xfrm>
            <a:off x="9774936" y="5294376"/>
            <a:ext cx="201168" cy="201168"/>
          </a:xfrm>
          <a:prstGeom prst="ellipse">
            <a:avLst/>
          </a:prstGeom>
          <a:solidFill>
            <a:srgbClr val="9A72E8"/>
          </a:solidFill>
          <a:ln/>
        </p:spPr>
      </p:sp>
      <p:sp>
        <p:nvSpPr>
          <p:cNvPr id="37" name="Text 35"/>
          <p:cNvSpPr/>
          <p:nvPr/>
        </p:nvSpPr>
        <p:spPr>
          <a:xfrm>
            <a:off x="9774936" y="5294376"/>
            <a:ext cx="201168" cy="201168"/>
          </a:xfrm>
          <a:prstGeom prst="rect">
            <a:avLst/>
          </a:prstGeom>
          <a:noFill/>
          <a:ln/>
        </p:spPr>
        <p:txBody>
          <a:bodyPr wrap="square" rtlCol="0" anchor="ctr"/>
          <a:lstStyle/>
          <a:p>
            <a:pPr algn="ctr" indent="0" marL="0">
              <a:buNone/>
            </a:pPr>
            <a:endParaRPr lang="en-US" sz="100" dirty="0"/>
          </a:p>
        </p:txBody>
      </p:sp>
      <p:sp>
        <p:nvSpPr>
          <p:cNvPr id="38" name="Text 36"/>
          <p:cNvSpPr/>
          <p:nvPr/>
        </p:nvSpPr>
        <p:spPr>
          <a:xfrm>
            <a:off x="502920" y="1874520"/>
            <a:ext cx="7772400" cy="320040"/>
          </a:xfrm>
          <a:prstGeom prst="rect">
            <a:avLst/>
          </a:prstGeom>
          <a:noFill/>
          <a:ln/>
        </p:spPr>
        <p:txBody>
          <a:bodyPr wrap="square" rtlCol="0" anchor="ctr"/>
          <a:lstStyle/>
          <a:p>
            <a:pPr indent="0" marL="0">
              <a:buNone/>
            </a:pPr>
            <a:r>
              <a:rPr lang="en-US" sz="1300" b="1" spc="200" kern="0" dirty="0">
                <a:solidFill>
                  <a:srgbClr val="4FD8EB"/>
                </a:solidFill>
                <a:latin typeface="Calibri" pitchFamily="34" charset="0"/>
                <a:ea typeface="Calibri" pitchFamily="34" charset="-122"/>
                <a:cs typeface="Calibri" pitchFamily="34" charset="-120"/>
              </a:rPr>
              <a:t>B.E. ARTIFICIAL INTELLIGENCE  •  AI ENGINEERING SEMINAR</a:t>
            </a:r>
            <a:endParaRPr lang="en-US" sz="1300" dirty="0"/>
          </a:p>
        </p:txBody>
      </p:sp>
      <p:sp>
        <p:nvSpPr>
          <p:cNvPr id="39" name="Text 37"/>
          <p:cNvSpPr/>
          <p:nvPr/>
        </p:nvSpPr>
        <p:spPr>
          <a:xfrm>
            <a:off x="502920" y="2286000"/>
            <a:ext cx="8412480" cy="1188720"/>
          </a:xfrm>
          <a:prstGeom prst="rect">
            <a:avLst/>
          </a:prstGeom>
          <a:noFill/>
          <a:ln/>
        </p:spPr>
        <p:txBody>
          <a:bodyPr wrap="square"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DeepSeek AI Model</a:t>
            </a:r>
            <a:endParaRPr lang="en-US" sz="5000" dirty="0"/>
          </a:p>
        </p:txBody>
      </p:sp>
      <p:sp>
        <p:nvSpPr>
          <p:cNvPr id="40" name="Text 38"/>
          <p:cNvSpPr/>
          <p:nvPr/>
        </p:nvSpPr>
        <p:spPr>
          <a:xfrm>
            <a:off x="502920" y="3429000"/>
            <a:ext cx="8229600" cy="960120"/>
          </a:xfrm>
          <a:prstGeom prst="rect">
            <a:avLst/>
          </a:prstGeom>
          <a:noFill/>
          <a:ln/>
        </p:spPr>
        <p:txBody>
          <a:bodyPr wrap="square" rtlCol="0" anchor="ctr"/>
          <a:lstStyle/>
          <a:p>
            <a:pPr indent="0" marL="0">
              <a:lnSpc>
                <a:spcPct val="120000"/>
              </a:lnSpc>
              <a:buNone/>
            </a:pPr>
            <a:r>
              <a:rPr lang="en-US" sz="1800" dirty="0">
                <a:solidFill>
                  <a:srgbClr val="C7CFF5"/>
                </a:solidFill>
                <a:latin typeface="Calibri" pitchFamily="34" charset="0"/>
                <a:ea typeface="Calibri" pitchFamily="34" charset="-122"/>
                <a:cs typeface="Calibri" pitchFamily="34" charset="-120"/>
              </a:rPr>
              <a:t>Architecture, Algorithms, Frontend, Backend</a:t>
            </a:r>
            <a:endParaRPr lang="en-US" sz="1800" dirty="0"/>
          </a:p>
          <a:p>
            <a:pPr indent="0" marL="0">
              <a:lnSpc>
                <a:spcPct val="120000"/>
              </a:lnSpc>
              <a:buNone/>
            </a:pPr>
            <a:r>
              <a:rPr lang="en-US" sz="1800" dirty="0">
                <a:solidFill>
                  <a:srgbClr val="C7CFF5"/>
                </a:solidFill>
                <a:latin typeface="Calibri" pitchFamily="34" charset="0"/>
                <a:ea typeface="Calibri" pitchFamily="34" charset="-122"/>
                <a:cs typeface="Calibri" pitchFamily="34" charset="-120"/>
              </a:rPr>
              <a:t>and Execution Demonstration</a:t>
            </a:r>
            <a:endParaRPr lang="en-US" sz="1800" dirty="0"/>
          </a:p>
        </p:txBody>
      </p:sp>
      <p:sp>
        <p:nvSpPr>
          <p:cNvPr id="41" name="Shape 39"/>
          <p:cNvSpPr/>
          <p:nvPr/>
        </p:nvSpPr>
        <p:spPr>
          <a:xfrm>
            <a:off x="502920" y="4709160"/>
            <a:ext cx="3291840" cy="0"/>
          </a:xfrm>
          <a:prstGeom prst="line">
            <a:avLst/>
          </a:prstGeom>
          <a:noFill/>
          <a:ln w="12700">
            <a:solidFill>
              <a:srgbClr val="33408C"/>
            </a:solidFill>
            <a:prstDash val="solid"/>
          </a:ln>
        </p:spPr>
      </p:sp>
      <p:sp>
        <p:nvSpPr>
          <p:cNvPr id="42" name="Text 40"/>
          <p:cNvSpPr/>
          <p:nvPr/>
        </p:nvSpPr>
        <p:spPr>
          <a:xfrm>
            <a:off x="502920" y="4892040"/>
            <a:ext cx="6400800" cy="310896"/>
          </a:xfrm>
          <a:prstGeom prst="rect">
            <a:avLst/>
          </a:prstGeom>
          <a:noFill/>
          <a:ln/>
        </p:spPr>
        <p:txBody>
          <a:bodyPr wrap="square" lIns="0" tIns="0" rIns="0" bIns="0" rtlCol="0" anchor="ctr"/>
          <a:lstStyle/>
          <a:p>
            <a:pPr indent="0" marL="0">
              <a:buNone/>
            </a:pPr>
            <a:r>
              <a:rPr lang="en-US" sz="1350" b="1" dirty="0">
                <a:solidFill>
                  <a:srgbClr val="9AA5DE"/>
                </a:solidFill>
                <a:latin typeface="Calibri" pitchFamily="34" charset="0"/>
                <a:ea typeface="Calibri" pitchFamily="34" charset="-122"/>
                <a:cs typeface="Calibri" pitchFamily="34" charset="-120"/>
              </a:rPr>
              <a:t>Presented by:  </a:t>
            </a:r>
            <a:pPr indent="0" marL="0">
              <a:buNone/>
            </a:pPr>
            <a:r>
              <a:rPr lang="en-US" sz="1350" b="1" dirty="0">
                <a:solidFill>
                  <a:srgbClr val="FFFFFF"/>
                </a:solidFill>
                <a:latin typeface="Calibri" pitchFamily="34" charset="0"/>
                <a:ea typeface="Calibri" pitchFamily="34" charset="-122"/>
                <a:cs typeface="Calibri" pitchFamily="34" charset="-120"/>
              </a:rPr>
              <a:t>Devi Shree</a:t>
            </a:r>
            <a:endParaRPr lang="en-US" sz="1350" dirty="0"/>
          </a:p>
        </p:txBody>
      </p:sp>
      <p:sp>
        <p:nvSpPr>
          <p:cNvPr id="43" name="Text 41"/>
          <p:cNvSpPr/>
          <p:nvPr/>
        </p:nvSpPr>
        <p:spPr>
          <a:xfrm>
            <a:off x="502920" y="5193792"/>
            <a:ext cx="8229600" cy="292608"/>
          </a:xfrm>
          <a:prstGeom prst="rect">
            <a:avLst/>
          </a:prstGeom>
          <a:noFill/>
          <a:ln/>
        </p:spPr>
        <p:txBody>
          <a:bodyPr wrap="square" lIns="0" tIns="0" rIns="0" bIns="0" rtlCol="0" anchor="ctr"/>
          <a:lstStyle/>
          <a:p>
            <a:pPr indent="0" marL="0">
              <a:buNone/>
            </a:pPr>
            <a:r>
              <a:rPr lang="en-US" sz="1200" dirty="0">
                <a:solidFill>
                  <a:srgbClr val="9AA5DE"/>
                </a:solidFill>
                <a:latin typeface="Calibri" pitchFamily="34" charset="0"/>
                <a:ea typeface="Calibri" pitchFamily="34" charset="-122"/>
                <a:cs typeface="Calibri" pitchFamily="34" charset="-120"/>
              </a:rPr>
              <a:t>Department of Computer Science &amp; Engineering  •  Saveetha Institute of Technology (SIMATS)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What is DeepSeek?</a:t>
            </a:r>
            <a:endParaRPr lang="en-US" sz="3000" dirty="0"/>
          </a:p>
        </p:txBody>
      </p:sp>
      <p:sp>
        <p:nvSpPr>
          <p:cNvPr id="4" name="Text 2"/>
          <p:cNvSpPr/>
          <p:nvPr/>
        </p:nvSpPr>
        <p:spPr>
          <a:xfrm>
            <a:off x="502920" y="1508760"/>
            <a:ext cx="6949440" cy="4754880"/>
          </a:xfrm>
          <a:prstGeom prst="rect">
            <a:avLst/>
          </a:prstGeom>
          <a:noFill/>
          <a:ln/>
        </p:spPr>
        <p:txBody>
          <a:bodyPr wrap="square" lIns="0" tIns="0" rIns="0" bIns="0" rtlCol="0" anchor="t"/>
          <a:lstStyle/>
          <a:p>
            <a:pPr marL="177800" indent="-177800">
              <a:lnSpc>
                <a:spcPct val="108000"/>
              </a:lnSpc>
              <a:spcAft>
                <a:spcPts val="1200"/>
              </a:spcAft>
              <a:buSzPct val="100000"/>
              <a:buChar char="●"/>
            </a:pPr>
            <a:r>
              <a:rPr lang="en-US" sz="1350" dirty="0">
                <a:solidFill>
                  <a:srgbClr val="121A3A"/>
                </a:solidFill>
                <a:latin typeface="Calibri" pitchFamily="34" charset="0"/>
                <a:ea typeface="Calibri" pitchFamily="34" charset="-122"/>
                <a:cs typeface="Calibri" pitchFamily="34" charset="-120"/>
              </a:rPr>
              <a:t>DeepSeek is a family of large-scale generative AI language models built on the Transformer architecture, designed for natural-language understanding and generation.</a:t>
            </a:r>
            <a:endParaRPr lang="en-US" sz="1350" dirty="0"/>
          </a:p>
          <a:p>
            <a:pPr marL="177800" indent="-177800">
              <a:lnSpc>
                <a:spcPct val="108000"/>
              </a:lnSpc>
              <a:spcAft>
                <a:spcPts val="1200"/>
              </a:spcAft>
              <a:buSzPct val="100000"/>
              <a:buChar char="●"/>
            </a:pPr>
            <a:r>
              <a:rPr lang="en-US" sz="1350" dirty="0">
                <a:solidFill>
                  <a:srgbClr val="121A3A"/>
                </a:solidFill>
                <a:latin typeface="Calibri" pitchFamily="34" charset="0"/>
                <a:ea typeface="Calibri" pitchFamily="34" charset="-122"/>
                <a:cs typeface="Calibri" pitchFamily="34" charset="-120"/>
              </a:rPr>
              <a:t>Developed by DeepSeek-AI, an AI research lab based in Hangzhou, China; major releases include DeepSeek LLM (2023), DeepSeek-V2 (2024), DeepSeek-V3 (Dec 2024) and the R1 reasoning series (Jan 2025).</a:t>
            </a:r>
            <a:endParaRPr lang="en-US" sz="1350" dirty="0"/>
          </a:p>
          <a:p>
            <a:pPr marL="177800" indent="-177800">
              <a:lnSpc>
                <a:spcPct val="108000"/>
              </a:lnSpc>
              <a:spcAft>
                <a:spcPts val="1200"/>
              </a:spcAft>
              <a:buSzPct val="100000"/>
              <a:buChar char="●"/>
            </a:pPr>
            <a:r>
              <a:rPr lang="en-US" sz="1350" dirty="0">
                <a:solidFill>
                  <a:srgbClr val="121A3A"/>
                </a:solidFill>
                <a:latin typeface="Calibri" pitchFamily="34" charset="0"/>
                <a:ea typeface="Calibri" pitchFamily="34" charset="-122"/>
                <a:cs typeface="Calibri" pitchFamily="34" charset="-120"/>
              </a:rPr>
              <a:t>It belongs to the Large Language Model (LLM) category — a convergence of Generative AI and Natural Language Processing (NLP).</a:t>
            </a:r>
            <a:endParaRPr lang="en-US" sz="1350" dirty="0"/>
          </a:p>
          <a:p>
            <a:pPr marL="177800" indent="-177800">
              <a:lnSpc>
                <a:spcPct val="108000"/>
              </a:lnSpc>
              <a:spcAft>
                <a:spcPts val="1200"/>
              </a:spcAft>
              <a:buSzPct val="100000"/>
              <a:buChar char="●"/>
            </a:pPr>
            <a:r>
              <a:rPr lang="en-US" sz="1350" dirty="0">
                <a:solidFill>
                  <a:srgbClr val="121A3A"/>
                </a:solidFill>
                <a:latin typeface="Calibri" pitchFamily="34" charset="0"/>
                <a:ea typeface="Calibri" pitchFamily="34" charset="-122"/>
                <a:cs typeface="Calibri" pitchFamily="34" charset="-120"/>
              </a:rPr>
              <a:t>Engineered for high performance at lower cost using a sparse Mixture-of-Experts (MoE) design and a compressed attention mechanism called Multi-head Latent Attention (MLA).</a:t>
            </a:r>
            <a:endParaRPr lang="en-US" sz="1350" dirty="0"/>
          </a:p>
          <a:p>
            <a:pPr marL="177800" indent="-177800">
              <a:lnSpc>
                <a:spcPct val="108000"/>
              </a:lnSpc>
              <a:spcAft>
                <a:spcPts val="1200"/>
              </a:spcAft>
              <a:buSzPct val="100000"/>
              <a:buChar char="●"/>
            </a:pPr>
            <a:r>
              <a:rPr lang="en-US" sz="1350" dirty="0">
                <a:solidFill>
                  <a:srgbClr val="121A3A"/>
                </a:solidFill>
                <a:latin typeface="Calibri" pitchFamily="34" charset="0"/>
                <a:ea typeface="Calibri" pitchFamily="34" charset="-122"/>
                <a:cs typeface="Calibri" pitchFamily="34" charset="-120"/>
              </a:rPr>
              <a:t>Represents a shift in AI engineering thinking: reaching frontier-level reasoning through architectural efficiency rather than brute-force dense scaling.</a:t>
            </a:r>
            <a:endParaRPr lang="en-US" sz="1350" dirty="0"/>
          </a:p>
        </p:txBody>
      </p:sp>
      <p:sp>
        <p:nvSpPr>
          <p:cNvPr id="5" name="Shape 3"/>
          <p:cNvSpPr/>
          <p:nvPr/>
        </p:nvSpPr>
        <p:spPr>
          <a:xfrm>
            <a:off x="7818120" y="1508760"/>
            <a:ext cx="3840480" cy="4709160"/>
          </a:xfrm>
          <a:prstGeom prst="roundRect">
            <a:avLst>
              <a:gd name="adj" fmla="val 2381"/>
            </a:avLst>
          </a:prstGeom>
          <a:solidFill>
            <a:srgbClr val="0B1442"/>
          </a:solidFill>
          <a:ln/>
          <a:effectLst>
            <a:outerShdw sx="100000" sy="100000" kx="0" ky="0" algn="bl" rotWithShape="0" blurRad="101600" dist="38100" dir="5400000">
              <a:srgbClr val="0B1442">
                <a:alpha val="20000"/>
              </a:srgbClr>
            </a:outerShdw>
          </a:effectLst>
        </p:spPr>
      </p:sp>
      <p:sp>
        <p:nvSpPr>
          <p:cNvPr id="6" name="Text 4"/>
          <p:cNvSpPr/>
          <p:nvPr/>
        </p:nvSpPr>
        <p:spPr>
          <a:xfrm>
            <a:off x="8092440" y="1783080"/>
            <a:ext cx="3291840" cy="274320"/>
          </a:xfrm>
          <a:prstGeom prst="rect">
            <a:avLst/>
          </a:prstGeom>
          <a:noFill/>
          <a:ln/>
        </p:spPr>
        <p:txBody>
          <a:bodyPr wrap="square" rtlCol="0" anchor="ctr"/>
          <a:lstStyle/>
          <a:p>
            <a:pPr indent="0" marL="0">
              <a:buNone/>
            </a:pPr>
            <a:r>
              <a:rPr lang="en-US" sz="1100" b="1" spc="200" kern="0" dirty="0">
                <a:solidFill>
                  <a:srgbClr val="4FD8EB"/>
                </a:solidFill>
                <a:latin typeface="Calibri" pitchFamily="34" charset="0"/>
                <a:ea typeface="Calibri" pitchFamily="34" charset="-122"/>
                <a:cs typeface="Calibri" pitchFamily="34" charset="-120"/>
              </a:rPr>
              <a:t>QUICK FACTS</a:t>
            </a:r>
            <a:endParaRPr lang="en-US" sz="1100" dirty="0"/>
          </a:p>
        </p:txBody>
      </p:sp>
      <p:sp>
        <p:nvSpPr>
          <p:cNvPr id="7" name="Text 5"/>
          <p:cNvSpPr/>
          <p:nvPr/>
        </p:nvSpPr>
        <p:spPr>
          <a:xfrm>
            <a:off x="8092440" y="2194560"/>
            <a:ext cx="3291840" cy="219456"/>
          </a:xfrm>
          <a:prstGeom prst="rect">
            <a:avLst/>
          </a:prstGeom>
          <a:noFill/>
          <a:ln/>
        </p:spPr>
        <p:txBody>
          <a:bodyPr wrap="square" lIns="0" tIns="0" rIns="0" bIns="0" rtlCol="0" anchor="ctr"/>
          <a:lstStyle/>
          <a:p>
            <a:pPr indent="0" marL="0">
              <a:buNone/>
            </a:pPr>
            <a:r>
              <a:rPr lang="en-US" sz="900" b="1" spc="100" kern="0" dirty="0">
                <a:solidFill>
                  <a:srgbClr val="7C8AD1"/>
                </a:solidFill>
                <a:latin typeface="Calibri" pitchFamily="34" charset="0"/>
                <a:ea typeface="Calibri" pitchFamily="34" charset="-122"/>
                <a:cs typeface="Calibri" pitchFamily="34" charset="-120"/>
              </a:rPr>
              <a:t>DEVELOPER</a:t>
            </a:r>
            <a:endParaRPr lang="en-US" sz="900" dirty="0"/>
          </a:p>
        </p:txBody>
      </p:sp>
      <p:sp>
        <p:nvSpPr>
          <p:cNvPr id="8" name="Text 6"/>
          <p:cNvSpPr/>
          <p:nvPr/>
        </p:nvSpPr>
        <p:spPr>
          <a:xfrm>
            <a:off x="8092440" y="2414016"/>
            <a:ext cx="32918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DeepSeek-AI, China</a:t>
            </a:r>
            <a:endParaRPr lang="en-US" sz="1300" dirty="0"/>
          </a:p>
        </p:txBody>
      </p:sp>
      <p:sp>
        <p:nvSpPr>
          <p:cNvPr id="9" name="Text 7"/>
          <p:cNvSpPr/>
          <p:nvPr/>
        </p:nvSpPr>
        <p:spPr>
          <a:xfrm>
            <a:off x="8092440" y="2852928"/>
            <a:ext cx="3291840" cy="219456"/>
          </a:xfrm>
          <a:prstGeom prst="rect">
            <a:avLst/>
          </a:prstGeom>
          <a:noFill/>
          <a:ln/>
        </p:spPr>
        <p:txBody>
          <a:bodyPr wrap="square" lIns="0" tIns="0" rIns="0" bIns="0" rtlCol="0" anchor="ctr"/>
          <a:lstStyle/>
          <a:p>
            <a:pPr indent="0" marL="0">
              <a:buNone/>
            </a:pPr>
            <a:r>
              <a:rPr lang="en-US" sz="900" b="1" spc="100" kern="0" dirty="0">
                <a:solidFill>
                  <a:srgbClr val="7C8AD1"/>
                </a:solidFill>
                <a:latin typeface="Calibri" pitchFamily="34" charset="0"/>
                <a:ea typeface="Calibri" pitchFamily="34" charset="-122"/>
                <a:cs typeface="Calibri" pitchFamily="34" charset="-120"/>
              </a:rPr>
              <a:t>CATEGORY</a:t>
            </a:r>
            <a:endParaRPr lang="en-US" sz="900" dirty="0"/>
          </a:p>
        </p:txBody>
      </p:sp>
      <p:sp>
        <p:nvSpPr>
          <p:cNvPr id="10" name="Text 8"/>
          <p:cNvSpPr/>
          <p:nvPr/>
        </p:nvSpPr>
        <p:spPr>
          <a:xfrm>
            <a:off x="8092440" y="3072384"/>
            <a:ext cx="32918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LLM / Generative AI / NLP</a:t>
            </a:r>
            <a:endParaRPr lang="en-US" sz="1300" dirty="0"/>
          </a:p>
        </p:txBody>
      </p:sp>
      <p:sp>
        <p:nvSpPr>
          <p:cNvPr id="11" name="Text 9"/>
          <p:cNvSpPr/>
          <p:nvPr/>
        </p:nvSpPr>
        <p:spPr>
          <a:xfrm>
            <a:off x="8092440" y="3511296"/>
            <a:ext cx="3291840" cy="219456"/>
          </a:xfrm>
          <a:prstGeom prst="rect">
            <a:avLst/>
          </a:prstGeom>
          <a:noFill/>
          <a:ln/>
        </p:spPr>
        <p:txBody>
          <a:bodyPr wrap="square" lIns="0" tIns="0" rIns="0" bIns="0" rtlCol="0" anchor="ctr"/>
          <a:lstStyle/>
          <a:p>
            <a:pPr indent="0" marL="0">
              <a:buNone/>
            </a:pPr>
            <a:r>
              <a:rPr lang="en-US" sz="900" b="1" spc="100" kern="0" dirty="0">
                <a:solidFill>
                  <a:srgbClr val="7C8AD1"/>
                </a:solidFill>
                <a:latin typeface="Calibri" pitchFamily="34" charset="0"/>
                <a:ea typeface="Calibri" pitchFamily="34" charset="-122"/>
                <a:cs typeface="Calibri" pitchFamily="34" charset="-120"/>
              </a:rPr>
              <a:t>CORE DESIGN</a:t>
            </a:r>
            <a:endParaRPr lang="en-US" sz="900" dirty="0"/>
          </a:p>
        </p:txBody>
      </p:sp>
      <p:sp>
        <p:nvSpPr>
          <p:cNvPr id="12" name="Text 10"/>
          <p:cNvSpPr/>
          <p:nvPr/>
        </p:nvSpPr>
        <p:spPr>
          <a:xfrm>
            <a:off x="8092440" y="3730752"/>
            <a:ext cx="32918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Sparse MoE Transformer</a:t>
            </a:r>
            <a:endParaRPr lang="en-US" sz="1300" dirty="0"/>
          </a:p>
        </p:txBody>
      </p:sp>
      <p:sp>
        <p:nvSpPr>
          <p:cNvPr id="13" name="Text 11"/>
          <p:cNvSpPr/>
          <p:nvPr/>
        </p:nvSpPr>
        <p:spPr>
          <a:xfrm>
            <a:off x="8092440" y="4169664"/>
            <a:ext cx="3291840" cy="219456"/>
          </a:xfrm>
          <a:prstGeom prst="rect">
            <a:avLst/>
          </a:prstGeom>
          <a:noFill/>
          <a:ln/>
        </p:spPr>
        <p:txBody>
          <a:bodyPr wrap="square" lIns="0" tIns="0" rIns="0" bIns="0" rtlCol="0" anchor="ctr"/>
          <a:lstStyle/>
          <a:p>
            <a:pPr indent="0" marL="0">
              <a:buNone/>
            </a:pPr>
            <a:r>
              <a:rPr lang="en-US" sz="900" b="1" spc="100" kern="0" dirty="0">
                <a:solidFill>
                  <a:srgbClr val="7C8AD1"/>
                </a:solidFill>
                <a:latin typeface="Calibri" pitchFamily="34" charset="0"/>
                <a:ea typeface="Calibri" pitchFamily="34" charset="-122"/>
                <a:cs typeface="Calibri" pitchFamily="34" charset="-120"/>
              </a:rPr>
              <a:t>KEY TRICK</a:t>
            </a:r>
            <a:endParaRPr lang="en-US" sz="900" dirty="0"/>
          </a:p>
        </p:txBody>
      </p:sp>
      <p:sp>
        <p:nvSpPr>
          <p:cNvPr id="14" name="Text 12"/>
          <p:cNvSpPr/>
          <p:nvPr/>
        </p:nvSpPr>
        <p:spPr>
          <a:xfrm>
            <a:off x="8092440" y="4389120"/>
            <a:ext cx="32918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Multi-head Latent Attention</a:t>
            </a:r>
            <a:endParaRPr lang="en-US" sz="1300" dirty="0"/>
          </a:p>
        </p:txBody>
      </p:sp>
      <p:sp>
        <p:nvSpPr>
          <p:cNvPr id="15" name="Text 13"/>
          <p:cNvSpPr/>
          <p:nvPr/>
        </p:nvSpPr>
        <p:spPr>
          <a:xfrm>
            <a:off x="8092440" y="4828032"/>
            <a:ext cx="3291840" cy="219456"/>
          </a:xfrm>
          <a:prstGeom prst="rect">
            <a:avLst/>
          </a:prstGeom>
          <a:noFill/>
          <a:ln/>
        </p:spPr>
        <p:txBody>
          <a:bodyPr wrap="square" lIns="0" tIns="0" rIns="0" bIns="0" rtlCol="0" anchor="ctr"/>
          <a:lstStyle/>
          <a:p>
            <a:pPr indent="0" marL="0">
              <a:buNone/>
            </a:pPr>
            <a:r>
              <a:rPr lang="en-US" sz="900" b="1" spc="100" kern="0" dirty="0">
                <a:solidFill>
                  <a:srgbClr val="7C8AD1"/>
                </a:solidFill>
                <a:latin typeface="Calibri" pitchFamily="34" charset="0"/>
                <a:ea typeface="Calibri" pitchFamily="34" charset="-122"/>
                <a:cs typeface="Calibri" pitchFamily="34" charset="-120"/>
              </a:rPr>
              <a:t>FLAGSHIP</a:t>
            </a:r>
            <a:endParaRPr lang="en-US" sz="900" dirty="0"/>
          </a:p>
        </p:txBody>
      </p:sp>
      <p:sp>
        <p:nvSpPr>
          <p:cNvPr id="16" name="Text 14"/>
          <p:cNvSpPr/>
          <p:nvPr/>
        </p:nvSpPr>
        <p:spPr>
          <a:xfrm>
            <a:off x="8092440" y="5047488"/>
            <a:ext cx="32918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DeepSeek-V3 (671B params)</a:t>
            </a:r>
            <a:endParaRPr lang="en-US" sz="1300" dirty="0"/>
          </a:p>
        </p:txBody>
      </p:sp>
      <p:sp>
        <p:nvSpPr>
          <p:cNvPr id="17" name="Text 15"/>
          <p:cNvSpPr/>
          <p:nvPr/>
        </p:nvSpPr>
        <p:spPr>
          <a:xfrm>
            <a:off x="8092440" y="5486400"/>
            <a:ext cx="3291840" cy="219456"/>
          </a:xfrm>
          <a:prstGeom prst="rect">
            <a:avLst/>
          </a:prstGeom>
          <a:noFill/>
          <a:ln/>
        </p:spPr>
        <p:txBody>
          <a:bodyPr wrap="square" lIns="0" tIns="0" rIns="0" bIns="0" rtlCol="0" anchor="ctr"/>
          <a:lstStyle/>
          <a:p>
            <a:pPr indent="0" marL="0">
              <a:buNone/>
            </a:pPr>
            <a:r>
              <a:rPr lang="en-US" sz="900" b="1" spc="100" kern="0" dirty="0">
                <a:solidFill>
                  <a:srgbClr val="7C8AD1"/>
                </a:solidFill>
                <a:latin typeface="Calibri" pitchFamily="34" charset="0"/>
                <a:ea typeface="Calibri" pitchFamily="34" charset="-122"/>
                <a:cs typeface="Calibri" pitchFamily="34" charset="-120"/>
              </a:rPr>
              <a:t>REASONING LINE</a:t>
            </a:r>
            <a:endParaRPr lang="en-US" sz="900" dirty="0"/>
          </a:p>
        </p:txBody>
      </p:sp>
      <p:sp>
        <p:nvSpPr>
          <p:cNvPr id="18" name="Text 16"/>
          <p:cNvSpPr/>
          <p:nvPr/>
        </p:nvSpPr>
        <p:spPr>
          <a:xfrm>
            <a:off x="8092440" y="5705856"/>
            <a:ext cx="32918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DeepSeek-R1 (RL-trained)</a:t>
            </a:r>
            <a:endParaRPr lang="en-US" sz="1300" dirty="0"/>
          </a:p>
        </p:txBody>
      </p:sp>
      <p:sp>
        <p:nvSpPr>
          <p:cNvPr id="19" name="Text 17"/>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20" name="Text 18"/>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OBJECTIVES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02920" y="1600200"/>
            <a:ext cx="11155680" cy="841248"/>
          </a:xfrm>
          <a:prstGeom prst="roundRect">
            <a:avLst>
              <a:gd name="adj" fmla="val 8696"/>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5" name="Shape 3"/>
          <p:cNvSpPr/>
          <p:nvPr/>
        </p:nvSpPr>
        <p:spPr>
          <a:xfrm>
            <a:off x="704088" y="1783080"/>
            <a:ext cx="475488" cy="475488"/>
          </a:xfrm>
          <a:prstGeom prst="ellipse">
            <a:avLst/>
          </a:prstGeom>
          <a:solidFill>
            <a:srgbClr val="6C3FC5"/>
          </a:solidFill>
          <a:ln/>
        </p:spPr>
      </p:sp>
      <p:sp>
        <p:nvSpPr>
          <p:cNvPr id="6" name="Text 4"/>
          <p:cNvSpPr/>
          <p:nvPr/>
        </p:nvSpPr>
        <p:spPr>
          <a:xfrm>
            <a:off x="704088" y="1783080"/>
            <a:ext cx="475488" cy="47548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371600" y="1600200"/>
            <a:ext cx="10058400" cy="841248"/>
          </a:xfrm>
          <a:prstGeom prst="rect">
            <a:avLst/>
          </a:prstGeom>
          <a:noFill/>
          <a:ln/>
        </p:spPr>
        <p:txBody>
          <a:bodyPr wrap="square" lIns="0" tIns="0" rIns="0" bIns="0" rtlCol="0" anchor="ctr"/>
          <a:lstStyle/>
          <a:p>
            <a:pPr indent="0" marL="0">
              <a:buNone/>
            </a:pPr>
            <a:r>
              <a:rPr lang="en-US" sz="1400" dirty="0">
                <a:solidFill>
                  <a:srgbClr val="121A3A"/>
                </a:solidFill>
                <a:latin typeface="Calibri" pitchFamily="34" charset="0"/>
                <a:ea typeface="Calibri" pitchFamily="34" charset="-122"/>
                <a:cs typeface="Calibri" pitchFamily="34" charset="-120"/>
              </a:rPr>
              <a:t>Understand DeepSeek's complete system architecture, from the user's prompt to the final rendered response.</a:t>
            </a:r>
            <a:endParaRPr lang="en-US" sz="1400" dirty="0"/>
          </a:p>
        </p:txBody>
      </p:sp>
      <p:sp>
        <p:nvSpPr>
          <p:cNvPr id="8" name="Shape 6"/>
          <p:cNvSpPr/>
          <p:nvPr/>
        </p:nvSpPr>
        <p:spPr>
          <a:xfrm>
            <a:off x="502920" y="2578608"/>
            <a:ext cx="11155680" cy="841248"/>
          </a:xfrm>
          <a:prstGeom prst="roundRect">
            <a:avLst>
              <a:gd name="adj" fmla="val 8696"/>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9" name="Shape 7"/>
          <p:cNvSpPr/>
          <p:nvPr/>
        </p:nvSpPr>
        <p:spPr>
          <a:xfrm>
            <a:off x="704088" y="2761488"/>
            <a:ext cx="475488" cy="475488"/>
          </a:xfrm>
          <a:prstGeom prst="ellipse">
            <a:avLst/>
          </a:prstGeom>
          <a:solidFill>
            <a:srgbClr val="6C3FC5"/>
          </a:solidFill>
          <a:ln/>
        </p:spPr>
      </p:sp>
      <p:sp>
        <p:nvSpPr>
          <p:cNvPr id="10" name="Text 8"/>
          <p:cNvSpPr/>
          <p:nvPr/>
        </p:nvSpPr>
        <p:spPr>
          <a:xfrm>
            <a:off x="704088" y="2761488"/>
            <a:ext cx="475488" cy="47548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371600" y="2578608"/>
            <a:ext cx="10058400" cy="841248"/>
          </a:xfrm>
          <a:prstGeom prst="rect">
            <a:avLst/>
          </a:prstGeom>
          <a:noFill/>
          <a:ln/>
        </p:spPr>
        <p:txBody>
          <a:bodyPr wrap="square" lIns="0" tIns="0" rIns="0" bIns="0" rtlCol="0" anchor="ctr"/>
          <a:lstStyle/>
          <a:p>
            <a:pPr indent="0" marL="0">
              <a:buNone/>
            </a:pPr>
            <a:r>
              <a:rPr lang="en-US" sz="1400" dirty="0">
                <a:solidFill>
                  <a:srgbClr val="121A3A"/>
                </a:solidFill>
                <a:latin typeface="Calibri" pitchFamily="34" charset="0"/>
                <a:ea typeface="Calibri" pitchFamily="34" charset="-122"/>
                <a:cs typeface="Calibri" pitchFamily="34" charset="-120"/>
              </a:rPr>
              <a:t>Analyze the frontend and backend engineering workflow behind a production-grade LLM application.</a:t>
            </a:r>
            <a:endParaRPr lang="en-US" sz="1400" dirty="0"/>
          </a:p>
        </p:txBody>
      </p:sp>
      <p:sp>
        <p:nvSpPr>
          <p:cNvPr id="12" name="Shape 10"/>
          <p:cNvSpPr/>
          <p:nvPr/>
        </p:nvSpPr>
        <p:spPr>
          <a:xfrm>
            <a:off x="502920" y="3557016"/>
            <a:ext cx="11155680" cy="841248"/>
          </a:xfrm>
          <a:prstGeom prst="roundRect">
            <a:avLst>
              <a:gd name="adj" fmla="val 8696"/>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13" name="Shape 11"/>
          <p:cNvSpPr/>
          <p:nvPr/>
        </p:nvSpPr>
        <p:spPr>
          <a:xfrm>
            <a:off x="704088" y="3739896"/>
            <a:ext cx="475488" cy="475488"/>
          </a:xfrm>
          <a:prstGeom prst="ellipse">
            <a:avLst/>
          </a:prstGeom>
          <a:solidFill>
            <a:srgbClr val="6C3FC5"/>
          </a:solidFill>
          <a:ln/>
        </p:spPr>
      </p:sp>
      <p:sp>
        <p:nvSpPr>
          <p:cNvPr id="14" name="Text 12"/>
          <p:cNvSpPr/>
          <p:nvPr/>
        </p:nvSpPr>
        <p:spPr>
          <a:xfrm>
            <a:off x="704088" y="3739896"/>
            <a:ext cx="475488" cy="47548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371600" y="3557016"/>
            <a:ext cx="10058400" cy="841248"/>
          </a:xfrm>
          <a:prstGeom prst="rect">
            <a:avLst/>
          </a:prstGeom>
          <a:noFill/>
          <a:ln/>
        </p:spPr>
        <p:txBody>
          <a:bodyPr wrap="square" lIns="0" tIns="0" rIns="0" bIns="0" rtlCol="0" anchor="ctr"/>
          <a:lstStyle/>
          <a:p>
            <a:pPr indent="0" marL="0">
              <a:buNone/>
            </a:pPr>
            <a:r>
              <a:rPr lang="en-US" sz="1400" dirty="0">
                <a:solidFill>
                  <a:srgbClr val="121A3A"/>
                </a:solidFill>
                <a:latin typeface="Calibri" pitchFamily="34" charset="0"/>
                <a:ea typeface="Calibri" pitchFamily="34" charset="-122"/>
                <a:cs typeface="Calibri" pitchFamily="34" charset="-120"/>
              </a:rPr>
              <a:t>Study every core algorithm — tokenization through next-token prediction — including its mathematical intuition.</a:t>
            </a:r>
            <a:endParaRPr lang="en-US" sz="1400" dirty="0"/>
          </a:p>
        </p:txBody>
      </p:sp>
      <p:sp>
        <p:nvSpPr>
          <p:cNvPr id="16" name="Shape 14"/>
          <p:cNvSpPr/>
          <p:nvPr/>
        </p:nvSpPr>
        <p:spPr>
          <a:xfrm>
            <a:off x="502920" y="4535424"/>
            <a:ext cx="11155680" cy="841248"/>
          </a:xfrm>
          <a:prstGeom prst="roundRect">
            <a:avLst>
              <a:gd name="adj" fmla="val 8696"/>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17" name="Shape 15"/>
          <p:cNvSpPr/>
          <p:nvPr/>
        </p:nvSpPr>
        <p:spPr>
          <a:xfrm>
            <a:off x="704088" y="4718304"/>
            <a:ext cx="475488" cy="475488"/>
          </a:xfrm>
          <a:prstGeom prst="ellipse">
            <a:avLst/>
          </a:prstGeom>
          <a:solidFill>
            <a:srgbClr val="6C3FC5"/>
          </a:solidFill>
          <a:ln/>
        </p:spPr>
      </p:sp>
      <p:sp>
        <p:nvSpPr>
          <p:cNvPr id="18" name="Text 16"/>
          <p:cNvSpPr/>
          <p:nvPr/>
        </p:nvSpPr>
        <p:spPr>
          <a:xfrm>
            <a:off x="704088" y="4718304"/>
            <a:ext cx="475488" cy="47548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1371600" y="4535424"/>
            <a:ext cx="10058400" cy="841248"/>
          </a:xfrm>
          <a:prstGeom prst="rect">
            <a:avLst/>
          </a:prstGeom>
          <a:noFill/>
          <a:ln/>
        </p:spPr>
        <p:txBody>
          <a:bodyPr wrap="square" lIns="0" tIns="0" rIns="0" bIns="0" rtlCol="0" anchor="ctr"/>
          <a:lstStyle/>
          <a:p>
            <a:pPr indent="0" marL="0">
              <a:buNone/>
            </a:pPr>
            <a:r>
              <a:rPr lang="en-US" sz="1400" dirty="0">
                <a:solidFill>
                  <a:srgbClr val="121A3A"/>
                </a:solidFill>
                <a:latin typeface="Calibri" pitchFamily="34" charset="0"/>
                <a:ea typeface="Calibri" pitchFamily="34" charset="-122"/>
                <a:cs typeface="Calibri" pitchFamily="34" charset="-120"/>
              </a:rPr>
              <a:t>Demonstrate the model's internal execution step-by-step using one real, worked example prompt.</a:t>
            </a:r>
            <a:endParaRPr lang="en-US" sz="1400" dirty="0"/>
          </a:p>
        </p:txBody>
      </p:sp>
      <p:sp>
        <p:nvSpPr>
          <p:cNvPr id="20" name="Shape 18"/>
          <p:cNvSpPr/>
          <p:nvPr/>
        </p:nvSpPr>
        <p:spPr>
          <a:xfrm>
            <a:off x="502920" y="5513832"/>
            <a:ext cx="11155680" cy="841248"/>
          </a:xfrm>
          <a:prstGeom prst="roundRect">
            <a:avLst>
              <a:gd name="adj" fmla="val 8696"/>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21" name="Shape 19"/>
          <p:cNvSpPr/>
          <p:nvPr/>
        </p:nvSpPr>
        <p:spPr>
          <a:xfrm>
            <a:off x="704088" y="5696712"/>
            <a:ext cx="475488" cy="475488"/>
          </a:xfrm>
          <a:prstGeom prst="ellipse">
            <a:avLst/>
          </a:prstGeom>
          <a:solidFill>
            <a:srgbClr val="6C3FC5"/>
          </a:solidFill>
          <a:ln/>
        </p:spPr>
      </p:sp>
      <p:sp>
        <p:nvSpPr>
          <p:cNvPr id="22" name="Text 20"/>
          <p:cNvSpPr/>
          <p:nvPr/>
        </p:nvSpPr>
        <p:spPr>
          <a:xfrm>
            <a:off x="704088" y="5696712"/>
            <a:ext cx="475488" cy="47548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1371600" y="5513832"/>
            <a:ext cx="10058400" cy="841248"/>
          </a:xfrm>
          <a:prstGeom prst="rect">
            <a:avLst/>
          </a:prstGeom>
          <a:noFill/>
          <a:ln/>
        </p:spPr>
        <p:txBody>
          <a:bodyPr wrap="square" lIns="0" tIns="0" rIns="0" bIns="0" rtlCol="0" anchor="ctr"/>
          <a:lstStyle/>
          <a:p>
            <a:pPr indent="0" marL="0">
              <a:buNone/>
            </a:pPr>
            <a:r>
              <a:rPr lang="en-US" sz="1400" dirty="0">
                <a:solidFill>
                  <a:srgbClr val="121A3A"/>
                </a:solidFill>
                <a:latin typeface="Calibri" pitchFamily="34" charset="0"/>
                <a:ea typeface="Calibri" pitchFamily="34" charset="-122"/>
                <a:cs typeface="Calibri" pitchFamily="34" charset="-120"/>
              </a:rPr>
              <a:t>Evaluate DeepSeek's real-world applications, advantages, limitations, and future engineering scope.</a:t>
            </a:r>
            <a:endParaRPr lang="en-US" sz="1400" dirty="0"/>
          </a:p>
        </p:txBody>
      </p:sp>
      <p:sp>
        <p:nvSpPr>
          <p:cNvPr id="24" name="Text 22"/>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25" name="Text 23"/>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About DeepSeek</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6903720" cy="3931920"/>
        </p:xfrm>
        <a:graphic>
          <a:graphicData uri="http://schemas.openxmlformats.org/drawingml/2006/table">
            <a:tbl>
              <a:tblPr/>
              <a:tblGrid>
                <a:gridCol w="1920240"/>
                <a:gridCol w="4983480"/>
              </a:tblGrid>
              <a:tr h="491490">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Developer</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DeepSeek-AI (Hangzhou, China)</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r h="491490">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Country</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China</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r h="491490">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Key releases</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DeepSeek LLM (2023) → V2 (2024) → V3 (Dec 2024) → R1 (Jan 2025)</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r h="491490">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Model type</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Decoder-only Transformer with sparse Mixture-of-Experts (MoE)</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r h="491490">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Flagship scale</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DeepSeek-V3: 671B total parameters, ~37B activated per token</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r h="491490">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Key innovations</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Multi-head Latent Attention (MLA), DeepSeekMoE, auxiliary-loss-free load balancing, multi-token prediction</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r h="491490">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Applications</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Chat assistant, code generation, complex reasoning (R1), research</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r h="491490">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Access model</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Open-weight releases plus a hosted chat app / API</a:t>
                      </a:r>
                      <a:endParaRPr lang="en-US" sz="1150" dirty="0">
                        <a:latin typeface="Calibri" charset="0"/>
                        <a:ea typeface="Calibri" charset="0"/>
                        <a:cs typeface="Calibri" charset="0"/>
                      </a:endParaRPr>
                    </a:p>
                  </a:txBody>
                  <a:tcPr marL="101600" marR="1016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bl>
          </a:graphicData>
        </a:graphic>
      </p:graphicFrame>
      <p:sp>
        <p:nvSpPr>
          <p:cNvPr id="5" name="Text 2"/>
          <p:cNvSpPr/>
          <p:nvPr/>
        </p:nvSpPr>
        <p:spPr>
          <a:xfrm>
            <a:off x="7635240" y="1481328"/>
            <a:ext cx="4023360" cy="274320"/>
          </a:xfrm>
          <a:prstGeom prst="rect">
            <a:avLst/>
          </a:prstGeom>
          <a:noFill/>
          <a:ln/>
        </p:spPr>
        <p:txBody>
          <a:bodyPr wrap="square" rtlCol="0" anchor="ctr"/>
          <a:lstStyle/>
          <a:p>
            <a:pPr indent="0" marL="0">
              <a:buNone/>
            </a:pPr>
            <a:r>
              <a:rPr lang="en-US" sz="1100" b="1" spc="100" kern="0" dirty="0">
                <a:solidFill>
                  <a:srgbClr val="0E93A6"/>
                </a:solidFill>
                <a:latin typeface="Calibri" pitchFamily="34" charset="0"/>
                <a:ea typeface="Calibri" pitchFamily="34" charset="-122"/>
                <a:cs typeface="Calibri" pitchFamily="34" charset="-120"/>
              </a:rPr>
              <a:t>DEEPSEEK  vs.  CHATGPT (GPT-4-class)</a:t>
            </a:r>
            <a:endParaRPr lang="en-US" sz="1100" dirty="0"/>
          </a:p>
        </p:txBody>
      </p:sp>
      <p:sp>
        <p:nvSpPr>
          <p:cNvPr id="6" name="Shape 3"/>
          <p:cNvSpPr/>
          <p:nvPr/>
        </p:nvSpPr>
        <p:spPr>
          <a:xfrm>
            <a:off x="7635240" y="1828800"/>
            <a:ext cx="4023360" cy="786384"/>
          </a:xfrm>
          <a:prstGeom prst="roundRect">
            <a:avLst>
              <a:gd name="adj" fmla="val 8140"/>
            </a:avLst>
          </a:prstGeom>
          <a:solidFill>
            <a:srgbClr val="FFFFFF"/>
          </a:solidFill>
          <a:ln w="12700">
            <a:solidFill>
              <a:srgbClr val="E1E5F5"/>
            </a:solidFill>
            <a:prstDash val="solid"/>
          </a:ln>
        </p:spPr>
      </p:sp>
      <p:sp>
        <p:nvSpPr>
          <p:cNvPr id="7" name="Text 4"/>
          <p:cNvSpPr/>
          <p:nvPr/>
        </p:nvSpPr>
        <p:spPr>
          <a:xfrm>
            <a:off x="7772400" y="1901952"/>
            <a:ext cx="3749040" cy="182880"/>
          </a:xfrm>
          <a:prstGeom prst="rect">
            <a:avLst/>
          </a:prstGeom>
          <a:noFill/>
          <a:ln/>
        </p:spPr>
        <p:txBody>
          <a:bodyPr wrap="square" lIns="0" tIns="0" rIns="0" bIns="0" rtlCol="0" anchor="ctr"/>
          <a:lstStyle/>
          <a:p>
            <a:pPr indent="0" marL="0">
              <a:buNone/>
            </a:pPr>
            <a:r>
              <a:rPr lang="en-US" sz="850" b="1" dirty="0">
                <a:solidFill>
                  <a:srgbClr val="5B6480"/>
                </a:solidFill>
                <a:latin typeface="Calibri" pitchFamily="34" charset="0"/>
                <a:ea typeface="Calibri" pitchFamily="34" charset="-122"/>
                <a:cs typeface="Calibri" pitchFamily="34" charset="-120"/>
              </a:rPr>
              <a:t>WEIGHTS</a:t>
            </a:r>
            <a:endParaRPr lang="en-US" sz="850" dirty="0"/>
          </a:p>
        </p:txBody>
      </p:sp>
      <p:sp>
        <p:nvSpPr>
          <p:cNvPr id="8" name="Text 5"/>
          <p:cNvSpPr/>
          <p:nvPr/>
        </p:nvSpPr>
        <p:spPr>
          <a:xfrm>
            <a:off x="7772400" y="2084832"/>
            <a:ext cx="3749040" cy="237744"/>
          </a:xfrm>
          <a:prstGeom prst="rect">
            <a:avLst/>
          </a:prstGeom>
          <a:noFill/>
          <a:ln/>
        </p:spPr>
        <p:txBody>
          <a:bodyPr wrap="square" lIns="0" tIns="0" rIns="0" bIns="0" rtlCol="0" anchor="ctr"/>
          <a:lstStyle/>
          <a:p>
            <a:pPr indent="0" marL="0">
              <a:buNone/>
            </a:pPr>
            <a:r>
              <a:rPr lang="en-US" sz="1050" b="1" dirty="0">
                <a:solidFill>
                  <a:srgbClr val="6C3FC5"/>
                </a:solidFill>
                <a:latin typeface="Calibri" pitchFamily="34" charset="0"/>
                <a:ea typeface="Calibri" pitchFamily="34" charset="-122"/>
                <a:cs typeface="Calibri" pitchFamily="34" charset="-120"/>
              </a:rPr>
              <a:t>Open-weight</a:t>
            </a:r>
            <a:endParaRPr lang="en-US" sz="1050" dirty="0"/>
          </a:p>
        </p:txBody>
      </p:sp>
      <p:sp>
        <p:nvSpPr>
          <p:cNvPr id="9" name="Text 6"/>
          <p:cNvSpPr/>
          <p:nvPr/>
        </p:nvSpPr>
        <p:spPr>
          <a:xfrm>
            <a:off x="7772400" y="2331720"/>
            <a:ext cx="3749040" cy="237744"/>
          </a:xfrm>
          <a:prstGeom prst="rect">
            <a:avLst/>
          </a:prstGeom>
          <a:noFill/>
          <a:ln/>
        </p:spPr>
        <p:txBody>
          <a:bodyPr wrap="square" lIns="0" tIns="0" rIns="0" bIns="0" rtlCol="0" anchor="ctr"/>
          <a:lstStyle/>
          <a:p>
            <a:pPr indent="0" marL="0">
              <a:buNone/>
            </a:pPr>
            <a:r>
              <a:rPr lang="en-US" sz="1050" dirty="0">
                <a:solidFill>
                  <a:srgbClr val="5B6480"/>
                </a:solidFill>
                <a:latin typeface="Calibri" pitchFamily="34" charset="0"/>
                <a:ea typeface="Calibri" pitchFamily="34" charset="-122"/>
                <a:cs typeface="Calibri" pitchFamily="34" charset="-120"/>
              </a:rPr>
              <a:t>Closed</a:t>
            </a:r>
            <a:endParaRPr lang="en-US" sz="1050" dirty="0"/>
          </a:p>
        </p:txBody>
      </p:sp>
      <p:sp>
        <p:nvSpPr>
          <p:cNvPr id="10" name="Shape 7"/>
          <p:cNvSpPr/>
          <p:nvPr/>
        </p:nvSpPr>
        <p:spPr>
          <a:xfrm>
            <a:off x="7635240" y="2724912"/>
            <a:ext cx="4023360" cy="786384"/>
          </a:xfrm>
          <a:prstGeom prst="roundRect">
            <a:avLst>
              <a:gd name="adj" fmla="val 8140"/>
            </a:avLst>
          </a:prstGeom>
          <a:solidFill>
            <a:srgbClr val="FFFFFF"/>
          </a:solidFill>
          <a:ln w="12700">
            <a:solidFill>
              <a:srgbClr val="E1E5F5"/>
            </a:solidFill>
            <a:prstDash val="solid"/>
          </a:ln>
        </p:spPr>
      </p:sp>
      <p:sp>
        <p:nvSpPr>
          <p:cNvPr id="11" name="Text 8"/>
          <p:cNvSpPr/>
          <p:nvPr/>
        </p:nvSpPr>
        <p:spPr>
          <a:xfrm>
            <a:off x="7772400" y="2798064"/>
            <a:ext cx="3749040" cy="182880"/>
          </a:xfrm>
          <a:prstGeom prst="rect">
            <a:avLst/>
          </a:prstGeom>
          <a:noFill/>
          <a:ln/>
        </p:spPr>
        <p:txBody>
          <a:bodyPr wrap="square" lIns="0" tIns="0" rIns="0" bIns="0" rtlCol="0" anchor="ctr"/>
          <a:lstStyle/>
          <a:p>
            <a:pPr indent="0" marL="0">
              <a:buNone/>
            </a:pPr>
            <a:r>
              <a:rPr lang="en-US" sz="850" b="1" dirty="0">
                <a:solidFill>
                  <a:srgbClr val="5B6480"/>
                </a:solidFill>
                <a:latin typeface="Calibri" pitchFamily="34" charset="0"/>
                <a:ea typeface="Calibri" pitchFamily="34" charset="-122"/>
                <a:cs typeface="Calibri" pitchFamily="34" charset="-120"/>
              </a:rPr>
              <a:t>ATTENTION</a:t>
            </a:r>
            <a:endParaRPr lang="en-US" sz="850" dirty="0"/>
          </a:p>
        </p:txBody>
      </p:sp>
      <p:sp>
        <p:nvSpPr>
          <p:cNvPr id="12" name="Text 9"/>
          <p:cNvSpPr/>
          <p:nvPr/>
        </p:nvSpPr>
        <p:spPr>
          <a:xfrm>
            <a:off x="7772400" y="2980944"/>
            <a:ext cx="3749040" cy="237744"/>
          </a:xfrm>
          <a:prstGeom prst="rect">
            <a:avLst/>
          </a:prstGeom>
          <a:noFill/>
          <a:ln/>
        </p:spPr>
        <p:txBody>
          <a:bodyPr wrap="square" lIns="0" tIns="0" rIns="0" bIns="0" rtlCol="0" anchor="ctr"/>
          <a:lstStyle/>
          <a:p>
            <a:pPr indent="0" marL="0">
              <a:buNone/>
            </a:pPr>
            <a:r>
              <a:rPr lang="en-US" sz="1050" b="1" dirty="0">
                <a:solidFill>
                  <a:srgbClr val="6C3FC5"/>
                </a:solidFill>
                <a:latin typeface="Calibri" pitchFamily="34" charset="0"/>
                <a:ea typeface="Calibri" pitchFamily="34" charset="-122"/>
                <a:cs typeface="Calibri" pitchFamily="34" charset="-120"/>
              </a:rPr>
              <a:t>Multi-head Latent Attn.</a:t>
            </a:r>
            <a:endParaRPr lang="en-US" sz="1050" dirty="0"/>
          </a:p>
        </p:txBody>
      </p:sp>
      <p:sp>
        <p:nvSpPr>
          <p:cNvPr id="13" name="Text 10"/>
          <p:cNvSpPr/>
          <p:nvPr/>
        </p:nvSpPr>
        <p:spPr>
          <a:xfrm>
            <a:off x="7772400" y="3227832"/>
            <a:ext cx="3749040" cy="237744"/>
          </a:xfrm>
          <a:prstGeom prst="rect">
            <a:avLst/>
          </a:prstGeom>
          <a:noFill/>
          <a:ln/>
        </p:spPr>
        <p:txBody>
          <a:bodyPr wrap="square" lIns="0" tIns="0" rIns="0" bIns="0" rtlCol="0" anchor="ctr"/>
          <a:lstStyle/>
          <a:p>
            <a:pPr indent="0" marL="0">
              <a:buNone/>
            </a:pPr>
            <a:r>
              <a:rPr lang="en-US" sz="1050" dirty="0">
                <a:solidFill>
                  <a:srgbClr val="5B6480"/>
                </a:solidFill>
                <a:latin typeface="Calibri" pitchFamily="34" charset="0"/>
                <a:ea typeface="Calibri" pitchFamily="34" charset="-122"/>
                <a:cs typeface="Calibri" pitchFamily="34" charset="-120"/>
              </a:rPr>
              <a:t>Standard MHA (undisclosed)</a:t>
            </a:r>
            <a:endParaRPr lang="en-US" sz="1050" dirty="0"/>
          </a:p>
        </p:txBody>
      </p:sp>
      <p:sp>
        <p:nvSpPr>
          <p:cNvPr id="14" name="Shape 11"/>
          <p:cNvSpPr/>
          <p:nvPr/>
        </p:nvSpPr>
        <p:spPr>
          <a:xfrm>
            <a:off x="7635240" y="3621024"/>
            <a:ext cx="4023360" cy="786384"/>
          </a:xfrm>
          <a:prstGeom prst="roundRect">
            <a:avLst>
              <a:gd name="adj" fmla="val 8140"/>
            </a:avLst>
          </a:prstGeom>
          <a:solidFill>
            <a:srgbClr val="FFFFFF"/>
          </a:solidFill>
          <a:ln w="12700">
            <a:solidFill>
              <a:srgbClr val="E1E5F5"/>
            </a:solidFill>
            <a:prstDash val="solid"/>
          </a:ln>
        </p:spPr>
      </p:sp>
      <p:sp>
        <p:nvSpPr>
          <p:cNvPr id="15" name="Text 12"/>
          <p:cNvSpPr/>
          <p:nvPr/>
        </p:nvSpPr>
        <p:spPr>
          <a:xfrm>
            <a:off x="7772400" y="3694176"/>
            <a:ext cx="3749040" cy="182880"/>
          </a:xfrm>
          <a:prstGeom prst="rect">
            <a:avLst/>
          </a:prstGeom>
          <a:noFill/>
          <a:ln/>
        </p:spPr>
        <p:txBody>
          <a:bodyPr wrap="square" lIns="0" tIns="0" rIns="0" bIns="0" rtlCol="0" anchor="ctr"/>
          <a:lstStyle/>
          <a:p>
            <a:pPr indent="0" marL="0">
              <a:buNone/>
            </a:pPr>
            <a:r>
              <a:rPr lang="en-US" sz="850" b="1" dirty="0">
                <a:solidFill>
                  <a:srgbClr val="5B6480"/>
                </a:solidFill>
                <a:latin typeface="Calibri" pitchFamily="34" charset="0"/>
                <a:ea typeface="Calibri" pitchFamily="34" charset="-122"/>
                <a:cs typeface="Calibri" pitchFamily="34" charset="-120"/>
              </a:rPr>
              <a:t>ACTIVATED PARAMS</a:t>
            </a:r>
            <a:endParaRPr lang="en-US" sz="850" dirty="0"/>
          </a:p>
        </p:txBody>
      </p:sp>
      <p:sp>
        <p:nvSpPr>
          <p:cNvPr id="16" name="Text 13"/>
          <p:cNvSpPr/>
          <p:nvPr/>
        </p:nvSpPr>
        <p:spPr>
          <a:xfrm>
            <a:off x="7772400" y="3877056"/>
            <a:ext cx="3749040" cy="237744"/>
          </a:xfrm>
          <a:prstGeom prst="rect">
            <a:avLst/>
          </a:prstGeom>
          <a:noFill/>
          <a:ln/>
        </p:spPr>
        <p:txBody>
          <a:bodyPr wrap="square" lIns="0" tIns="0" rIns="0" bIns="0" rtlCol="0" anchor="ctr"/>
          <a:lstStyle/>
          <a:p>
            <a:pPr indent="0" marL="0">
              <a:buNone/>
            </a:pPr>
            <a:r>
              <a:rPr lang="en-US" sz="1050" b="1" dirty="0">
                <a:solidFill>
                  <a:srgbClr val="6C3FC5"/>
                </a:solidFill>
                <a:latin typeface="Calibri" pitchFamily="34" charset="0"/>
                <a:ea typeface="Calibri" pitchFamily="34" charset="-122"/>
                <a:cs typeface="Calibri" pitchFamily="34" charset="-120"/>
              </a:rPr>
              <a:t>~37B of 671B / token</a:t>
            </a:r>
            <a:endParaRPr lang="en-US" sz="1050" dirty="0"/>
          </a:p>
        </p:txBody>
      </p:sp>
      <p:sp>
        <p:nvSpPr>
          <p:cNvPr id="17" name="Text 14"/>
          <p:cNvSpPr/>
          <p:nvPr/>
        </p:nvSpPr>
        <p:spPr>
          <a:xfrm>
            <a:off x="7772400" y="4123944"/>
            <a:ext cx="3749040" cy="237744"/>
          </a:xfrm>
          <a:prstGeom prst="rect">
            <a:avLst/>
          </a:prstGeom>
          <a:noFill/>
          <a:ln/>
        </p:spPr>
        <p:txBody>
          <a:bodyPr wrap="square" lIns="0" tIns="0" rIns="0" bIns="0" rtlCol="0" anchor="ctr"/>
          <a:lstStyle/>
          <a:p>
            <a:pPr indent="0" marL="0">
              <a:buNone/>
            </a:pPr>
            <a:r>
              <a:rPr lang="en-US" sz="1050" dirty="0">
                <a:solidFill>
                  <a:srgbClr val="5B6480"/>
                </a:solidFill>
                <a:latin typeface="Calibri" pitchFamily="34" charset="0"/>
                <a:ea typeface="Calibri" pitchFamily="34" charset="-122"/>
                <a:cs typeface="Calibri" pitchFamily="34" charset="-120"/>
              </a:rPr>
              <a:t>Not publicly disclosed</a:t>
            </a:r>
            <a:endParaRPr lang="en-US" sz="1050" dirty="0"/>
          </a:p>
        </p:txBody>
      </p:sp>
      <p:sp>
        <p:nvSpPr>
          <p:cNvPr id="18" name="Shape 15"/>
          <p:cNvSpPr/>
          <p:nvPr/>
        </p:nvSpPr>
        <p:spPr>
          <a:xfrm>
            <a:off x="7635240" y="4517136"/>
            <a:ext cx="4023360" cy="786384"/>
          </a:xfrm>
          <a:prstGeom prst="roundRect">
            <a:avLst>
              <a:gd name="adj" fmla="val 8140"/>
            </a:avLst>
          </a:prstGeom>
          <a:solidFill>
            <a:srgbClr val="FFFFFF"/>
          </a:solidFill>
          <a:ln w="12700">
            <a:solidFill>
              <a:srgbClr val="E1E5F5"/>
            </a:solidFill>
            <a:prstDash val="solid"/>
          </a:ln>
        </p:spPr>
      </p:sp>
      <p:sp>
        <p:nvSpPr>
          <p:cNvPr id="19" name="Text 16"/>
          <p:cNvSpPr/>
          <p:nvPr/>
        </p:nvSpPr>
        <p:spPr>
          <a:xfrm>
            <a:off x="7772400" y="4590288"/>
            <a:ext cx="3749040" cy="182880"/>
          </a:xfrm>
          <a:prstGeom prst="rect">
            <a:avLst/>
          </a:prstGeom>
          <a:noFill/>
          <a:ln/>
        </p:spPr>
        <p:txBody>
          <a:bodyPr wrap="square" lIns="0" tIns="0" rIns="0" bIns="0" rtlCol="0" anchor="ctr"/>
          <a:lstStyle/>
          <a:p>
            <a:pPr indent="0" marL="0">
              <a:buNone/>
            </a:pPr>
            <a:r>
              <a:rPr lang="en-US" sz="850" b="1" dirty="0">
                <a:solidFill>
                  <a:srgbClr val="5B6480"/>
                </a:solidFill>
                <a:latin typeface="Calibri" pitchFamily="34" charset="0"/>
                <a:ea typeface="Calibri" pitchFamily="34" charset="-122"/>
                <a:cs typeface="Calibri" pitchFamily="34" charset="-120"/>
              </a:rPr>
              <a:t>DESIGN FOCUS</a:t>
            </a:r>
            <a:endParaRPr lang="en-US" sz="850" dirty="0"/>
          </a:p>
        </p:txBody>
      </p:sp>
      <p:sp>
        <p:nvSpPr>
          <p:cNvPr id="20" name="Text 17"/>
          <p:cNvSpPr/>
          <p:nvPr/>
        </p:nvSpPr>
        <p:spPr>
          <a:xfrm>
            <a:off x="7772400" y="4773168"/>
            <a:ext cx="3749040" cy="237744"/>
          </a:xfrm>
          <a:prstGeom prst="rect">
            <a:avLst/>
          </a:prstGeom>
          <a:noFill/>
          <a:ln/>
        </p:spPr>
        <p:txBody>
          <a:bodyPr wrap="square" lIns="0" tIns="0" rIns="0" bIns="0" rtlCol="0" anchor="ctr"/>
          <a:lstStyle/>
          <a:p>
            <a:pPr indent="0" marL="0">
              <a:buNone/>
            </a:pPr>
            <a:r>
              <a:rPr lang="en-US" sz="1050" b="1" dirty="0">
                <a:solidFill>
                  <a:srgbClr val="6C3FC5"/>
                </a:solidFill>
                <a:latin typeface="Calibri" pitchFamily="34" charset="0"/>
                <a:ea typeface="Calibri" pitchFamily="34" charset="-122"/>
                <a:cs typeface="Calibri" pitchFamily="34" charset="-120"/>
              </a:rPr>
              <a:t>Low train/inference cost</a:t>
            </a:r>
            <a:endParaRPr lang="en-US" sz="1050" dirty="0"/>
          </a:p>
        </p:txBody>
      </p:sp>
      <p:sp>
        <p:nvSpPr>
          <p:cNvPr id="21" name="Text 18"/>
          <p:cNvSpPr/>
          <p:nvPr/>
        </p:nvSpPr>
        <p:spPr>
          <a:xfrm>
            <a:off x="7772400" y="5020056"/>
            <a:ext cx="3749040" cy="237744"/>
          </a:xfrm>
          <a:prstGeom prst="rect">
            <a:avLst/>
          </a:prstGeom>
          <a:noFill/>
          <a:ln/>
        </p:spPr>
        <p:txBody>
          <a:bodyPr wrap="square" lIns="0" tIns="0" rIns="0" bIns="0" rtlCol="0" anchor="ctr"/>
          <a:lstStyle/>
          <a:p>
            <a:pPr indent="0" marL="0">
              <a:buNone/>
            </a:pPr>
            <a:r>
              <a:rPr lang="en-US" sz="1050" dirty="0">
                <a:solidFill>
                  <a:srgbClr val="5B6480"/>
                </a:solidFill>
                <a:latin typeface="Calibri" pitchFamily="34" charset="0"/>
                <a:ea typeface="Calibri" pitchFamily="34" charset="-122"/>
                <a:cs typeface="Calibri" pitchFamily="34" charset="-120"/>
              </a:rPr>
              <a:t>Broad product integration</a:t>
            </a:r>
            <a:endParaRPr lang="en-US" sz="1050" dirty="0"/>
          </a:p>
        </p:txBody>
      </p:sp>
      <p:sp>
        <p:nvSpPr>
          <p:cNvPr id="22" name="Text 19"/>
          <p:cNvSpPr/>
          <p:nvPr/>
        </p:nvSpPr>
        <p:spPr>
          <a:xfrm>
            <a:off x="7635240" y="5431536"/>
            <a:ext cx="4023360" cy="365760"/>
          </a:xfrm>
          <a:prstGeom prst="rect">
            <a:avLst/>
          </a:prstGeom>
          <a:noFill/>
          <a:ln/>
        </p:spPr>
        <p:txBody>
          <a:bodyPr wrap="square" lIns="0" tIns="0" rIns="0" bIns="0" rtlCol="0" anchor="ctr"/>
          <a:lstStyle/>
          <a:p>
            <a:pPr indent="0" marL="0">
              <a:buNone/>
            </a:pPr>
            <a:r>
              <a:rPr lang="en-US" sz="850" i="1" dirty="0">
                <a:solidFill>
                  <a:srgbClr val="5B6480"/>
                </a:solidFill>
                <a:latin typeface="Calibri" pitchFamily="34" charset="0"/>
                <a:ea typeface="Calibri" pitchFamily="34" charset="-122"/>
                <a:cs typeface="Calibri" pitchFamily="34" charset="-120"/>
              </a:rPr>
              <a:t>Note: exact ChatGPT internals are proprietary/undisclosed — figures above are the best public estimates.</a:t>
            </a:r>
            <a:endParaRPr lang="en-US" sz="850" dirty="0"/>
          </a:p>
        </p:txBody>
      </p:sp>
      <p:sp>
        <p:nvSpPr>
          <p:cNvPr id="23" name="Text 20"/>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24" name="Text 21"/>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442"/>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4FD8EB"/>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Complete System Architecture</a:t>
            </a:r>
            <a:endParaRPr lang="en-US" sz="3000" dirty="0"/>
          </a:p>
        </p:txBody>
      </p:sp>
      <p:sp>
        <p:nvSpPr>
          <p:cNvPr id="4" name="Shape 2"/>
          <p:cNvSpPr/>
          <p:nvPr/>
        </p:nvSpPr>
        <p:spPr>
          <a:xfrm>
            <a:off x="502920" y="1417320"/>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5" name="Shape 3"/>
          <p:cNvSpPr/>
          <p:nvPr/>
        </p:nvSpPr>
        <p:spPr>
          <a:xfrm>
            <a:off x="630936" y="1636776"/>
            <a:ext cx="457200" cy="457200"/>
          </a:xfrm>
          <a:prstGeom prst="ellipse">
            <a:avLst/>
          </a:prstGeom>
          <a:solidFill>
            <a:srgbClr val="4FD8EB"/>
          </a:solidFill>
          <a:ln/>
        </p:spPr>
      </p:sp>
      <p:sp>
        <p:nvSpPr>
          <p:cNvPr id="6" name="Text 4"/>
          <p:cNvSpPr/>
          <p:nvPr/>
        </p:nvSpPr>
        <p:spPr>
          <a:xfrm>
            <a:off x="630936" y="1636776"/>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197864" y="1508760"/>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User</a:t>
            </a:r>
            <a:endParaRPr lang="en-US" sz="1150" dirty="0"/>
          </a:p>
        </p:txBody>
      </p:sp>
      <p:sp>
        <p:nvSpPr>
          <p:cNvPr id="8" name="Text 6"/>
          <p:cNvSpPr/>
          <p:nvPr/>
        </p:nvSpPr>
        <p:spPr>
          <a:xfrm>
            <a:off x="1197864" y="1883298"/>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Types a prompt</a:t>
            </a:r>
            <a:endParaRPr lang="en-US" sz="800" dirty="0"/>
          </a:p>
        </p:txBody>
      </p:sp>
      <p:sp>
        <p:nvSpPr>
          <p:cNvPr id="9" name="Shape 7"/>
          <p:cNvSpPr/>
          <p:nvPr/>
        </p:nvSpPr>
        <p:spPr>
          <a:xfrm>
            <a:off x="3360420" y="1417320"/>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10" name="Shape 8"/>
          <p:cNvSpPr/>
          <p:nvPr/>
        </p:nvSpPr>
        <p:spPr>
          <a:xfrm>
            <a:off x="3488436" y="1636776"/>
            <a:ext cx="457200" cy="457200"/>
          </a:xfrm>
          <a:prstGeom prst="ellipse">
            <a:avLst/>
          </a:prstGeom>
          <a:solidFill>
            <a:srgbClr val="4FD8EB"/>
          </a:solidFill>
          <a:ln/>
        </p:spPr>
      </p:sp>
      <p:sp>
        <p:nvSpPr>
          <p:cNvPr id="11" name="Text 9"/>
          <p:cNvSpPr/>
          <p:nvPr/>
        </p:nvSpPr>
        <p:spPr>
          <a:xfrm>
            <a:off x="3488436" y="1636776"/>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4055364" y="1508760"/>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Frontend</a:t>
            </a:r>
            <a:endParaRPr lang="en-US" sz="1150" dirty="0"/>
          </a:p>
        </p:txBody>
      </p:sp>
      <p:sp>
        <p:nvSpPr>
          <p:cNvPr id="13" name="Text 11"/>
          <p:cNvSpPr/>
          <p:nvPr/>
        </p:nvSpPr>
        <p:spPr>
          <a:xfrm>
            <a:off x="4055364" y="1883298"/>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Chat UI captures input</a:t>
            </a:r>
            <a:endParaRPr lang="en-US" sz="800" dirty="0"/>
          </a:p>
        </p:txBody>
      </p:sp>
      <p:sp>
        <p:nvSpPr>
          <p:cNvPr id="14" name="Shape 12"/>
          <p:cNvSpPr/>
          <p:nvPr/>
        </p:nvSpPr>
        <p:spPr>
          <a:xfrm>
            <a:off x="6217920" y="1417320"/>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15" name="Shape 13"/>
          <p:cNvSpPr/>
          <p:nvPr/>
        </p:nvSpPr>
        <p:spPr>
          <a:xfrm>
            <a:off x="6345936" y="1636776"/>
            <a:ext cx="457200" cy="457200"/>
          </a:xfrm>
          <a:prstGeom prst="ellipse">
            <a:avLst/>
          </a:prstGeom>
          <a:solidFill>
            <a:srgbClr val="4FD8EB"/>
          </a:solidFill>
          <a:ln/>
        </p:spPr>
      </p:sp>
      <p:sp>
        <p:nvSpPr>
          <p:cNvPr id="16" name="Text 14"/>
          <p:cNvSpPr/>
          <p:nvPr/>
        </p:nvSpPr>
        <p:spPr>
          <a:xfrm>
            <a:off x="6345936" y="1636776"/>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6912864" y="1508760"/>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API Layer</a:t>
            </a:r>
            <a:endParaRPr lang="en-US" sz="1150" dirty="0"/>
          </a:p>
        </p:txBody>
      </p:sp>
      <p:sp>
        <p:nvSpPr>
          <p:cNvPr id="18" name="Text 16"/>
          <p:cNvSpPr/>
          <p:nvPr/>
        </p:nvSpPr>
        <p:spPr>
          <a:xfrm>
            <a:off x="6912864" y="1883298"/>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Auth + request routing</a:t>
            </a:r>
            <a:endParaRPr lang="en-US" sz="800" dirty="0"/>
          </a:p>
        </p:txBody>
      </p:sp>
      <p:sp>
        <p:nvSpPr>
          <p:cNvPr id="19" name="Shape 17"/>
          <p:cNvSpPr/>
          <p:nvPr/>
        </p:nvSpPr>
        <p:spPr>
          <a:xfrm>
            <a:off x="9075420" y="1417320"/>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20" name="Shape 18"/>
          <p:cNvSpPr/>
          <p:nvPr/>
        </p:nvSpPr>
        <p:spPr>
          <a:xfrm>
            <a:off x="9203436" y="1636776"/>
            <a:ext cx="457200" cy="457200"/>
          </a:xfrm>
          <a:prstGeom prst="ellipse">
            <a:avLst/>
          </a:prstGeom>
          <a:solidFill>
            <a:srgbClr val="4FD8EB"/>
          </a:solidFill>
          <a:ln/>
        </p:spPr>
      </p:sp>
      <p:sp>
        <p:nvSpPr>
          <p:cNvPr id="21" name="Text 19"/>
          <p:cNvSpPr/>
          <p:nvPr/>
        </p:nvSpPr>
        <p:spPr>
          <a:xfrm>
            <a:off x="9203436" y="1636776"/>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9770364" y="1508760"/>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Backend Server</a:t>
            </a:r>
            <a:endParaRPr lang="en-US" sz="1150" dirty="0"/>
          </a:p>
        </p:txBody>
      </p:sp>
      <p:sp>
        <p:nvSpPr>
          <p:cNvPr id="23" name="Text 21"/>
          <p:cNvSpPr/>
          <p:nvPr/>
        </p:nvSpPr>
        <p:spPr>
          <a:xfrm>
            <a:off x="9770364" y="1883298"/>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Orchestrates inference</a:t>
            </a:r>
            <a:endParaRPr lang="en-US" sz="800" dirty="0"/>
          </a:p>
        </p:txBody>
      </p:sp>
      <p:sp>
        <p:nvSpPr>
          <p:cNvPr id="24" name="Text 22"/>
          <p:cNvSpPr/>
          <p:nvPr/>
        </p:nvSpPr>
        <p:spPr>
          <a:xfrm>
            <a:off x="3177540" y="1719072"/>
            <a:ext cx="182880" cy="292608"/>
          </a:xfrm>
          <a:prstGeom prst="rect">
            <a:avLst/>
          </a:prstGeom>
          <a:noFill/>
          <a:ln/>
        </p:spPr>
        <p:txBody>
          <a:bodyPr wrap="square" rtlCol="0" anchor="ctr"/>
          <a:lstStyle/>
          <a:p>
            <a:pPr algn="ctr" indent="0" marL="0">
              <a:buNone/>
            </a:pPr>
            <a:r>
              <a:rPr lang="en-US" sz="1300" b="1" dirty="0">
                <a:solidFill>
                  <a:srgbClr val="4FD8EB"/>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6035040" y="1719072"/>
            <a:ext cx="182880" cy="292608"/>
          </a:xfrm>
          <a:prstGeom prst="rect">
            <a:avLst/>
          </a:prstGeom>
          <a:noFill/>
          <a:ln/>
        </p:spPr>
        <p:txBody>
          <a:bodyPr wrap="square" rtlCol="0" anchor="ctr"/>
          <a:lstStyle/>
          <a:p>
            <a:pPr algn="ctr" indent="0" marL="0">
              <a:buNone/>
            </a:pPr>
            <a:r>
              <a:rPr lang="en-US" sz="1300" b="1" dirty="0">
                <a:solidFill>
                  <a:srgbClr val="4FD8EB"/>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8892540" y="1719072"/>
            <a:ext cx="182880" cy="292608"/>
          </a:xfrm>
          <a:prstGeom prst="rect">
            <a:avLst/>
          </a:prstGeom>
          <a:noFill/>
          <a:ln/>
        </p:spPr>
        <p:txBody>
          <a:bodyPr wrap="square" rtlCol="0" anchor="ctr"/>
          <a:lstStyle/>
          <a:p>
            <a:pPr algn="ctr" indent="0" marL="0">
              <a:buNone/>
            </a:pPr>
            <a:r>
              <a:rPr lang="en-US" sz="1300" b="1" dirty="0">
                <a:solidFill>
                  <a:srgbClr val="4FD8EB"/>
                </a:solidFill>
                <a:latin typeface="Calibri" pitchFamily="34" charset="0"/>
                <a:ea typeface="Calibri" pitchFamily="34" charset="-122"/>
                <a:cs typeface="Calibri" pitchFamily="34" charset="-120"/>
              </a:rPr>
              <a:t>▶</a:t>
            </a:r>
            <a:endParaRPr lang="en-US" sz="1300" dirty="0"/>
          </a:p>
        </p:txBody>
      </p:sp>
      <p:sp>
        <p:nvSpPr>
          <p:cNvPr id="27" name="Shape 25"/>
          <p:cNvSpPr/>
          <p:nvPr/>
        </p:nvSpPr>
        <p:spPr>
          <a:xfrm>
            <a:off x="502920" y="2624328"/>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28" name="Shape 26"/>
          <p:cNvSpPr/>
          <p:nvPr/>
        </p:nvSpPr>
        <p:spPr>
          <a:xfrm>
            <a:off x="630936" y="2843784"/>
            <a:ext cx="457200" cy="457200"/>
          </a:xfrm>
          <a:prstGeom prst="ellipse">
            <a:avLst/>
          </a:prstGeom>
          <a:solidFill>
            <a:srgbClr val="4FD8EB"/>
          </a:solidFill>
          <a:ln/>
        </p:spPr>
      </p:sp>
      <p:sp>
        <p:nvSpPr>
          <p:cNvPr id="29" name="Text 27"/>
          <p:cNvSpPr/>
          <p:nvPr/>
        </p:nvSpPr>
        <p:spPr>
          <a:xfrm>
            <a:off x="630936" y="2843784"/>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8</a:t>
            </a:r>
            <a:endParaRPr lang="en-US" sz="1500" dirty="0"/>
          </a:p>
        </p:txBody>
      </p:sp>
      <p:sp>
        <p:nvSpPr>
          <p:cNvPr id="30" name="Text 28"/>
          <p:cNvSpPr/>
          <p:nvPr/>
        </p:nvSpPr>
        <p:spPr>
          <a:xfrm>
            <a:off x="1197864" y="2715768"/>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Softmax</a:t>
            </a:r>
            <a:endParaRPr lang="en-US" sz="1150" dirty="0"/>
          </a:p>
        </p:txBody>
      </p:sp>
      <p:sp>
        <p:nvSpPr>
          <p:cNvPr id="31" name="Text 29"/>
          <p:cNvSpPr/>
          <p:nvPr/>
        </p:nvSpPr>
        <p:spPr>
          <a:xfrm>
            <a:off x="1197864" y="3090306"/>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Logits → probabilities</a:t>
            </a:r>
            <a:endParaRPr lang="en-US" sz="800" dirty="0"/>
          </a:p>
        </p:txBody>
      </p:sp>
      <p:sp>
        <p:nvSpPr>
          <p:cNvPr id="32" name="Shape 30"/>
          <p:cNvSpPr/>
          <p:nvPr/>
        </p:nvSpPr>
        <p:spPr>
          <a:xfrm>
            <a:off x="3360420" y="2624328"/>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33" name="Shape 31"/>
          <p:cNvSpPr/>
          <p:nvPr/>
        </p:nvSpPr>
        <p:spPr>
          <a:xfrm>
            <a:off x="3488436" y="2843784"/>
            <a:ext cx="457200" cy="457200"/>
          </a:xfrm>
          <a:prstGeom prst="ellipse">
            <a:avLst/>
          </a:prstGeom>
          <a:solidFill>
            <a:srgbClr val="9A72E8"/>
          </a:solidFill>
          <a:ln/>
        </p:spPr>
      </p:sp>
      <p:sp>
        <p:nvSpPr>
          <p:cNvPr id="34" name="Text 32"/>
          <p:cNvSpPr/>
          <p:nvPr/>
        </p:nvSpPr>
        <p:spPr>
          <a:xfrm>
            <a:off x="3488436" y="2843784"/>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7</a:t>
            </a:r>
            <a:endParaRPr lang="en-US" sz="1500" dirty="0"/>
          </a:p>
        </p:txBody>
      </p:sp>
      <p:sp>
        <p:nvSpPr>
          <p:cNvPr id="35" name="Text 33"/>
          <p:cNvSpPr/>
          <p:nvPr/>
        </p:nvSpPr>
        <p:spPr>
          <a:xfrm>
            <a:off x="4055364" y="2715768"/>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Transformer Decoder</a:t>
            </a:r>
            <a:endParaRPr lang="en-US" sz="1150" dirty="0"/>
          </a:p>
        </p:txBody>
      </p:sp>
      <p:sp>
        <p:nvSpPr>
          <p:cNvPr id="36" name="Text 34"/>
          <p:cNvSpPr/>
          <p:nvPr/>
        </p:nvSpPr>
        <p:spPr>
          <a:xfrm>
            <a:off x="4055364" y="3090306"/>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MLA attention + DeepSeekMoE FFN</a:t>
            </a:r>
            <a:endParaRPr lang="en-US" sz="800" dirty="0"/>
          </a:p>
        </p:txBody>
      </p:sp>
      <p:sp>
        <p:nvSpPr>
          <p:cNvPr id="37" name="Shape 35"/>
          <p:cNvSpPr/>
          <p:nvPr/>
        </p:nvSpPr>
        <p:spPr>
          <a:xfrm>
            <a:off x="6217920" y="2624328"/>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38" name="Shape 36"/>
          <p:cNvSpPr/>
          <p:nvPr/>
        </p:nvSpPr>
        <p:spPr>
          <a:xfrm>
            <a:off x="6345936" y="2843784"/>
            <a:ext cx="457200" cy="457200"/>
          </a:xfrm>
          <a:prstGeom prst="ellipse">
            <a:avLst/>
          </a:prstGeom>
          <a:solidFill>
            <a:srgbClr val="4FD8EB"/>
          </a:solidFill>
          <a:ln/>
        </p:spPr>
      </p:sp>
      <p:sp>
        <p:nvSpPr>
          <p:cNvPr id="39" name="Text 37"/>
          <p:cNvSpPr/>
          <p:nvPr/>
        </p:nvSpPr>
        <p:spPr>
          <a:xfrm>
            <a:off x="6345936" y="2843784"/>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6</a:t>
            </a:r>
            <a:endParaRPr lang="en-US" sz="1500" dirty="0"/>
          </a:p>
        </p:txBody>
      </p:sp>
      <p:sp>
        <p:nvSpPr>
          <p:cNvPr id="40" name="Text 38"/>
          <p:cNvSpPr/>
          <p:nvPr/>
        </p:nvSpPr>
        <p:spPr>
          <a:xfrm>
            <a:off x="6912864" y="2715768"/>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Embed. + Pos. Enc.</a:t>
            </a:r>
            <a:endParaRPr lang="en-US" sz="1150" dirty="0"/>
          </a:p>
        </p:txBody>
      </p:sp>
      <p:sp>
        <p:nvSpPr>
          <p:cNvPr id="41" name="Text 39"/>
          <p:cNvSpPr/>
          <p:nvPr/>
        </p:nvSpPr>
        <p:spPr>
          <a:xfrm>
            <a:off x="6912864" y="3090306"/>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Tokens → position-aware vectors</a:t>
            </a:r>
            <a:endParaRPr lang="en-US" sz="800" dirty="0"/>
          </a:p>
        </p:txBody>
      </p:sp>
      <p:sp>
        <p:nvSpPr>
          <p:cNvPr id="42" name="Shape 40"/>
          <p:cNvSpPr/>
          <p:nvPr/>
        </p:nvSpPr>
        <p:spPr>
          <a:xfrm>
            <a:off x="9075420" y="2624328"/>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43" name="Shape 41"/>
          <p:cNvSpPr/>
          <p:nvPr/>
        </p:nvSpPr>
        <p:spPr>
          <a:xfrm>
            <a:off x="9203436" y="2843784"/>
            <a:ext cx="457200" cy="457200"/>
          </a:xfrm>
          <a:prstGeom prst="ellipse">
            <a:avLst/>
          </a:prstGeom>
          <a:solidFill>
            <a:srgbClr val="4FD8EB"/>
          </a:solidFill>
          <a:ln/>
        </p:spPr>
      </p:sp>
      <p:sp>
        <p:nvSpPr>
          <p:cNvPr id="44" name="Text 42"/>
          <p:cNvSpPr/>
          <p:nvPr/>
        </p:nvSpPr>
        <p:spPr>
          <a:xfrm>
            <a:off x="9203436" y="2843784"/>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5</a:t>
            </a:r>
            <a:endParaRPr lang="en-US" sz="1500" dirty="0"/>
          </a:p>
        </p:txBody>
      </p:sp>
      <p:sp>
        <p:nvSpPr>
          <p:cNvPr id="45" name="Text 43"/>
          <p:cNvSpPr/>
          <p:nvPr/>
        </p:nvSpPr>
        <p:spPr>
          <a:xfrm>
            <a:off x="9770364" y="2715768"/>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Tokenizer</a:t>
            </a:r>
            <a:endParaRPr lang="en-US" sz="1150" dirty="0"/>
          </a:p>
        </p:txBody>
      </p:sp>
      <p:sp>
        <p:nvSpPr>
          <p:cNvPr id="46" name="Text 44"/>
          <p:cNvSpPr/>
          <p:nvPr/>
        </p:nvSpPr>
        <p:spPr>
          <a:xfrm>
            <a:off x="9770364" y="3090306"/>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Text → subword tokens</a:t>
            </a:r>
            <a:endParaRPr lang="en-US" sz="800" dirty="0"/>
          </a:p>
        </p:txBody>
      </p:sp>
      <p:sp>
        <p:nvSpPr>
          <p:cNvPr id="47" name="Text 45"/>
          <p:cNvSpPr/>
          <p:nvPr/>
        </p:nvSpPr>
        <p:spPr>
          <a:xfrm>
            <a:off x="3177540" y="2926080"/>
            <a:ext cx="182880" cy="292608"/>
          </a:xfrm>
          <a:prstGeom prst="rect">
            <a:avLst/>
          </a:prstGeom>
          <a:noFill/>
          <a:ln/>
        </p:spPr>
        <p:txBody>
          <a:bodyPr wrap="square" rtlCol="0" anchor="ctr"/>
          <a:lstStyle/>
          <a:p>
            <a:pPr algn="ctr" indent="0" marL="0">
              <a:buNone/>
            </a:pPr>
            <a:r>
              <a:rPr lang="en-US" sz="1300" b="1" dirty="0">
                <a:solidFill>
                  <a:srgbClr val="4FD8EB"/>
                </a:solidFill>
                <a:latin typeface="Calibri" pitchFamily="34" charset="0"/>
                <a:ea typeface="Calibri" pitchFamily="34" charset="-122"/>
                <a:cs typeface="Calibri" pitchFamily="34" charset="-120"/>
              </a:rPr>
              <a:t>◀</a:t>
            </a:r>
            <a:endParaRPr lang="en-US" sz="1300" dirty="0"/>
          </a:p>
        </p:txBody>
      </p:sp>
      <p:sp>
        <p:nvSpPr>
          <p:cNvPr id="48" name="Text 46"/>
          <p:cNvSpPr/>
          <p:nvPr/>
        </p:nvSpPr>
        <p:spPr>
          <a:xfrm>
            <a:off x="6035040" y="2926080"/>
            <a:ext cx="182880" cy="292608"/>
          </a:xfrm>
          <a:prstGeom prst="rect">
            <a:avLst/>
          </a:prstGeom>
          <a:noFill/>
          <a:ln/>
        </p:spPr>
        <p:txBody>
          <a:bodyPr wrap="square" rtlCol="0" anchor="ctr"/>
          <a:lstStyle/>
          <a:p>
            <a:pPr algn="ctr" indent="0" marL="0">
              <a:buNone/>
            </a:pPr>
            <a:r>
              <a:rPr lang="en-US" sz="1300" b="1" dirty="0">
                <a:solidFill>
                  <a:srgbClr val="4FD8EB"/>
                </a:solidFill>
                <a:latin typeface="Calibri" pitchFamily="34" charset="0"/>
                <a:ea typeface="Calibri" pitchFamily="34" charset="-122"/>
                <a:cs typeface="Calibri" pitchFamily="34" charset="-120"/>
              </a:rPr>
              <a:t>◀</a:t>
            </a:r>
            <a:endParaRPr lang="en-US" sz="1300" dirty="0"/>
          </a:p>
        </p:txBody>
      </p:sp>
      <p:sp>
        <p:nvSpPr>
          <p:cNvPr id="49" name="Text 47"/>
          <p:cNvSpPr/>
          <p:nvPr/>
        </p:nvSpPr>
        <p:spPr>
          <a:xfrm>
            <a:off x="8892540" y="2926080"/>
            <a:ext cx="182880" cy="292608"/>
          </a:xfrm>
          <a:prstGeom prst="rect">
            <a:avLst/>
          </a:prstGeom>
          <a:noFill/>
          <a:ln/>
        </p:spPr>
        <p:txBody>
          <a:bodyPr wrap="square" rtlCol="0" anchor="ctr"/>
          <a:lstStyle/>
          <a:p>
            <a:pPr algn="ctr" indent="0" marL="0">
              <a:buNone/>
            </a:pPr>
            <a:r>
              <a:rPr lang="en-US" sz="1300" b="1" dirty="0">
                <a:solidFill>
                  <a:srgbClr val="4FD8EB"/>
                </a:solidFill>
                <a:latin typeface="Calibri" pitchFamily="34" charset="0"/>
                <a:ea typeface="Calibri" pitchFamily="34" charset="-122"/>
                <a:cs typeface="Calibri" pitchFamily="34" charset="-120"/>
              </a:rPr>
              <a:t>◀</a:t>
            </a:r>
            <a:endParaRPr lang="en-US" sz="1300" dirty="0"/>
          </a:p>
        </p:txBody>
      </p:sp>
      <p:sp>
        <p:nvSpPr>
          <p:cNvPr id="50" name="Shape 48"/>
          <p:cNvSpPr/>
          <p:nvPr/>
        </p:nvSpPr>
        <p:spPr>
          <a:xfrm>
            <a:off x="502920" y="3831336"/>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51" name="Shape 49"/>
          <p:cNvSpPr/>
          <p:nvPr/>
        </p:nvSpPr>
        <p:spPr>
          <a:xfrm>
            <a:off x="630936" y="4050792"/>
            <a:ext cx="457200" cy="457200"/>
          </a:xfrm>
          <a:prstGeom prst="ellipse">
            <a:avLst/>
          </a:prstGeom>
          <a:solidFill>
            <a:srgbClr val="4FD8EB"/>
          </a:solidFill>
          <a:ln/>
        </p:spPr>
      </p:sp>
      <p:sp>
        <p:nvSpPr>
          <p:cNvPr id="52" name="Text 50"/>
          <p:cNvSpPr/>
          <p:nvPr/>
        </p:nvSpPr>
        <p:spPr>
          <a:xfrm>
            <a:off x="630936" y="4050792"/>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9</a:t>
            </a:r>
            <a:endParaRPr lang="en-US" sz="1500" dirty="0"/>
          </a:p>
        </p:txBody>
      </p:sp>
      <p:sp>
        <p:nvSpPr>
          <p:cNvPr id="53" name="Text 51"/>
          <p:cNvSpPr/>
          <p:nvPr/>
        </p:nvSpPr>
        <p:spPr>
          <a:xfrm>
            <a:off x="1197864" y="3922776"/>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Next-Token Prediction</a:t>
            </a:r>
            <a:endParaRPr lang="en-US" sz="1150" dirty="0"/>
          </a:p>
        </p:txBody>
      </p:sp>
      <p:sp>
        <p:nvSpPr>
          <p:cNvPr id="54" name="Text 52"/>
          <p:cNvSpPr/>
          <p:nvPr/>
        </p:nvSpPr>
        <p:spPr>
          <a:xfrm>
            <a:off x="1197864" y="4297314"/>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Sample the next token</a:t>
            </a:r>
            <a:endParaRPr lang="en-US" sz="800" dirty="0"/>
          </a:p>
        </p:txBody>
      </p:sp>
      <p:sp>
        <p:nvSpPr>
          <p:cNvPr id="55" name="Shape 53"/>
          <p:cNvSpPr/>
          <p:nvPr/>
        </p:nvSpPr>
        <p:spPr>
          <a:xfrm>
            <a:off x="3360420" y="3831336"/>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56" name="Shape 54"/>
          <p:cNvSpPr/>
          <p:nvPr/>
        </p:nvSpPr>
        <p:spPr>
          <a:xfrm>
            <a:off x="3488436" y="4050792"/>
            <a:ext cx="457200" cy="457200"/>
          </a:xfrm>
          <a:prstGeom prst="ellipse">
            <a:avLst/>
          </a:prstGeom>
          <a:solidFill>
            <a:srgbClr val="4FD8EB"/>
          </a:solidFill>
          <a:ln/>
        </p:spPr>
      </p:sp>
      <p:sp>
        <p:nvSpPr>
          <p:cNvPr id="57" name="Text 55"/>
          <p:cNvSpPr/>
          <p:nvPr/>
        </p:nvSpPr>
        <p:spPr>
          <a:xfrm>
            <a:off x="3488436" y="4050792"/>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10</a:t>
            </a:r>
            <a:endParaRPr lang="en-US" sz="1500" dirty="0"/>
          </a:p>
        </p:txBody>
      </p:sp>
      <p:sp>
        <p:nvSpPr>
          <p:cNvPr id="58" name="Text 56"/>
          <p:cNvSpPr/>
          <p:nvPr/>
        </p:nvSpPr>
        <p:spPr>
          <a:xfrm>
            <a:off x="4055364" y="3922776"/>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Response Generator</a:t>
            </a:r>
            <a:endParaRPr lang="en-US" sz="1150" dirty="0"/>
          </a:p>
        </p:txBody>
      </p:sp>
      <p:sp>
        <p:nvSpPr>
          <p:cNvPr id="59" name="Text 57"/>
          <p:cNvSpPr/>
          <p:nvPr/>
        </p:nvSpPr>
        <p:spPr>
          <a:xfrm>
            <a:off x="4055364" y="4297314"/>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Assemble streamed text</a:t>
            </a:r>
            <a:endParaRPr lang="en-US" sz="800" dirty="0"/>
          </a:p>
        </p:txBody>
      </p:sp>
      <p:sp>
        <p:nvSpPr>
          <p:cNvPr id="60" name="Shape 58"/>
          <p:cNvSpPr/>
          <p:nvPr/>
        </p:nvSpPr>
        <p:spPr>
          <a:xfrm>
            <a:off x="6217920" y="3831336"/>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61" name="Shape 59"/>
          <p:cNvSpPr/>
          <p:nvPr/>
        </p:nvSpPr>
        <p:spPr>
          <a:xfrm>
            <a:off x="6345936" y="4050792"/>
            <a:ext cx="457200" cy="457200"/>
          </a:xfrm>
          <a:prstGeom prst="ellipse">
            <a:avLst/>
          </a:prstGeom>
          <a:solidFill>
            <a:srgbClr val="4FD8EB"/>
          </a:solidFill>
          <a:ln/>
        </p:spPr>
      </p:sp>
      <p:sp>
        <p:nvSpPr>
          <p:cNvPr id="62" name="Text 60"/>
          <p:cNvSpPr/>
          <p:nvPr/>
        </p:nvSpPr>
        <p:spPr>
          <a:xfrm>
            <a:off x="6345936" y="4050792"/>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11</a:t>
            </a:r>
            <a:endParaRPr lang="en-US" sz="1500" dirty="0"/>
          </a:p>
        </p:txBody>
      </p:sp>
      <p:sp>
        <p:nvSpPr>
          <p:cNvPr id="63" name="Text 61"/>
          <p:cNvSpPr/>
          <p:nvPr/>
        </p:nvSpPr>
        <p:spPr>
          <a:xfrm>
            <a:off x="6912864" y="3922776"/>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Frontend</a:t>
            </a:r>
            <a:endParaRPr lang="en-US" sz="1150" dirty="0"/>
          </a:p>
        </p:txBody>
      </p:sp>
      <p:sp>
        <p:nvSpPr>
          <p:cNvPr id="64" name="Text 62"/>
          <p:cNvSpPr/>
          <p:nvPr/>
        </p:nvSpPr>
        <p:spPr>
          <a:xfrm>
            <a:off x="6912864" y="4297314"/>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Render response</a:t>
            </a:r>
            <a:endParaRPr lang="en-US" sz="800" dirty="0"/>
          </a:p>
        </p:txBody>
      </p:sp>
      <p:sp>
        <p:nvSpPr>
          <p:cNvPr id="65" name="Shape 63"/>
          <p:cNvSpPr/>
          <p:nvPr/>
        </p:nvSpPr>
        <p:spPr>
          <a:xfrm>
            <a:off x="9075420" y="3831336"/>
            <a:ext cx="2674620" cy="896112"/>
          </a:xfrm>
          <a:prstGeom prst="roundRect">
            <a:avLst>
              <a:gd name="adj" fmla="val 9184"/>
            </a:avLst>
          </a:prstGeom>
          <a:solidFill>
            <a:srgbClr val="16215C"/>
          </a:solidFill>
          <a:ln/>
          <a:effectLst>
            <a:outerShdw sx="100000" sy="100000" kx="0" ky="0" algn="bl" rotWithShape="0" blurRad="76200" dist="25400" dir="5400000">
              <a:srgbClr val="0B1442">
                <a:alpha val="18000"/>
              </a:srgbClr>
            </a:outerShdw>
          </a:effectLst>
        </p:spPr>
      </p:sp>
      <p:sp>
        <p:nvSpPr>
          <p:cNvPr id="66" name="Shape 64"/>
          <p:cNvSpPr/>
          <p:nvPr/>
        </p:nvSpPr>
        <p:spPr>
          <a:xfrm>
            <a:off x="9203436" y="4050792"/>
            <a:ext cx="457200" cy="457200"/>
          </a:xfrm>
          <a:prstGeom prst="ellipse">
            <a:avLst/>
          </a:prstGeom>
          <a:solidFill>
            <a:srgbClr val="4FD8EB"/>
          </a:solidFill>
          <a:ln/>
        </p:spPr>
      </p:sp>
      <p:sp>
        <p:nvSpPr>
          <p:cNvPr id="67" name="Text 65"/>
          <p:cNvSpPr/>
          <p:nvPr/>
        </p:nvSpPr>
        <p:spPr>
          <a:xfrm>
            <a:off x="9203436" y="4050792"/>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12</a:t>
            </a:r>
            <a:endParaRPr lang="en-US" sz="1500" dirty="0"/>
          </a:p>
        </p:txBody>
      </p:sp>
      <p:sp>
        <p:nvSpPr>
          <p:cNvPr id="68" name="Text 66"/>
          <p:cNvSpPr/>
          <p:nvPr/>
        </p:nvSpPr>
        <p:spPr>
          <a:xfrm>
            <a:off x="9770364" y="3922776"/>
            <a:ext cx="1851660" cy="49286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User</a:t>
            </a:r>
            <a:endParaRPr lang="en-US" sz="1150" dirty="0"/>
          </a:p>
        </p:txBody>
      </p:sp>
      <p:sp>
        <p:nvSpPr>
          <p:cNvPr id="69" name="Text 67"/>
          <p:cNvSpPr/>
          <p:nvPr/>
        </p:nvSpPr>
        <p:spPr>
          <a:xfrm>
            <a:off x="9770364" y="4297314"/>
            <a:ext cx="1851660" cy="376367"/>
          </a:xfrm>
          <a:prstGeom prst="rect">
            <a:avLst/>
          </a:prstGeom>
          <a:noFill/>
          <a:ln/>
        </p:spPr>
        <p:txBody>
          <a:bodyPr wrap="square" lIns="0" tIns="0" rIns="0" bIns="0" rtlCol="0" anchor="t"/>
          <a:lstStyle/>
          <a:p>
            <a:pPr indent="0" marL="0">
              <a:buNone/>
            </a:pPr>
            <a:r>
              <a:rPr lang="en-US" sz="800" dirty="0">
                <a:solidFill>
                  <a:srgbClr val="AEB8E8"/>
                </a:solidFill>
                <a:latin typeface="Calibri" pitchFamily="34" charset="0"/>
                <a:ea typeface="Calibri" pitchFamily="34" charset="-122"/>
                <a:cs typeface="Calibri" pitchFamily="34" charset="-120"/>
              </a:rPr>
              <a:t>Reads the answer</a:t>
            </a:r>
            <a:endParaRPr lang="en-US" sz="800" dirty="0"/>
          </a:p>
        </p:txBody>
      </p:sp>
      <p:sp>
        <p:nvSpPr>
          <p:cNvPr id="70" name="Text 68"/>
          <p:cNvSpPr/>
          <p:nvPr/>
        </p:nvSpPr>
        <p:spPr>
          <a:xfrm>
            <a:off x="3177540" y="4133088"/>
            <a:ext cx="182880" cy="292608"/>
          </a:xfrm>
          <a:prstGeom prst="rect">
            <a:avLst/>
          </a:prstGeom>
          <a:noFill/>
          <a:ln/>
        </p:spPr>
        <p:txBody>
          <a:bodyPr wrap="square" rtlCol="0" anchor="ctr"/>
          <a:lstStyle/>
          <a:p>
            <a:pPr algn="ctr" indent="0" marL="0">
              <a:buNone/>
            </a:pPr>
            <a:r>
              <a:rPr lang="en-US" sz="1300" b="1" dirty="0">
                <a:solidFill>
                  <a:srgbClr val="4FD8EB"/>
                </a:solidFill>
                <a:latin typeface="Calibri" pitchFamily="34" charset="0"/>
                <a:ea typeface="Calibri" pitchFamily="34" charset="-122"/>
                <a:cs typeface="Calibri" pitchFamily="34" charset="-120"/>
              </a:rPr>
              <a:t>▶</a:t>
            </a:r>
            <a:endParaRPr lang="en-US" sz="1300" dirty="0"/>
          </a:p>
        </p:txBody>
      </p:sp>
      <p:sp>
        <p:nvSpPr>
          <p:cNvPr id="71" name="Text 69"/>
          <p:cNvSpPr/>
          <p:nvPr/>
        </p:nvSpPr>
        <p:spPr>
          <a:xfrm>
            <a:off x="6035040" y="4133088"/>
            <a:ext cx="182880" cy="292608"/>
          </a:xfrm>
          <a:prstGeom prst="rect">
            <a:avLst/>
          </a:prstGeom>
          <a:noFill/>
          <a:ln/>
        </p:spPr>
        <p:txBody>
          <a:bodyPr wrap="square" rtlCol="0" anchor="ctr"/>
          <a:lstStyle/>
          <a:p>
            <a:pPr algn="ctr" indent="0" marL="0">
              <a:buNone/>
            </a:pPr>
            <a:r>
              <a:rPr lang="en-US" sz="1300" b="1" dirty="0">
                <a:solidFill>
                  <a:srgbClr val="4FD8EB"/>
                </a:solidFill>
                <a:latin typeface="Calibri" pitchFamily="34" charset="0"/>
                <a:ea typeface="Calibri" pitchFamily="34" charset="-122"/>
                <a:cs typeface="Calibri" pitchFamily="34" charset="-120"/>
              </a:rPr>
              <a:t>▶</a:t>
            </a:r>
            <a:endParaRPr lang="en-US" sz="1300" dirty="0"/>
          </a:p>
        </p:txBody>
      </p:sp>
      <p:sp>
        <p:nvSpPr>
          <p:cNvPr id="72" name="Text 70"/>
          <p:cNvSpPr/>
          <p:nvPr/>
        </p:nvSpPr>
        <p:spPr>
          <a:xfrm>
            <a:off x="8892540" y="4133088"/>
            <a:ext cx="182880" cy="292608"/>
          </a:xfrm>
          <a:prstGeom prst="rect">
            <a:avLst/>
          </a:prstGeom>
          <a:noFill/>
          <a:ln/>
        </p:spPr>
        <p:txBody>
          <a:bodyPr wrap="square" rtlCol="0" anchor="ctr"/>
          <a:lstStyle/>
          <a:p>
            <a:pPr algn="ctr" indent="0" marL="0">
              <a:buNone/>
            </a:pPr>
            <a:r>
              <a:rPr lang="en-US" sz="1300" b="1" dirty="0">
                <a:solidFill>
                  <a:srgbClr val="4FD8EB"/>
                </a:solidFill>
                <a:latin typeface="Calibri" pitchFamily="34" charset="0"/>
                <a:ea typeface="Calibri" pitchFamily="34" charset="-122"/>
                <a:cs typeface="Calibri" pitchFamily="34" charset="-120"/>
              </a:rPr>
              <a:t>▶</a:t>
            </a:r>
            <a:endParaRPr lang="en-US" sz="1300" dirty="0"/>
          </a:p>
        </p:txBody>
      </p:sp>
      <p:sp>
        <p:nvSpPr>
          <p:cNvPr id="73" name="Text 71"/>
          <p:cNvSpPr/>
          <p:nvPr/>
        </p:nvSpPr>
        <p:spPr>
          <a:xfrm>
            <a:off x="10266426" y="2313432"/>
            <a:ext cx="292608" cy="310896"/>
          </a:xfrm>
          <a:prstGeom prst="rect">
            <a:avLst/>
          </a:prstGeom>
          <a:noFill/>
          <a:ln/>
        </p:spPr>
        <p:txBody>
          <a:bodyPr wrap="square" rtlCol="0" anchor="ctr"/>
          <a:lstStyle/>
          <a:p>
            <a:pPr algn="ctr" indent="0" marL="0">
              <a:buNone/>
            </a:pPr>
            <a:r>
              <a:rPr lang="en-US" sz="1300" b="1" dirty="0">
                <a:solidFill>
                  <a:srgbClr val="4FD8EB"/>
                </a:solidFill>
                <a:latin typeface="Calibri" pitchFamily="34" charset="0"/>
                <a:ea typeface="Calibri" pitchFamily="34" charset="-122"/>
                <a:cs typeface="Calibri" pitchFamily="34" charset="-120"/>
              </a:rPr>
              <a:t>▼</a:t>
            </a:r>
            <a:endParaRPr lang="en-US" sz="1300" dirty="0"/>
          </a:p>
        </p:txBody>
      </p:sp>
      <p:sp>
        <p:nvSpPr>
          <p:cNvPr id="74" name="Text 72"/>
          <p:cNvSpPr/>
          <p:nvPr/>
        </p:nvSpPr>
        <p:spPr>
          <a:xfrm>
            <a:off x="1693926" y="3520440"/>
            <a:ext cx="292608" cy="310896"/>
          </a:xfrm>
          <a:prstGeom prst="rect">
            <a:avLst/>
          </a:prstGeom>
          <a:noFill/>
          <a:ln/>
        </p:spPr>
        <p:txBody>
          <a:bodyPr wrap="square" rtlCol="0" anchor="ctr"/>
          <a:lstStyle/>
          <a:p>
            <a:pPr algn="ctr" indent="0" marL="0">
              <a:buNone/>
            </a:pPr>
            <a:r>
              <a:rPr lang="en-US" sz="1300" b="1" dirty="0">
                <a:solidFill>
                  <a:srgbClr val="4FD8EB"/>
                </a:solidFill>
                <a:latin typeface="Calibri" pitchFamily="34" charset="0"/>
                <a:ea typeface="Calibri" pitchFamily="34" charset="-122"/>
                <a:cs typeface="Calibri" pitchFamily="34" charset="-120"/>
              </a:rPr>
              <a:t>▼</a:t>
            </a:r>
            <a:endParaRPr lang="en-US" sz="1300" dirty="0"/>
          </a:p>
        </p:txBody>
      </p:sp>
      <p:sp>
        <p:nvSpPr>
          <p:cNvPr id="75" name="Text 73"/>
          <p:cNvSpPr/>
          <p:nvPr/>
        </p:nvSpPr>
        <p:spPr>
          <a:xfrm>
            <a:off x="502920" y="4892040"/>
            <a:ext cx="11155680" cy="365760"/>
          </a:xfrm>
          <a:prstGeom prst="rect">
            <a:avLst/>
          </a:prstGeom>
          <a:noFill/>
          <a:ln/>
        </p:spPr>
        <p:txBody>
          <a:bodyPr wrap="square" lIns="0" tIns="0" rIns="0" bIns="0" rtlCol="0" anchor="ctr"/>
          <a:lstStyle/>
          <a:p>
            <a:pPr indent="0" marL="0">
              <a:buNone/>
            </a:pPr>
            <a:r>
              <a:rPr lang="en-US" sz="1050" i="1" dirty="0">
                <a:solidFill>
                  <a:srgbClr val="AEB8E8"/>
                </a:solidFill>
                <a:latin typeface="Calibri" pitchFamily="34" charset="0"/>
                <a:ea typeface="Calibri" pitchFamily="34" charset="-122"/>
                <a:cs typeface="Calibri" pitchFamily="34" charset="-120"/>
              </a:rPr>
              <a:t>Steps 7–9 repeat once per generated token (autoregressive loop) until an end-of-sequence token or max length is reached.</a:t>
            </a:r>
            <a:endParaRPr lang="en-US" sz="1050" dirty="0"/>
          </a:p>
        </p:txBody>
      </p:sp>
      <p:sp>
        <p:nvSpPr>
          <p:cNvPr id="76" name="Text 74"/>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8891C4"/>
                </a:solidFill>
                <a:latin typeface="Calibri" pitchFamily="34" charset="0"/>
                <a:ea typeface="Calibri" pitchFamily="34" charset="-122"/>
                <a:cs typeface="Calibri" pitchFamily="34" charset="-120"/>
              </a:rPr>
              <a:t>DEEPSEEK AI MODEL  |  AI ENGINEERING SEMINAR</a:t>
            </a:r>
            <a:endParaRPr lang="en-US" sz="900" dirty="0"/>
          </a:p>
        </p:txBody>
      </p:sp>
      <p:sp>
        <p:nvSpPr>
          <p:cNvPr id="77" name="Text 75"/>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8891C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ENGINEERING WORKFLOW</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Frontend Architecture</a:t>
            </a:r>
            <a:endParaRPr lang="en-US" sz="3000" dirty="0"/>
          </a:p>
        </p:txBody>
      </p:sp>
      <p:sp>
        <p:nvSpPr>
          <p:cNvPr id="4" name="Shape 2"/>
          <p:cNvSpPr/>
          <p:nvPr/>
        </p:nvSpPr>
        <p:spPr>
          <a:xfrm>
            <a:off x="502920" y="1600200"/>
            <a:ext cx="3505200" cy="1417320"/>
          </a:xfrm>
          <a:prstGeom prst="roundRect">
            <a:avLst>
              <a:gd name="adj" fmla="val 5161"/>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5" name="Shape 3"/>
          <p:cNvSpPr/>
          <p:nvPr/>
        </p:nvSpPr>
        <p:spPr>
          <a:xfrm>
            <a:off x="667512" y="1746504"/>
            <a:ext cx="457200" cy="457200"/>
          </a:xfrm>
          <a:prstGeom prst="ellipse">
            <a:avLst/>
          </a:prstGeom>
          <a:solidFill>
            <a:srgbClr val="0E93A6"/>
          </a:solidFill>
          <a:ln/>
        </p:spPr>
      </p:sp>
      <p:sp>
        <p:nvSpPr>
          <p:cNvPr id="6" name="Text 4"/>
          <p:cNvSpPr/>
          <p:nvPr/>
        </p:nvSpPr>
        <p:spPr>
          <a:xfrm>
            <a:off x="667512" y="174650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667512" y="2258568"/>
            <a:ext cx="3176016"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Chat UI</a:t>
            </a:r>
            <a:endParaRPr lang="en-US" sz="1250" dirty="0"/>
          </a:p>
        </p:txBody>
      </p:sp>
      <p:sp>
        <p:nvSpPr>
          <p:cNvPr id="8" name="Text 6"/>
          <p:cNvSpPr/>
          <p:nvPr/>
        </p:nvSpPr>
        <p:spPr>
          <a:xfrm>
            <a:off x="667512" y="2551176"/>
            <a:ext cx="3176016" cy="37490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Input box, send button, model/settings controls</a:t>
            </a:r>
            <a:endParaRPr lang="en-US" sz="950" dirty="0"/>
          </a:p>
        </p:txBody>
      </p:sp>
      <p:sp>
        <p:nvSpPr>
          <p:cNvPr id="9" name="Text 7"/>
          <p:cNvSpPr/>
          <p:nvPr/>
        </p:nvSpPr>
        <p:spPr>
          <a:xfrm>
            <a:off x="4008120" y="2162556"/>
            <a:ext cx="320040" cy="292608"/>
          </a:xfrm>
          <a:prstGeom prst="rect">
            <a:avLst/>
          </a:prstGeom>
          <a:noFill/>
          <a:ln/>
        </p:spPr>
        <p:txBody>
          <a:bodyPr wrap="square" rtlCol="0" anchor="ctr"/>
          <a:lstStyle/>
          <a:p>
            <a:pPr algn="ctr" indent="0" marL="0">
              <a:buNone/>
            </a:pPr>
            <a:r>
              <a:rPr lang="en-US" sz="1400" b="1" dirty="0">
                <a:solidFill>
                  <a:srgbClr val="6C3FC5"/>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4328160" y="1600200"/>
            <a:ext cx="3505200" cy="1417320"/>
          </a:xfrm>
          <a:prstGeom prst="roundRect">
            <a:avLst>
              <a:gd name="adj" fmla="val 5161"/>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11" name="Shape 9"/>
          <p:cNvSpPr/>
          <p:nvPr/>
        </p:nvSpPr>
        <p:spPr>
          <a:xfrm>
            <a:off x="4492752" y="1746504"/>
            <a:ext cx="457200" cy="457200"/>
          </a:xfrm>
          <a:prstGeom prst="ellipse">
            <a:avLst/>
          </a:prstGeom>
          <a:solidFill>
            <a:srgbClr val="0E93A6"/>
          </a:solidFill>
          <a:ln/>
        </p:spPr>
      </p:sp>
      <p:sp>
        <p:nvSpPr>
          <p:cNvPr id="12" name="Text 10"/>
          <p:cNvSpPr/>
          <p:nvPr/>
        </p:nvSpPr>
        <p:spPr>
          <a:xfrm>
            <a:off x="4492752" y="174650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4492752" y="2258568"/>
            <a:ext cx="3176016"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Prompt Validation</a:t>
            </a:r>
            <a:endParaRPr lang="en-US" sz="1250" dirty="0"/>
          </a:p>
        </p:txBody>
      </p:sp>
      <p:sp>
        <p:nvSpPr>
          <p:cNvPr id="14" name="Text 12"/>
          <p:cNvSpPr/>
          <p:nvPr/>
        </p:nvSpPr>
        <p:spPr>
          <a:xfrm>
            <a:off x="4492752" y="2551176"/>
            <a:ext cx="3176016" cy="37490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Trims input, checks length &amp; session state</a:t>
            </a:r>
            <a:endParaRPr lang="en-US" sz="950" dirty="0"/>
          </a:p>
        </p:txBody>
      </p:sp>
      <p:sp>
        <p:nvSpPr>
          <p:cNvPr id="15" name="Text 13"/>
          <p:cNvSpPr/>
          <p:nvPr/>
        </p:nvSpPr>
        <p:spPr>
          <a:xfrm>
            <a:off x="7833360" y="2162556"/>
            <a:ext cx="320040" cy="292608"/>
          </a:xfrm>
          <a:prstGeom prst="rect">
            <a:avLst/>
          </a:prstGeom>
          <a:noFill/>
          <a:ln/>
        </p:spPr>
        <p:txBody>
          <a:bodyPr wrap="square" rtlCol="0" anchor="ctr"/>
          <a:lstStyle/>
          <a:p>
            <a:pPr algn="ctr" indent="0" marL="0">
              <a:buNone/>
            </a:pPr>
            <a:r>
              <a:rPr lang="en-US" sz="1400" b="1" dirty="0">
                <a:solidFill>
                  <a:srgbClr val="6C3FC5"/>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8153400" y="1600200"/>
            <a:ext cx="3505200" cy="1417320"/>
          </a:xfrm>
          <a:prstGeom prst="roundRect">
            <a:avLst>
              <a:gd name="adj" fmla="val 5161"/>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17" name="Shape 15"/>
          <p:cNvSpPr/>
          <p:nvPr/>
        </p:nvSpPr>
        <p:spPr>
          <a:xfrm>
            <a:off x="8317992" y="1746504"/>
            <a:ext cx="457200" cy="457200"/>
          </a:xfrm>
          <a:prstGeom prst="ellipse">
            <a:avLst/>
          </a:prstGeom>
          <a:solidFill>
            <a:srgbClr val="0E93A6"/>
          </a:solidFill>
          <a:ln/>
        </p:spPr>
      </p:sp>
      <p:sp>
        <p:nvSpPr>
          <p:cNvPr id="18" name="Text 16"/>
          <p:cNvSpPr/>
          <p:nvPr/>
        </p:nvSpPr>
        <p:spPr>
          <a:xfrm>
            <a:off x="8317992" y="174650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9" name="Text 17"/>
          <p:cNvSpPr/>
          <p:nvPr/>
        </p:nvSpPr>
        <p:spPr>
          <a:xfrm>
            <a:off x="8317992" y="2258568"/>
            <a:ext cx="3176016"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API Request</a:t>
            </a:r>
            <a:endParaRPr lang="en-US" sz="1250" dirty="0"/>
          </a:p>
        </p:txBody>
      </p:sp>
      <p:sp>
        <p:nvSpPr>
          <p:cNvPr id="20" name="Text 18"/>
          <p:cNvSpPr/>
          <p:nvPr/>
        </p:nvSpPr>
        <p:spPr>
          <a:xfrm>
            <a:off x="8317992" y="2551176"/>
            <a:ext cx="3176016" cy="37490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Sends prompt via HTTPS / WebSocket to backend</a:t>
            </a:r>
            <a:endParaRPr lang="en-US" sz="950" dirty="0"/>
          </a:p>
        </p:txBody>
      </p:sp>
      <p:sp>
        <p:nvSpPr>
          <p:cNvPr id="21" name="Shape 19"/>
          <p:cNvSpPr/>
          <p:nvPr/>
        </p:nvSpPr>
        <p:spPr>
          <a:xfrm>
            <a:off x="502920" y="3337560"/>
            <a:ext cx="3505200" cy="1417320"/>
          </a:xfrm>
          <a:prstGeom prst="roundRect">
            <a:avLst>
              <a:gd name="adj" fmla="val 5161"/>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22" name="Shape 20"/>
          <p:cNvSpPr/>
          <p:nvPr/>
        </p:nvSpPr>
        <p:spPr>
          <a:xfrm>
            <a:off x="667512" y="3483864"/>
            <a:ext cx="457200" cy="457200"/>
          </a:xfrm>
          <a:prstGeom prst="ellipse">
            <a:avLst/>
          </a:prstGeom>
          <a:solidFill>
            <a:srgbClr val="0E93A6"/>
          </a:solidFill>
          <a:ln/>
        </p:spPr>
      </p:sp>
      <p:sp>
        <p:nvSpPr>
          <p:cNvPr id="23" name="Text 21"/>
          <p:cNvSpPr/>
          <p:nvPr/>
        </p:nvSpPr>
        <p:spPr>
          <a:xfrm>
            <a:off x="667512" y="348386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4" name="Text 22"/>
          <p:cNvSpPr/>
          <p:nvPr/>
        </p:nvSpPr>
        <p:spPr>
          <a:xfrm>
            <a:off x="667512" y="3995928"/>
            <a:ext cx="3176016"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Streaming Handler</a:t>
            </a:r>
            <a:endParaRPr lang="en-US" sz="1250" dirty="0"/>
          </a:p>
        </p:txBody>
      </p:sp>
      <p:sp>
        <p:nvSpPr>
          <p:cNvPr id="25" name="Text 23"/>
          <p:cNvSpPr/>
          <p:nvPr/>
        </p:nvSpPr>
        <p:spPr>
          <a:xfrm>
            <a:off x="667512" y="4288536"/>
            <a:ext cx="3176016" cy="37490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Receives tokens as Server-Sent Events, chunk by chunk</a:t>
            </a:r>
            <a:endParaRPr lang="en-US" sz="950" dirty="0"/>
          </a:p>
        </p:txBody>
      </p:sp>
      <p:sp>
        <p:nvSpPr>
          <p:cNvPr id="26" name="Text 24"/>
          <p:cNvSpPr/>
          <p:nvPr/>
        </p:nvSpPr>
        <p:spPr>
          <a:xfrm>
            <a:off x="4008120" y="3899916"/>
            <a:ext cx="320040" cy="292608"/>
          </a:xfrm>
          <a:prstGeom prst="rect">
            <a:avLst/>
          </a:prstGeom>
          <a:noFill/>
          <a:ln/>
        </p:spPr>
        <p:txBody>
          <a:bodyPr wrap="square" rtlCol="0" anchor="ctr"/>
          <a:lstStyle/>
          <a:p>
            <a:pPr algn="ctr" indent="0" marL="0">
              <a:buNone/>
            </a:pPr>
            <a:r>
              <a:rPr lang="en-US" sz="1400" b="1" dirty="0">
                <a:solidFill>
                  <a:srgbClr val="6C3FC5"/>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4328160" y="3337560"/>
            <a:ext cx="3505200" cy="1417320"/>
          </a:xfrm>
          <a:prstGeom prst="roundRect">
            <a:avLst>
              <a:gd name="adj" fmla="val 5161"/>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28" name="Shape 26"/>
          <p:cNvSpPr/>
          <p:nvPr/>
        </p:nvSpPr>
        <p:spPr>
          <a:xfrm>
            <a:off x="4492752" y="3483864"/>
            <a:ext cx="457200" cy="457200"/>
          </a:xfrm>
          <a:prstGeom prst="ellipse">
            <a:avLst/>
          </a:prstGeom>
          <a:solidFill>
            <a:srgbClr val="0E93A6"/>
          </a:solidFill>
          <a:ln/>
        </p:spPr>
      </p:sp>
      <p:sp>
        <p:nvSpPr>
          <p:cNvPr id="29" name="Text 27"/>
          <p:cNvSpPr/>
          <p:nvPr/>
        </p:nvSpPr>
        <p:spPr>
          <a:xfrm>
            <a:off x="4492752" y="348386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0" name="Text 28"/>
          <p:cNvSpPr/>
          <p:nvPr/>
        </p:nvSpPr>
        <p:spPr>
          <a:xfrm>
            <a:off x="4492752" y="3995928"/>
            <a:ext cx="3176016"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Render Engine</a:t>
            </a:r>
            <a:endParaRPr lang="en-US" sz="1250" dirty="0"/>
          </a:p>
        </p:txBody>
      </p:sp>
      <p:sp>
        <p:nvSpPr>
          <p:cNvPr id="31" name="Text 29"/>
          <p:cNvSpPr/>
          <p:nvPr/>
        </p:nvSpPr>
        <p:spPr>
          <a:xfrm>
            <a:off x="4492752" y="4288536"/>
            <a:ext cx="3176016" cy="37490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Markdown / code-block rendering into the chat window</a:t>
            </a:r>
            <a:endParaRPr lang="en-US" sz="950" dirty="0"/>
          </a:p>
        </p:txBody>
      </p:sp>
      <p:sp>
        <p:nvSpPr>
          <p:cNvPr id="32" name="Text 30"/>
          <p:cNvSpPr/>
          <p:nvPr/>
        </p:nvSpPr>
        <p:spPr>
          <a:xfrm>
            <a:off x="7833360" y="3899916"/>
            <a:ext cx="320040" cy="292608"/>
          </a:xfrm>
          <a:prstGeom prst="rect">
            <a:avLst/>
          </a:prstGeom>
          <a:noFill/>
          <a:ln/>
        </p:spPr>
        <p:txBody>
          <a:bodyPr wrap="square" rtlCol="0" anchor="ctr"/>
          <a:lstStyle/>
          <a:p>
            <a:pPr algn="ctr" indent="0" marL="0">
              <a:buNone/>
            </a:pPr>
            <a:r>
              <a:rPr lang="en-US" sz="1400" b="1" dirty="0">
                <a:solidFill>
                  <a:srgbClr val="6C3FC5"/>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8153400" y="3337560"/>
            <a:ext cx="3505200" cy="1417320"/>
          </a:xfrm>
          <a:prstGeom prst="roundRect">
            <a:avLst>
              <a:gd name="adj" fmla="val 5161"/>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34" name="Shape 32"/>
          <p:cNvSpPr/>
          <p:nvPr/>
        </p:nvSpPr>
        <p:spPr>
          <a:xfrm>
            <a:off x="8317992" y="3483864"/>
            <a:ext cx="457200" cy="457200"/>
          </a:xfrm>
          <a:prstGeom prst="ellipse">
            <a:avLst/>
          </a:prstGeom>
          <a:solidFill>
            <a:srgbClr val="0E93A6"/>
          </a:solidFill>
          <a:ln/>
        </p:spPr>
      </p:sp>
      <p:sp>
        <p:nvSpPr>
          <p:cNvPr id="35" name="Text 33"/>
          <p:cNvSpPr/>
          <p:nvPr/>
        </p:nvSpPr>
        <p:spPr>
          <a:xfrm>
            <a:off x="8317992" y="348386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6" name="Text 34"/>
          <p:cNvSpPr/>
          <p:nvPr/>
        </p:nvSpPr>
        <p:spPr>
          <a:xfrm>
            <a:off x="8317992" y="3995928"/>
            <a:ext cx="3176016"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Session History</a:t>
            </a:r>
            <a:endParaRPr lang="en-US" sz="1250" dirty="0"/>
          </a:p>
        </p:txBody>
      </p:sp>
      <p:sp>
        <p:nvSpPr>
          <p:cNvPr id="37" name="Text 35"/>
          <p:cNvSpPr/>
          <p:nvPr/>
        </p:nvSpPr>
        <p:spPr>
          <a:xfrm>
            <a:off x="8317992" y="4288536"/>
            <a:ext cx="3176016" cy="37490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Stores conversation turns for context &amp; recall</a:t>
            </a:r>
            <a:endParaRPr lang="en-US" sz="950" dirty="0"/>
          </a:p>
        </p:txBody>
      </p:sp>
      <p:sp>
        <p:nvSpPr>
          <p:cNvPr id="38" name="Text 36"/>
          <p:cNvSpPr/>
          <p:nvPr/>
        </p:nvSpPr>
        <p:spPr>
          <a:xfrm>
            <a:off x="502920" y="4892040"/>
            <a:ext cx="11155680" cy="960120"/>
          </a:xfrm>
          <a:prstGeom prst="rect">
            <a:avLst/>
          </a:prstGeom>
          <a:noFill/>
          <a:ln/>
        </p:spPr>
        <p:txBody>
          <a:bodyPr wrap="square" lIns="0" tIns="0" rIns="0" bIns="0" rtlCol="0" anchor="ctr"/>
          <a:lstStyle/>
          <a:p>
            <a:pPr indent="0" marL="0">
              <a:lnSpc>
                <a:spcPct val="120000"/>
              </a:lnSpc>
              <a:buNone/>
            </a:pPr>
            <a:r>
              <a:rPr lang="en-US" sz="1150" b="1" dirty="0">
                <a:solidFill>
                  <a:srgbClr val="121A3A"/>
                </a:solidFill>
                <a:latin typeface="Calibri" pitchFamily="34" charset="0"/>
                <a:ea typeface="Calibri" pitchFamily="34" charset="-122"/>
                <a:cs typeface="Calibri" pitchFamily="34" charset="-120"/>
              </a:rPr>
              <a:t>Frontend stack in brief:  </a:t>
            </a:r>
            <a:pPr indent="0" marL="0">
              <a:lnSpc>
                <a:spcPct val="120000"/>
              </a:lnSpc>
              <a:buNone/>
            </a:pPr>
            <a:r>
              <a:rPr lang="en-US" sz="1150" dirty="0">
                <a:solidFill>
                  <a:srgbClr val="5B6480"/>
                </a:solidFill>
                <a:latin typeface="Calibri" pitchFamily="34" charset="0"/>
                <a:ea typeface="Calibri" pitchFamily="34" charset="-122"/>
                <a:cs typeface="Calibri" pitchFamily="34" charset="-120"/>
              </a:rPr>
              <a:t>component-based UI (e.g. React-style chat interface) • state management for the active conversation • incremental streaming render so tokens appear as they are generated • client-side history for multi-turn context.</a:t>
            </a:r>
            <a:endParaRPr lang="en-US" sz="1150" dirty="0"/>
          </a:p>
        </p:txBody>
      </p:sp>
      <p:sp>
        <p:nvSpPr>
          <p:cNvPr id="39" name="Text 37"/>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40" name="Text 38"/>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442"/>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4FD8EB"/>
                </a:solidFill>
                <a:latin typeface="Calibri" pitchFamily="34" charset="0"/>
                <a:ea typeface="Calibri" pitchFamily="34" charset="-122"/>
                <a:cs typeface="Calibri" pitchFamily="34" charset="-120"/>
              </a:rPr>
              <a:t>ENGINEERING WORKFLOW</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Backend Architecture</a:t>
            </a:r>
            <a:endParaRPr lang="en-US" sz="3000" dirty="0"/>
          </a:p>
        </p:txBody>
      </p:sp>
      <p:sp>
        <p:nvSpPr>
          <p:cNvPr id="4" name="Shape 2"/>
          <p:cNvSpPr/>
          <p:nvPr/>
        </p:nvSpPr>
        <p:spPr>
          <a:xfrm>
            <a:off x="502920" y="1691640"/>
            <a:ext cx="1691640" cy="1371600"/>
          </a:xfrm>
          <a:prstGeom prst="roundRect">
            <a:avLst>
              <a:gd name="adj" fmla="val 6000"/>
            </a:avLst>
          </a:prstGeom>
          <a:solidFill>
            <a:srgbClr val="16215C"/>
          </a:solidFill>
          <a:ln/>
          <a:effectLst>
            <a:outerShdw sx="100000" sy="100000" kx="0" ky="0" algn="bl" rotWithShape="0" blurRad="76200" dist="25400" dir="5400000">
              <a:srgbClr val="0B1442">
                <a:alpha val="18000"/>
              </a:srgbClr>
            </a:outerShdw>
          </a:effectLst>
        </p:spPr>
      </p:sp>
      <p:sp>
        <p:nvSpPr>
          <p:cNvPr id="5" name="Shape 3"/>
          <p:cNvSpPr/>
          <p:nvPr/>
        </p:nvSpPr>
        <p:spPr>
          <a:xfrm>
            <a:off x="630936" y="2148840"/>
            <a:ext cx="457200" cy="457200"/>
          </a:xfrm>
          <a:prstGeom prst="ellipse">
            <a:avLst/>
          </a:prstGeom>
          <a:solidFill>
            <a:srgbClr val="4FD8EB"/>
          </a:solidFill>
          <a:ln/>
        </p:spPr>
      </p:sp>
      <p:sp>
        <p:nvSpPr>
          <p:cNvPr id="6" name="Text 4"/>
          <p:cNvSpPr/>
          <p:nvPr/>
        </p:nvSpPr>
        <p:spPr>
          <a:xfrm>
            <a:off x="630936" y="2148840"/>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197864" y="1783080"/>
            <a:ext cx="868680" cy="754380"/>
          </a:xfrm>
          <a:prstGeom prst="rect">
            <a:avLst/>
          </a:prstGeom>
          <a:noFill/>
          <a:ln/>
        </p:spPr>
        <p:txBody>
          <a:bodyPr wrap="square" lIns="0" tIns="0" rIns="0" bIns="0" rtlCol="0" anchor="b"/>
          <a:lstStyle/>
          <a:p>
            <a:pPr indent="0" marL="0">
              <a:buNone/>
            </a:pPr>
            <a:r>
              <a:rPr lang="en-US" sz="1050" b="1" dirty="0">
                <a:solidFill>
                  <a:srgbClr val="FFFFFF"/>
                </a:solidFill>
                <a:latin typeface="Calibri" pitchFamily="34" charset="0"/>
                <a:ea typeface="Calibri" pitchFamily="34" charset="-122"/>
                <a:cs typeface="Calibri" pitchFamily="34" charset="-120"/>
              </a:rPr>
              <a:t>API Gateway</a:t>
            </a:r>
            <a:endParaRPr lang="en-US" sz="1050" dirty="0"/>
          </a:p>
        </p:txBody>
      </p:sp>
      <p:sp>
        <p:nvSpPr>
          <p:cNvPr id="8" name="Text 6"/>
          <p:cNvSpPr/>
          <p:nvPr/>
        </p:nvSpPr>
        <p:spPr>
          <a:xfrm>
            <a:off x="1197864" y="2404872"/>
            <a:ext cx="868680" cy="576072"/>
          </a:xfrm>
          <a:prstGeom prst="rect">
            <a:avLst/>
          </a:prstGeom>
          <a:noFill/>
          <a:ln/>
        </p:spPr>
        <p:txBody>
          <a:bodyPr wrap="square" lIns="0" tIns="0" rIns="0" bIns="0" rtlCol="0" anchor="t"/>
          <a:lstStyle/>
          <a:p>
            <a:pPr indent="0" marL="0">
              <a:buNone/>
            </a:pPr>
            <a:r>
              <a:rPr lang="en-US" sz="780" dirty="0">
                <a:solidFill>
                  <a:srgbClr val="AEB8E8"/>
                </a:solidFill>
                <a:latin typeface="Calibri" pitchFamily="34" charset="0"/>
                <a:ea typeface="Calibri" pitchFamily="34" charset="-122"/>
                <a:cs typeface="Calibri" pitchFamily="34" charset="-120"/>
              </a:rPr>
              <a:t>Load balancing across inference servers</a:t>
            </a:r>
            <a:endParaRPr lang="en-US" sz="780" dirty="0"/>
          </a:p>
        </p:txBody>
      </p:sp>
      <p:sp>
        <p:nvSpPr>
          <p:cNvPr id="9" name="Text 7"/>
          <p:cNvSpPr/>
          <p:nvPr/>
        </p:nvSpPr>
        <p:spPr>
          <a:xfrm>
            <a:off x="2194560" y="2249424"/>
            <a:ext cx="201168" cy="256032"/>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2395728" y="1691640"/>
            <a:ext cx="1691640" cy="1371600"/>
          </a:xfrm>
          <a:prstGeom prst="roundRect">
            <a:avLst>
              <a:gd name="adj" fmla="val 6000"/>
            </a:avLst>
          </a:prstGeom>
          <a:solidFill>
            <a:srgbClr val="16215C"/>
          </a:solidFill>
          <a:ln/>
          <a:effectLst>
            <a:outerShdw sx="100000" sy="100000" kx="0" ky="0" algn="bl" rotWithShape="0" blurRad="76200" dist="25400" dir="5400000">
              <a:srgbClr val="0B1442">
                <a:alpha val="18000"/>
              </a:srgbClr>
            </a:outerShdw>
          </a:effectLst>
        </p:spPr>
      </p:sp>
      <p:sp>
        <p:nvSpPr>
          <p:cNvPr id="11" name="Shape 9"/>
          <p:cNvSpPr/>
          <p:nvPr/>
        </p:nvSpPr>
        <p:spPr>
          <a:xfrm>
            <a:off x="2523744" y="2148840"/>
            <a:ext cx="457200" cy="457200"/>
          </a:xfrm>
          <a:prstGeom prst="ellipse">
            <a:avLst/>
          </a:prstGeom>
          <a:solidFill>
            <a:srgbClr val="4FD8EB"/>
          </a:solidFill>
          <a:ln/>
        </p:spPr>
      </p:sp>
      <p:sp>
        <p:nvSpPr>
          <p:cNvPr id="12" name="Text 10"/>
          <p:cNvSpPr/>
          <p:nvPr/>
        </p:nvSpPr>
        <p:spPr>
          <a:xfrm>
            <a:off x="2523744" y="2148840"/>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3090672" y="1783080"/>
            <a:ext cx="868680" cy="754380"/>
          </a:xfrm>
          <a:prstGeom prst="rect">
            <a:avLst/>
          </a:prstGeom>
          <a:noFill/>
          <a:ln/>
        </p:spPr>
        <p:txBody>
          <a:bodyPr wrap="square" lIns="0" tIns="0" rIns="0" bIns="0" rtlCol="0" anchor="b"/>
          <a:lstStyle/>
          <a:p>
            <a:pPr indent="0" marL="0">
              <a:buNone/>
            </a:pPr>
            <a:r>
              <a:rPr lang="en-US" sz="1050" b="1" dirty="0">
                <a:solidFill>
                  <a:srgbClr val="FFFFFF"/>
                </a:solidFill>
                <a:latin typeface="Calibri" pitchFamily="34" charset="0"/>
                <a:ea typeface="Calibri" pitchFamily="34" charset="-122"/>
                <a:cs typeface="Calibri" pitchFamily="34" charset="-120"/>
              </a:rPr>
              <a:t>Auth &amp; Rate Limiter</a:t>
            </a:r>
            <a:endParaRPr lang="en-US" sz="1050" dirty="0"/>
          </a:p>
        </p:txBody>
      </p:sp>
      <p:sp>
        <p:nvSpPr>
          <p:cNvPr id="14" name="Text 12"/>
          <p:cNvSpPr/>
          <p:nvPr/>
        </p:nvSpPr>
        <p:spPr>
          <a:xfrm>
            <a:off x="3090672" y="2404872"/>
            <a:ext cx="868680" cy="576072"/>
          </a:xfrm>
          <a:prstGeom prst="rect">
            <a:avLst/>
          </a:prstGeom>
          <a:noFill/>
          <a:ln/>
        </p:spPr>
        <p:txBody>
          <a:bodyPr wrap="square" lIns="0" tIns="0" rIns="0" bIns="0" rtlCol="0" anchor="t"/>
          <a:lstStyle/>
          <a:p>
            <a:pPr indent="0" marL="0">
              <a:buNone/>
            </a:pPr>
            <a:r>
              <a:rPr lang="en-US" sz="780" dirty="0">
                <a:solidFill>
                  <a:srgbClr val="AEB8E8"/>
                </a:solidFill>
                <a:latin typeface="Calibri" pitchFamily="34" charset="0"/>
                <a:ea typeface="Calibri" pitchFamily="34" charset="-122"/>
                <a:cs typeface="Calibri" pitchFamily="34" charset="-120"/>
              </a:rPr>
              <a:t>Validates keys / session quotas</a:t>
            </a:r>
            <a:endParaRPr lang="en-US" sz="780" dirty="0"/>
          </a:p>
        </p:txBody>
      </p:sp>
      <p:sp>
        <p:nvSpPr>
          <p:cNvPr id="15" name="Text 13"/>
          <p:cNvSpPr/>
          <p:nvPr/>
        </p:nvSpPr>
        <p:spPr>
          <a:xfrm>
            <a:off x="4087368" y="2249424"/>
            <a:ext cx="201168" cy="256032"/>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4288536" y="1691640"/>
            <a:ext cx="1691640" cy="1371600"/>
          </a:xfrm>
          <a:prstGeom prst="roundRect">
            <a:avLst>
              <a:gd name="adj" fmla="val 6000"/>
            </a:avLst>
          </a:prstGeom>
          <a:solidFill>
            <a:srgbClr val="16215C"/>
          </a:solidFill>
          <a:ln/>
          <a:effectLst>
            <a:outerShdw sx="100000" sy="100000" kx="0" ky="0" algn="bl" rotWithShape="0" blurRad="76200" dist="25400" dir="5400000">
              <a:srgbClr val="0B1442">
                <a:alpha val="18000"/>
              </a:srgbClr>
            </a:outerShdw>
          </a:effectLst>
        </p:spPr>
      </p:sp>
      <p:sp>
        <p:nvSpPr>
          <p:cNvPr id="17" name="Shape 15"/>
          <p:cNvSpPr/>
          <p:nvPr/>
        </p:nvSpPr>
        <p:spPr>
          <a:xfrm>
            <a:off x="4416552" y="2148840"/>
            <a:ext cx="457200" cy="457200"/>
          </a:xfrm>
          <a:prstGeom prst="ellipse">
            <a:avLst/>
          </a:prstGeom>
          <a:solidFill>
            <a:srgbClr val="4FD8EB"/>
          </a:solidFill>
          <a:ln/>
        </p:spPr>
      </p:sp>
      <p:sp>
        <p:nvSpPr>
          <p:cNvPr id="18" name="Text 16"/>
          <p:cNvSpPr/>
          <p:nvPr/>
        </p:nvSpPr>
        <p:spPr>
          <a:xfrm>
            <a:off x="4416552" y="2148840"/>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4983480" y="1783080"/>
            <a:ext cx="868680" cy="754380"/>
          </a:xfrm>
          <a:prstGeom prst="rect">
            <a:avLst/>
          </a:prstGeom>
          <a:noFill/>
          <a:ln/>
        </p:spPr>
        <p:txBody>
          <a:bodyPr wrap="square" lIns="0" tIns="0" rIns="0" bIns="0" rtlCol="0" anchor="b"/>
          <a:lstStyle/>
          <a:p>
            <a:pPr indent="0" marL="0">
              <a:buNone/>
            </a:pPr>
            <a:r>
              <a:rPr lang="en-US" sz="1050" b="1" dirty="0">
                <a:solidFill>
                  <a:srgbClr val="FFFFFF"/>
                </a:solidFill>
                <a:latin typeface="Calibri" pitchFamily="34" charset="0"/>
                <a:ea typeface="Calibri" pitchFamily="34" charset="-122"/>
                <a:cs typeface="Calibri" pitchFamily="34" charset="-120"/>
              </a:rPr>
              <a:t>Tokenizer Service</a:t>
            </a:r>
            <a:endParaRPr lang="en-US" sz="1050" dirty="0"/>
          </a:p>
        </p:txBody>
      </p:sp>
      <p:sp>
        <p:nvSpPr>
          <p:cNvPr id="20" name="Text 18"/>
          <p:cNvSpPr/>
          <p:nvPr/>
        </p:nvSpPr>
        <p:spPr>
          <a:xfrm>
            <a:off x="4983480" y="2404872"/>
            <a:ext cx="868680" cy="576072"/>
          </a:xfrm>
          <a:prstGeom prst="rect">
            <a:avLst/>
          </a:prstGeom>
          <a:noFill/>
          <a:ln/>
        </p:spPr>
        <p:txBody>
          <a:bodyPr wrap="square" lIns="0" tIns="0" rIns="0" bIns="0" rtlCol="0" anchor="t"/>
          <a:lstStyle/>
          <a:p>
            <a:pPr indent="0" marL="0">
              <a:buNone/>
            </a:pPr>
            <a:r>
              <a:rPr lang="en-US" sz="780" dirty="0">
                <a:solidFill>
                  <a:srgbClr val="AEB8E8"/>
                </a:solidFill>
                <a:latin typeface="Calibri" pitchFamily="34" charset="0"/>
                <a:ea typeface="Calibri" pitchFamily="34" charset="-122"/>
                <a:cs typeface="Calibri" pitchFamily="34" charset="-120"/>
              </a:rPr>
              <a:t>Converts text to token IDs</a:t>
            </a:r>
            <a:endParaRPr lang="en-US" sz="780" dirty="0"/>
          </a:p>
        </p:txBody>
      </p:sp>
      <p:sp>
        <p:nvSpPr>
          <p:cNvPr id="21" name="Text 19"/>
          <p:cNvSpPr/>
          <p:nvPr/>
        </p:nvSpPr>
        <p:spPr>
          <a:xfrm>
            <a:off x="5980176" y="2249424"/>
            <a:ext cx="201168" cy="256032"/>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22" name="Shape 20"/>
          <p:cNvSpPr/>
          <p:nvPr/>
        </p:nvSpPr>
        <p:spPr>
          <a:xfrm>
            <a:off x="6181344" y="1691640"/>
            <a:ext cx="1691640" cy="1371600"/>
          </a:xfrm>
          <a:prstGeom prst="roundRect">
            <a:avLst>
              <a:gd name="adj" fmla="val 6000"/>
            </a:avLst>
          </a:prstGeom>
          <a:solidFill>
            <a:srgbClr val="16215C"/>
          </a:solidFill>
          <a:ln/>
          <a:effectLst>
            <a:outerShdw sx="100000" sy="100000" kx="0" ky="0" algn="bl" rotWithShape="0" blurRad="76200" dist="25400" dir="5400000">
              <a:srgbClr val="0B1442">
                <a:alpha val="18000"/>
              </a:srgbClr>
            </a:outerShdw>
          </a:effectLst>
        </p:spPr>
      </p:sp>
      <p:sp>
        <p:nvSpPr>
          <p:cNvPr id="23" name="Shape 21"/>
          <p:cNvSpPr/>
          <p:nvPr/>
        </p:nvSpPr>
        <p:spPr>
          <a:xfrm>
            <a:off x="6309360" y="2148840"/>
            <a:ext cx="457200" cy="457200"/>
          </a:xfrm>
          <a:prstGeom prst="ellipse">
            <a:avLst/>
          </a:prstGeom>
          <a:solidFill>
            <a:srgbClr val="4FD8EB"/>
          </a:solidFill>
          <a:ln/>
        </p:spPr>
      </p:sp>
      <p:sp>
        <p:nvSpPr>
          <p:cNvPr id="24" name="Text 22"/>
          <p:cNvSpPr/>
          <p:nvPr/>
        </p:nvSpPr>
        <p:spPr>
          <a:xfrm>
            <a:off x="6309360" y="2148840"/>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6876288" y="1783080"/>
            <a:ext cx="868680" cy="754380"/>
          </a:xfrm>
          <a:prstGeom prst="rect">
            <a:avLst/>
          </a:prstGeom>
          <a:noFill/>
          <a:ln/>
        </p:spPr>
        <p:txBody>
          <a:bodyPr wrap="square" lIns="0" tIns="0" rIns="0" bIns="0" rtlCol="0" anchor="b"/>
          <a:lstStyle/>
          <a:p>
            <a:pPr indent="0" marL="0">
              <a:buNone/>
            </a:pPr>
            <a:r>
              <a:rPr lang="en-US" sz="1050" b="1" dirty="0">
                <a:solidFill>
                  <a:srgbClr val="FFFFFF"/>
                </a:solidFill>
                <a:latin typeface="Calibri" pitchFamily="34" charset="0"/>
                <a:ea typeface="Calibri" pitchFamily="34" charset="-122"/>
                <a:cs typeface="Calibri" pitchFamily="34" charset="-120"/>
              </a:rPr>
              <a:t>Inference Engine</a:t>
            </a:r>
            <a:endParaRPr lang="en-US" sz="1050" dirty="0"/>
          </a:p>
        </p:txBody>
      </p:sp>
      <p:sp>
        <p:nvSpPr>
          <p:cNvPr id="26" name="Text 24"/>
          <p:cNvSpPr/>
          <p:nvPr/>
        </p:nvSpPr>
        <p:spPr>
          <a:xfrm>
            <a:off x="6876288" y="2404872"/>
            <a:ext cx="868680" cy="576072"/>
          </a:xfrm>
          <a:prstGeom prst="rect">
            <a:avLst/>
          </a:prstGeom>
          <a:noFill/>
          <a:ln/>
        </p:spPr>
        <p:txBody>
          <a:bodyPr wrap="square" lIns="0" tIns="0" rIns="0" bIns="0" rtlCol="0" anchor="t"/>
          <a:lstStyle/>
          <a:p>
            <a:pPr indent="0" marL="0">
              <a:buNone/>
            </a:pPr>
            <a:r>
              <a:rPr lang="en-US" sz="780" dirty="0">
                <a:solidFill>
                  <a:srgbClr val="AEB8E8"/>
                </a:solidFill>
                <a:latin typeface="Calibri" pitchFamily="34" charset="0"/>
                <a:ea typeface="Calibri" pitchFamily="34" charset="-122"/>
                <a:cs typeface="Calibri" pitchFamily="34" charset="-120"/>
              </a:rPr>
              <a:t>GPU cluster running the Transformer + MoE stack</a:t>
            </a:r>
            <a:endParaRPr lang="en-US" sz="780" dirty="0"/>
          </a:p>
        </p:txBody>
      </p:sp>
      <p:sp>
        <p:nvSpPr>
          <p:cNvPr id="27" name="Text 25"/>
          <p:cNvSpPr/>
          <p:nvPr/>
        </p:nvSpPr>
        <p:spPr>
          <a:xfrm>
            <a:off x="7872984" y="2249424"/>
            <a:ext cx="201168" cy="256032"/>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28" name="Shape 26"/>
          <p:cNvSpPr/>
          <p:nvPr/>
        </p:nvSpPr>
        <p:spPr>
          <a:xfrm>
            <a:off x="8074152" y="1691640"/>
            <a:ext cx="1691640" cy="1371600"/>
          </a:xfrm>
          <a:prstGeom prst="roundRect">
            <a:avLst>
              <a:gd name="adj" fmla="val 6000"/>
            </a:avLst>
          </a:prstGeom>
          <a:solidFill>
            <a:srgbClr val="16215C"/>
          </a:solidFill>
          <a:ln/>
          <a:effectLst>
            <a:outerShdw sx="100000" sy="100000" kx="0" ky="0" algn="bl" rotWithShape="0" blurRad="76200" dist="25400" dir="5400000">
              <a:srgbClr val="0B1442">
                <a:alpha val="18000"/>
              </a:srgbClr>
            </a:outerShdw>
          </a:effectLst>
        </p:spPr>
      </p:sp>
      <p:sp>
        <p:nvSpPr>
          <p:cNvPr id="29" name="Shape 27"/>
          <p:cNvSpPr/>
          <p:nvPr/>
        </p:nvSpPr>
        <p:spPr>
          <a:xfrm>
            <a:off x="8202168" y="2148840"/>
            <a:ext cx="457200" cy="457200"/>
          </a:xfrm>
          <a:prstGeom prst="ellipse">
            <a:avLst/>
          </a:prstGeom>
          <a:solidFill>
            <a:srgbClr val="4FD8EB"/>
          </a:solidFill>
          <a:ln/>
        </p:spPr>
      </p:sp>
      <p:sp>
        <p:nvSpPr>
          <p:cNvPr id="30" name="Text 28"/>
          <p:cNvSpPr/>
          <p:nvPr/>
        </p:nvSpPr>
        <p:spPr>
          <a:xfrm>
            <a:off x="8202168" y="2148840"/>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8769096" y="1783080"/>
            <a:ext cx="868680" cy="754380"/>
          </a:xfrm>
          <a:prstGeom prst="rect">
            <a:avLst/>
          </a:prstGeom>
          <a:noFill/>
          <a:ln/>
        </p:spPr>
        <p:txBody>
          <a:bodyPr wrap="square" lIns="0" tIns="0" rIns="0" bIns="0" rtlCol="0" anchor="b"/>
          <a:lstStyle/>
          <a:p>
            <a:pPr indent="0" marL="0">
              <a:buNone/>
            </a:pPr>
            <a:r>
              <a:rPr lang="en-US" sz="1050" b="1" dirty="0">
                <a:solidFill>
                  <a:srgbClr val="FFFFFF"/>
                </a:solidFill>
                <a:latin typeface="Calibri" pitchFamily="34" charset="0"/>
                <a:ea typeface="Calibri" pitchFamily="34" charset="-122"/>
                <a:cs typeface="Calibri" pitchFamily="34" charset="-120"/>
              </a:rPr>
              <a:t>Post-Processor</a:t>
            </a:r>
            <a:endParaRPr lang="en-US" sz="1050" dirty="0"/>
          </a:p>
        </p:txBody>
      </p:sp>
      <p:sp>
        <p:nvSpPr>
          <p:cNvPr id="32" name="Text 30"/>
          <p:cNvSpPr/>
          <p:nvPr/>
        </p:nvSpPr>
        <p:spPr>
          <a:xfrm>
            <a:off x="8769096" y="2404872"/>
            <a:ext cx="868680" cy="576072"/>
          </a:xfrm>
          <a:prstGeom prst="rect">
            <a:avLst/>
          </a:prstGeom>
          <a:noFill/>
          <a:ln/>
        </p:spPr>
        <p:txBody>
          <a:bodyPr wrap="square" lIns="0" tIns="0" rIns="0" bIns="0" rtlCol="0" anchor="t"/>
          <a:lstStyle/>
          <a:p>
            <a:pPr indent="0" marL="0">
              <a:buNone/>
            </a:pPr>
            <a:r>
              <a:rPr lang="en-US" sz="780" dirty="0">
                <a:solidFill>
                  <a:srgbClr val="AEB8E8"/>
                </a:solidFill>
                <a:latin typeface="Calibri" pitchFamily="34" charset="0"/>
                <a:ea typeface="Calibri" pitchFamily="34" charset="-122"/>
                <a:cs typeface="Calibri" pitchFamily="34" charset="-120"/>
              </a:rPr>
              <a:t>Detokenizes and formats output</a:t>
            </a:r>
            <a:endParaRPr lang="en-US" sz="780" dirty="0"/>
          </a:p>
        </p:txBody>
      </p:sp>
      <p:sp>
        <p:nvSpPr>
          <p:cNvPr id="33" name="Text 31"/>
          <p:cNvSpPr/>
          <p:nvPr/>
        </p:nvSpPr>
        <p:spPr>
          <a:xfrm>
            <a:off x="9765792" y="2249424"/>
            <a:ext cx="201168" cy="256032"/>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34" name="Shape 32"/>
          <p:cNvSpPr/>
          <p:nvPr/>
        </p:nvSpPr>
        <p:spPr>
          <a:xfrm>
            <a:off x="9966960" y="1691640"/>
            <a:ext cx="1691640" cy="1371600"/>
          </a:xfrm>
          <a:prstGeom prst="roundRect">
            <a:avLst>
              <a:gd name="adj" fmla="val 6000"/>
            </a:avLst>
          </a:prstGeom>
          <a:solidFill>
            <a:srgbClr val="16215C"/>
          </a:solidFill>
          <a:ln/>
          <a:effectLst>
            <a:outerShdw sx="100000" sy="100000" kx="0" ky="0" algn="bl" rotWithShape="0" blurRad="76200" dist="25400" dir="5400000">
              <a:srgbClr val="0B1442">
                <a:alpha val="18000"/>
              </a:srgbClr>
            </a:outerShdw>
          </a:effectLst>
        </p:spPr>
      </p:sp>
      <p:sp>
        <p:nvSpPr>
          <p:cNvPr id="35" name="Shape 33"/>
          <p:cNvSpPr/>
          <p:nvPr/>
        </p:nvSpPr>
        <p:spPr>
          <a:xfrm>
            <a:off x="10094976" y="2148840"/>
            <a:ext cx="457200" cy="457200"/>
          </a:xfrm>
          <a:prstGeom prst="ellipse">
            <a:avLst/>
          </a:prstGeom>
          <a:solidFill>
            <a:srgbClr val="4FD8EB"/>
          </a:solidFill>
          <a:ln/>
        </p:spPr>
      </p:sp>
      <p:sp>
        <p:nvSpPr>
          <p:cNvPr id="36" name="Text 34"/>
          <p:cNvSpPr/>
          <p:nvPr/>
        </p:nvSpPr>
        <p:spPr>
          <a:xfrm>
            <a:off x="10094976" y="2148840"/>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6</a:t>
            </a:r>
            <a:endParaRPr lang="en-US" sz="1500" dirty="0"/>
          </a:p>
        </p:txBody>
      </p:sp>
      <p:sp>
        <p:nvSpPr>
          <p:cNvPr id="37" name="Text 35"/>
          <p:cNvSpPr/>
          <p:nvPr/>
        </p:nvSpPr>
        <p:spPr>
          <a:xfrm>
            <a:off x="10661904" y="1783080"/>
            <a:ext cx="868680" cy="754380"/>
          </a:xfrm>
          <a:prstGeom prst="rect">
            <a:avLst/>
          </a:prstGeom>
          <a:noFill/>
          <a:ln/>
        </p:spPr>
        <p:txBody>
          <a:bodyPr wrap="square" lIns="0" tIns="0" rIns="0" bIns="0" rtlCol="0" anchor="b"/>
          <a:lstStyle/>
          <a:p>
            <a:pPr indent="0" marL="0">
              <a:buNone/>
            </a:pPr>
            <a:r>
              <a:rPr lang="en-US" sz="1050" b="1" dirty="0">
                <a:solidFill>
                  <a:srgbClr val="FFFFFF"/>
                </a:solidFill>
                <a:latin typeface="Calibri" pitchFamily="34" charset="0"/>
                <a:ea typeface="Calibri" pitchFamily="34" charset="-122"/>
                <a:cs typeface="Calibri" pitchFamily="34" charset="-120"/>
              </a:rPr>
              <a:t>Streaming Output</a:t>
            </a:r>
            <a:endParaRPr lang="en-US" sz="1050" dirty="0"/>
          </a:p>
        </p:txBody>
      </p:sp>
      <p:sp>
        <p:nvSpPr>
          <p:cNvPr id="38" name="Text 36"/>
          <p:cNvSpPr/>
          <p:nvPr/>
        </p:nvSpPr>
        <p:spPr>
          <a:xfrm>
            <a:off x="10661904" y="2404872"/>
            <a:ext cx="868680" cy="576072"/>
          </a:xfrm>
          <a:prstGeom prst="rect">
            <a:avLst/>
          </a:prstGeom>
          <a:noFill/>
          <a:ln/>
        </p:spPr>
        <p:txBody>
          <a:bodyPr wrap="square" lIns="0" tIns="0" rIns="0" bIns="0" rtlCol="0" anchor="t"/>
          <a:lstStyle/>
          <a:p>
            <a:pPr indent="0" marL="0">
              <a:buNone/>
            </a:pPr>
            <a:r>
              <a:rPr lang="en-US" sz="780" dirty="0">
                <a:solidFill>
                  <a:srgbClr val="AEB8E8"/>
                </a:solidFill>
                <a:latin typeface="Calibri" pitchFamily="34" charset="0"/>
                <a:ea typeface="Calibri" pitchFamily="34" charset="-122"/>
                <a:cs typeface="Calibri" pitchFamily="34" charset="-120"/>
              </a:rPr>
              <a:t>Pushes tokens back to the frontend</a:t>
            </a:r>
            <a:endParaRPr lang="en-US" sz="780" dirty="0"/>
          </a:p>
        </p:txBody>
      </p:sp>
      <p:sp>
        <p:nvSpPr>
          <p:cNvPr id="39" name="Text 37"/>
          <p:cNvSpPr/>
          <p:nvPr/>
        </p:nvSpPr>
        <p:spPr>
          <a:xfrm>
            <a:off x="502920" y="3383280"/>
            <a:ext cx="5486400" cy="274320"/>
          </a:xfrm>
          <a:prstGeom prst="rect">
            <a:avLst/>
          </a:prstGeom>
          <a:noFill/>
          <a:ln/>
        </p:spPr>
        <p:txBody>
          <a:bodyPr wrap="square" rtlCol="0" anchor="ctr"/>
          <a:lstStyle/>
          <a:p>
            <a:pPr indent="0" marL="0">
              <a:buNone/>
            </a:pPr>
            <a:r>
              <a:rPr lang="en-US" sz="1300" b="1" dirty="0">
                <a:solidFill>
                  <a:srgbClr val="4FD8EB"/>
                </a:solidFill>
                <a:latin typeface="Calibri" pitchFamily="34" charset="0"/>
                <a:ea typeface="Calibri" pitchFamily="34" charset="-122"/>
                <a:cs typeface="Calibri" pitchFamily="34" charset="-120"/>
              </a:rPr>
              <a:t>Inside the inference engine</a:t>
            </a:r>
            <a:endParaRPr lang="en-US" sz="1300" dirty="0"/>
          </a:p>
        </p:txBody>
      </p:sp>
      <p:sp>
        <p:nvSpPr>
          <p:cNvPr id="40" name="Text 38"/>
          <p:cNvSpPr/>
          <p:nvPr/>
        </p:nvSpPr>
        <p:spPr>
          <a:xfrm>
            <a:off x="502920" y="3703320"/>
            <a:ext cx="5486400" cy="2651760"/>
          </a:xfrm>
          <a:prstGeom prst="rect">
            <a:avLst/>
          </a:prstGeom>
          <a:noFill/>
          <a:ln/>
        </p:spPr>
        <p:txBody>
          <a:bodyPr wrap="square" lIns="0" tIns="0" rIns="0" bIns="0" rtlCol="0" anchor="t"/>
          <a:lstStyle/>
          <a:p>
            <a:pPr marL="177800" indent="-177800">
              <a:lnSpc>
                <a:spcPct val="108000"/>
              </a:lnSpc>
              <a:spcAft>
                <a:spcPts val="800"/>
              </a:spcAft>
              <a:buSzPct val="100000"/>
              <a:buChar char="●"/>
            </a:pPr>
            <a:r>
              <a:rPr lang="en-US" sz="1200" dirty="0">
                <a:solidFill>
                  <a:srgbClr val="D8DCF4"/>
                </a:solidFill>
                <a:latin typeface="Calibri" pitchFamily="34" charset="0"/>
                <a:ea typeface="Calibri" pitchFamily="34" charset="-122"/>
                <a:cs typeface="Calibri" pitchFamily="34" charset="-120"/>
              </a:rPr>
              <a:t>Embedding + positional encoding, then N stacked decoder layers (61 layers in DeepSeek-V3).</a:t>
            </a:r>
            <a:endParaRPr lang="en-US" sz="1200" dirty="0"/>
          </a:p>
          <a:p>
            <a:pPr marL="177800" indent="-177800">
              <a:lnSpc>
                <a:spcPct val="108000"/>
              </a:lnSpc>
              <a:spcAft>
                <a:spcPts val="800"/>
              </a:spcAft>
              <a:buSzPct val="100000"/>
              <a:buChar char="●"/>
            </a:pPr>
            <a:r>
              <a:rPr lang="en-US" sz="1200" dirty="0">
                <a:solidFill>
                  <a:srgbClr val="D8DCF4"/>
                </a:solidFill>
                <a:latin typeface="Calibri" pitchFamily="34" charset="0"/>
                <a:ea typeface="Calibri" pitchFamily="34" charset="-122"/>
                <a:cs typeface="Calibri" pitchFamily="34" charset="-120"/>
              </a:rPr>
              <a:t>Each layer runs Multi-head Latent Attention, then a DeepSeekMoE feed-forward block.</a:t>
            </a:r>
            <a:endParaRPr lang="en-US" sz="1200" dirty="0"/>
          </a:p>
          <a:p>
            <a:pPr marL="177800" indent="-177800">
              <a:lnSpc>
                <a:spcPct val="108000"/>
              </a:lnSpc>
              <a:spcAft>
                <a:spcPts val="800"/>
              </a:spcAft>
              <a:buSzPct val="100000"/>
              <a:buChar char="●"/>
            </a:pPr>
            <a:r>
              <a:rPr lang="en-US" sz="1200" dirty="0">
                <a:solidFill>
                  <a:srgbClr val="D8DCF4"/>
                </a:solidFill>
                <a:latin typeface="Calibri" pitchFamily="34" charset="0"/>
                <a:ea typeface="Calibri" pitchFamily="34" charset="-122"/>
                <a:cs typeface="Calibri" pitchFamily="34" charset="-120"/>
              </a:rPr>
              <a:t>A compressed KV-cache (from MLA) keeps long-context inference memory-efficient.</a:t>
            </a:r>
            <a:endParaRPr lang="en-US" sz="1200" dirty="0"/>
          </a:p>
          <a:p>
            <a:pPr marL="177800" indent="-177800">
              <a:lnSpc>
                <a:spcPct val="108000"/>
              </a:lnSpc>
              <a:spcAft>
                <a:spcPts val="800"/>
              </a:spcAft>
              <a:buSzPct val="100000"/>
              <a:buChar char="●"/>
            </a:pPr>
            <a:r>
              <a:rPr lang="en-US" sz="1200" dirty="0">
                <a:solidFill>
                  <a:srgbClr val="D8DCF4"/>
                </a:solidFill>
                <a:latin typeface="Calibri" pitchFamily="34" charset="0"/>
                <a:ea typeface="Calibri" pitchFamily="34" charset="-122"/>
                <a:cs typeface="Calibri" pitchFamily="34" charset="-120"/>
              </a:rPr>
              <a:t>Softmax over the vocabulary produces the next-token distribution.</a:t>
            </a:r>
            <a:endParaRPr lang="en-US" sz="1200" dirty="0"/>
          </a:p>
        </p:txBody>
      </p:sp>
      <p:sp>
        <p:nvSpPr>
          <p:cNvPr id="41" name="Shape 39"/>
          <p:cNvSpPr/>
          <p:nvPr/>
        </p:nvSpPr>
        <p:spPr>
          <a:xfrm>
            <a:off x="6400800" y="3383280"/>
            <a:ext cx="4846320" cy="2971800"/>
          </a:xfrm>
          <a:prstGeom prst="roundRect">
            <a:avLst>
              <a:gd name="adj" fmla="val 3077"/>
            </a:avLst>
          </a:prstGeom>
          <a:solidFill>
            <a:srgbClr val="16215C"/>
          </a:solidFill>
          <a:ln/>
        </p:spPr>
      </p:sp>
      <p:sp>
        <p:nvSpPr>
          <p:cNvPr id="42" name="Text 40"/>
          <p:cNvSpPr/>
          <p:nvPr/>
        </p:nvSpPr>
        <p:spPr>
          <a:xfrm>
            <a:off x="6629400" y="3566160"/>
            <a:ext cx="4389120" cy="274320"/>
          </a:xfrm>
          <a:prstGeom prst="rect">
            <a:avLst/>
          </a:prstGeom>
          <a:noFill/>
          <a:ln/>
        </p:spPr>
        <p:txBody>
          <a:bodyPr wrap="square" rtlCol="0" anchor="ctr"/>
          <a:lstStyle/>
          <a:p>
            <a:pPr indent="0" marL="0">
              <a:buNone/>
            </a:pPr>
            <a:r>
              <a:rPr lang="en-US" sz="1100" b="1" spc="150" kern="0" dirty="0">
                <a:solidFill>
                  <a:srgbClr val="4FD8EB"/>
                </a:solidFill>
                <a:latin typeface="Calibri" pitchFamily="34" charset="0"/>
                <a:ea typeface="Calibri" pitchFamily="34" charset="-122"/>
                <a:cs typeface="Calibri" pitchFamily="34" charset="-120"/>
              </a:rPr>
              <a:t>SCALING TECHNIQUES</a:t>
            </a:r>
            <a:endParaRPr lang="en-US" sz="1100" dirty="0"/>
          </a:p>
        </p:txBody>
      </p:sp>
      <p:sp>
        <p:nvSpPr>
          <p:cNvPr id="43" name="Text 41"/>
          <p:cNvSpPr/>
          <p:nvPr/>
        </p:nvSpPr>
        <p:spPr>
          <a:xfrm>
            <a:off x="6629400" y="3886200"/>
            <a:ext cx="4389120" cy="2377440"/>
          </a:xfrm>
          <a:prstGeom prst="rect">
            <a:avLst/>
          </a:prstGeom>
          <a:noFill/>
          <a:ln/>
        </p:spPr>
        <p:txBody>
          <a:bodyPr wrap="square" lIns="0" tIns="0" rIns="0" bIns="0" rtlCol="0" anchor="t"/>
          <a:lstStyle/>
          <a:p>
            <a:pPr marL="177800" indent="-177800">
              <a:lnSpc>
                <a:spcPct val="108000"/>
              </a:lnSpc>
              <a:spcAft>
                <a:spcPts val="800"/>
              </a:spcAft>
              <a:buSzPct val="100000"/>
              <a:buChar char="●"/>
            </a:pPr>
            <a:r>
              <a:rPr lang="en-US" sz="1150" dirty="0">
                <a:solidFill>
                  <a:srgbClr val="D8DCF4"/>
                </a:solidFill>
                <a:latin typeface="Calibri" pitchFamily="34" charset="0"/>
                <a:ea typeface="Calibri" pitchFamily="34" charset="-122"/>
                <a:cs typeface="Calibri" pitchFamily="34" charset="-120"/>
              </a:rPr>
              <a:t>Request batching across concurrent users for GPU throughput.</a:t>
            </a:r>
            <a:endParaRPr lang="en-US" sz="1150" dirty="0"/>
          </a:p>
          <a:p>
            <a:pPr marL="177800" indent="-177800">
              <a:lnSpc>
                <a:spcPct val="108000"/>
              </a:lnSpc>
              <a:spcAft>
                <a:spcPts val="800"/>
              </a:spcAft>
              <a:buSzPct val="100000"/>
              <a:buChar char="●"/>
            </a:pPr>
            <a:r>
              <a:rPr lang="en-US" sz="1150" dirty="0">
                <a:solidFill>
                  <a:srgbClr val="D8DCF4"/>
                </a:solidFill>
                <a:latin typeface="Calibri" pitchFamily="34" charset="0"/>
                <a:ea typeface="Calibri" pitchFamily="34" charset="-122"/>
                <a:cs typeface="Calibri" pitchFamily="34" charset="-120"/>
              </a:rPr>
              <a:t>Model / expert parallelism spreads MoE experts across devices.</a:t>
            </a:r>
            <a:endParaRPr lang="en-US" sz="1150" dirty="0"/>
          </a:p>
          <a:p>
            <a:pPr marL="177800" indent="-177800">
              <a:lnSpc>
                <a:spcPct val="108000"/>
              </a:lnSpc>
              <a:spcAft>
                <a:spcPts val="800"/>
              </a:spcAft>
              <a:buSzPct val="100000"/>
              <a:buChar char="●"/>
            </a:pPr>
            <a:r>
              <a:rPr lang="en-US" sz="1150" dirty="0">
                <a:solidFill>
                  <a:srgbClr val="D8DCF4"/>
                </a:solidFill>
                <a:latin typeface="Calibri" pitchFamily="34" charset="0"/>
                <a:ea typeface="Calibri" pitchFamily="34" charset="-122"/>
                <a:cs typeface="Calibri" pitchFamily="34" charset="-120"/>
              </a:rPr>
              <a:t>FP8 mixed-precision training &amp; inference for cost reduction.</a:t>
            </a:r>
            <a:endParaRPr lang="en-US" sz="1150" dirty="0"/>
          </a:p>
          <a:p>
            <a:pPr marL="177800" indent="-177800">
              <a:lnSpc>
                <a:spcPct val="108000"/>
              </a:lnSpc>
              <a:spcAft>
                <a:spcPts val="800"/>
              </a:spcAft>
              <a:buSzPct val="100000"/>
              <a:buChar char="●"/>
            </a:pPr>
            <a:r>
              <a:rPr lang="en-US" sz="1150" dirty="0">
                <a:solidFill>
                  <a:srgbClr val="D8DCF4"/>
                </a:solidFill>
                <a:latin typeface="Calibri" pitchFamily="34" charset="0"/>
                <a:ea typeface="Calibri" pitchFamily="34" charset="-122"/>
                <a:cs typeface="Calibri" pitchFamily="34" charset="-120"/>
              </a:rPr>
              <a:t>Auxiliary-loss-free routing keeps experts balanced without hurting quality.</a:t>
            </a:r>
            <a:endParaRPr lang="en-US" sz="1150" dirty="0"/>
          </a:p>
        </p:txBody>
      </p:sp>
      <p:sp>
        <p:nvSpPr>
          <p:cNvPr id="44" name="Text 42"/>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8891C4"/>
                </a:solidFill>
                <a:latin typeface="Calibri" pitchFamily="34" charset="0"/>
                <a:ea typeface="Calibri" pitchFamily="34" charset="-122"/>
                <a:cs typeface="Calibri" pitchFamily="34" charset="-120"/>
              </a:rPr>
              <a:t>DEEPSEEK AI MODEL  |  AI ENGINEERING SEMINAR</a:t>
            </a:r>
            <a:endParaRPr lang="en-US" sz="900" dirty="0"/>
          </a:p>
        </p:txBody>
      </p:sp>
      <p:sp>
        <p:nvSpPr>
          <p:cNvPr id="45" name="Text 43"/>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8891C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END-TO-END FLOW</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Workflow of DeepSeek</a:t>
            </a:r>
            <a:endParaRPr lang="en-US" sz="3000" dirty="0"/>
          </a:p>
        </p:txBody>
      </p:sp>
      <p:sp>
        <p:nvSpPr>
          <p:cNvPr id="4" name="Shape 2"/>
          <p:cNvSpPr/>
          <p:nvPr/>
        </p:nvSpPr>
        <p:spPr>
          <a:xfrm>
            <a:off x="502920" y="1554480"/>
            <a:ext cx="5349240" cy="786384"/>
          </a:xfrm>
          <a:prstGeom prst="roundRect">
            <a:avLst>
              <a:gd name="adj" fmla="val 814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5" name="Shape 3"/>
          <p:cNvSpPr/>
          <p:nvPr/>
        </p:nvSpPr>
        <p:spPr>
          <a:xfrm>
            <a:off x="649224" y="1746504"/>
            <a:ext cx="402336" cy="402336"/>
          </a:xfrm>
          <a:prstGeom prst="ellipse">
            <a:avLst/>
          </a:prstGeom>
          <a:solidFill>
            <a:srgbClr val="6C3FC5"/>
          </a:solidFill>
          <a:ln/>
        </p:spPr>
      </p:sp>
      <p:sp>
        <p:nvSpPr>
          <p:cNvPr id="6" name="Text 4"/>
          <p:cNvSpPr/>
          <p:nvPr/>
        </p:nvSpPr>
        <p:spPr>
          <a:xfrm>
            <a:off x="649224" y="174650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88720" y="1554480"/>
            <a:ext cx="4526280" cy="786384"/>
          </a:xfrm>
          <a:prstGeom prst="rect">
            <a:avLst/>
          </a:prstGeom>
          <a:noFill/>
          <a:ln/>
        </p:spPr>
        <p:txBody>
          <a:bodyPr wrap="square" lIns="0" tIns="0" rIns="0" bIns="0" rtlCol="0" anchor="ctr"/>
          <a:lstStyle/>
          <a:p>
            <a:pPr indent="0" marL="0">
              <a:buNone/>
            </a:pPr>
            <a:r>
              <a:rPr lang="en-US" sz="1130" dirty="0">
                <a:solidFill>
                  <a:srgbClr val="121A3A"/>
                </a:solidFill>
                <a:latin typeface="Calibri" pitchFamily="34" charset="0"/>
                <a:ea typeface="Calibri" pitchFamily="34" charset="-122"/>
                <a:cs typeface="Calibri" pitchFamily="34" charset="-120"/>
              </a:rPr>
              <a:t>User types a prompt in the chat interface</a:t>
            </a:r>
            <a:endParaRPr lang="en-US" sz="1130" dirty="0"/>
          </a:p>
        </p:txBody>
      </p:sp>
      <p:sp>
        <p:nvSpPr>
          <p:cNvPr id="8" name="Text 6"/>
          <p:cNvSpPr/>
          <p:nvPr/>
        </p:nvSpPr>
        <p:spPr>
          <a:xfrm>
            <a:off x="649224" y="2340864"/>
            <a:ext cx="402336" cy="128016"/>
          </a:xfrm>
          <a:prstGeom prst="rect">
            <a:avLst/>
          </a:prstGeom>
          <a:noFill/>
          <a:ln/>
        </p:spPr>
        <p:txBody>
          <a:bodyPr wrap="square" rtlCol="0" anchor="ctr"/>
          <a:lstStyle/>
          <a:p>
            <a:pPr algn="ctr" indent="0" marL="0">
              <a:buNone/>
            </a:pPr>
            <a:r>
              <a:rPr lang="en-US" sz="1000" b="1" dirty="0">
                <a:solidFill>
                  <a:srgbClr val="0E93A6"/>
                </a:solidFill>
                <a:latin typeface="Calibri" pitchFamily="34" charset="0"/>
                <a:ea typeface="Calibri" pitchFamily="34" charset="-122"/>
                <a:cs typeface="Calibri" pitchFamily="34" charset="-120"/>
              </a:rPr>
              <a:t>▼</a:t>
            </a:r>
            <a:endParaRPr lang="en-US" sz="1000" dirty="0"/>
          </a:p>
        </p:txBody>
      </p:sp>
      <p:sp>
        <p:nvSpPr>
          <p:cNvPr id="9" name="Shape 7"/>
          <p:cNvSpPr/>
          <p:nvPr/>
        </p:nvSpPr>
        <p:spPr>
          <a:xfrm>
            <a:off x="502920" y="2468880"/>
            <a:ext cx="5349240" cy="786384"/>
          </a:xfrm>
          <a:prstGeom prst="roundRect">
            <a:avLst>
              <a:gd name="adj" fmla="val 814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10" name="Shape 8"/>
          <p:cNvSpPr/>
          <p:nvPr/>
        </p:nvSpPr>
        <p:spPr>
          <a:xfrm>
            <a:off x="649224" y="2660904"/>
            <a:ext cx="402336" cy="402336"/>
          </a:xfrm>
          <a:prstGeom prst="ellipse">
            <a:avLst/>
          </a:prstGeom>
          <a:solidFill>
            <a:srgbClr val="6C3FC5"/>
          </a:solidFill>
          <a:ln/>
        </p:spPr>
      </p:sp>
      <p:sp>
        <p:nvSpPr>
          <p:cNvPr id="11" name="Text 9"/>
          <p:cNvSpPr/>
          <p:nvPr/>
        </p:nvSpPr>
        <p:spPr>
          <a:xfrm>
            <a:off x="649224" y="266090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188720" y="2468880"/>
            <a:ext cx="4526280" cy="786384"/>
          </a:xfrm>
          <a:prstGeom prst="rect">
            <a:avLst/>
          </a:prstGeom>
          <a:noFill/>
          <a:ln/>
        </p:spPr>
        <p:txBody>
          <a:bodyPr wrap="square" lIns="0" tIns="0" rIns="0" bIns="0" rtlCol="0" anchor="ctr"/>
          <a:lstStyle/>
          <a:p>
            <a:pPr indent="0" marL="0">
              <a:buNone/>
            </a:pPr>
            <a:r>
              <a:rPr lang="en-US" sz="1130" dirty="0">
                <a:solidFill>
                  <a:srgbClr val="121A3A"/>
                </a:solidFill>
                <a:latin typeface="Calibri" pitchFamily="34" charset="0"/>
                <a:ea typeface="Calibri" pitchFamily="34" charset="-122"/>
                <a:cs typeface="Calibri" pitchFamily="34" charset="-120"/>
              </a:rPr>
              <a:t>Frontend validates &amp; sends the request to the backend API</a:t>
            </a:r>
            <a:endParaRPr lang="en-US" sz="1130" dirty="0"/>
          </a:p>
        </p:txBody>
      </p:sp>
      <p:sp>
        <p:nvSpPr>
          <p:cNvPr id="13" name="Text 11"/>
          <p:cNvSpPr/>
          <p:nvPr/>
        </p:nvSpPr>
        <p:spPr>
          <a:xfrm>
            <a:off x="649224" y="3255264"/>
            <a:ext cx="402336" cy="128016"/>
          </a:xfrm>
          <a:prstGeom prst="rect">
            <a:avLst/>
          </a:prstGeom>
          <a:noFill/>
          <a:ln/>
        </p:spPr>
        <p:txBody>
          <a:bodyPr wrap="square" rtlCol="0" anchor="ctr"/>
          <a:lstStyle/>
          <a:p>
            <a:pPr algn="ctr" indent="0" marL="0">
              <a:buNone/>
            </a:pPr>
            <a:r>
              <a:rPr lang="en-US" sz="1000" b="1" dirty="0">
                <a:solidFill>
                  <a:srgbClr val="0E93A6"/>
                </a:solidFill>
                <a:latin typeface="Calibri" pitchFamily="34" charset="0"/>
                <a:ea typeface="Calibri" pitchFamily="34" charset="-122"/>
                <a:cs typeface="Calibri" pitchFamily="34" charset="-120"/>
              </a:rPr>
              <a:t>▼</a:t>
            </a:r>
            <a:endParaRPr lang="en-US" sz="1000" dirty="0"/>
          </a:p>
        </p:txBody>
      </p:sp>
      <p:sp>
        <p:nvSpPr>
          <p:cNvPr id="14" name="Shape 12"/>
          <p:cNvSpPr/>
          <p:nvPr/>
        </p:nvSpPr>
        <p:spPr>
          <a:xfrm>
            <a:off x="502920" y="3383280"/>
            <a:ext cx="5349240" cy="786384"/>
          </a:xfrm>
          <a:prstGeom prst="roundRect">
            <a:avLst>
              <a:gd name="adj" fmla="val 814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15" name="Shape 13"/>
          <p:cNvSpPr/>
          <p:nvPr/>
        </p:nvSpPr>
        <p:spPr>
          <a:xfrm>
            <a:off x="649224" y="3575304"/>
            <a:ext cx="402336" cy="402336"/>
          </a:xfrm>
          <a:prstGeom prst="ellipse">
            <a:avLst/>
          </a:prstGeom>
          <a:solidFill>
            <a:srgbClr val="6C3FC5"/>
          </a:solidFill>
          <a:ln/>
        </p:spPr>
      </p:sp>
      <p:sp>
        <p:nvSpPr>
          <p:cNvPr id="16" name="Text 14"/>
          <p:cNvSpPr/>
          <p:nvPr/>
        </p:nvSpPr>
        <p:spPr>
          <a:xfrm>
            <a:off x="649224" y="357530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188720" y="3383280"/>
            <a:ext cx="4526280" cy="786384"/>
          </a:xfrm>
          <a:prstGeom prst="rect">
            <a:avLst/>
          </a:prstGeom>
          <a:noFill/>
          <a:ln/>
        </p:spPr>
        <p:txBody>
          <a:bodyPr wrap="square" lIns="0" tIns="0" rIns="0" bIns="0" rtlCol="0" anchor="ctr"/>
          <a:lstStyle/>
          <a:p>
            <a:pPr indent="0" marL="0">
              <a:buNone/>
            </a:pPr>
            <a:r>
              <a:rPr lang="en-US" sz="1130" dirty="0">
                <a:solidFill>
                  <a:srgbClr val="121A3A"/>
                </a:solidFill>
                <a:latin typeface="Calibri" pitchFamily="34" charset="0"/>
                <a:ea typeface="Calibri" pitchFamily="34" charset="-122"/>
                <a:cs typeface="Calibri" pitchFamily="34" charset="-120"/>
              </a:rPr>
              <a:t>Backend tokenizes the text into subword tokens</a:t>
            </a:r>
            <a:endParaRPr lang="en-US" sz="1130" dirty="0"/>
          </a:p>
        </p:txBody>
      </p:sp>
      <p:sp>
        <p:nvSpPr>
          <p:cNvPr id="18" name="Text 16"/>
          <p:cNvSpPr/>
          <p:nvPr/>
        </p:nvSpPr>
        <p:spPr>
          <a:xfrm>
            <a:off x="649224" y="4169664"/>
            <a:ext cx="402336" cy="128016"/>
          </a:xfrm>
          <a:prstGeom prst="rect">
            <a:avLst/>
          </a:prstGeom>
          <a:noFill/>
          <a:ln/>
        </p:spPr>
        <p:txBody>
          <a:bodyPr wrap="square" rtlCol="0" anchor="ctr"/>
          <a:lstStyle/>
          <a:p>
            <a:pPr algn="ctr" indent="0" marL="0">
              <a:buNone/>
            </a:pPr>
            <a:r>
              <a:rPr lang="en-US" sz="1000" b="1" dirty="0">
                <a:solidFill>
                  <a:srgbClr val="0E93A6"/>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502920" y="4297680"/>
            <a:ext cx="5349240" cy="786384"/>
          </a:xfrm>
          <a:prstGeom prst="roundRect">
            <a:avLst>
              <a:gd name="adj" fmla="val 814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20" name="Shape 18"/>
          <p:cNvSpPr/>
          <p:nvPr/>
        </p:nvSpPr>
        <p:spPr>
          <a:xfrm>
            <a:off x="649224" y="4489704"/>
            <a:ext cx="402336" cy="402336"/>
          </a:xfrm>
          <a:prstGeom prst="ellipse">
            <a:avLst/>
          </a:prstGeom>
          <a:solidFill>
            <a:srgbClr val="6C3FC5"/>
          </a:solidFill>
          <a:ln/>
        </p:spPr>
      </p:sp>
      <p:sp>
        <p:nvSpPr>
          <p:cNvPr id="21" name="Text 19"/>
          <p:cNvSpPr/>
          <p:nvPr/>
        </p:nvSpPr>
        <p:spPr>
          <a:xfrm>
            <a:off x="649224" y="448970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188720" y="4297680"/>
            <a:ext cx="4526280" cy="786384"/>
          </a:xfrm>
          <a:prstGeom prst="rect">
            <a:avLst/>
          </a:prstGeom>
          <a:noFill/>
          <a:ln/>
        </p:spPr>
        <p:txBody>
          <a:bodyPr wrap="square" lIns="0" tIns="0" rIns="0" bIns="0" rtlCol="0" anchor="ctr"/>
          <a:lstStyle/>
          <a:p>
            <a:pPr indent="0" marL="0">
              <a:buNone/>
            </a:pPr>
            <a:r>
              <a:rPr lang="en-US" sz="1130" dirty="0">
                <a:solidFill>
                  <a:srgbClr val="121A3A"/>
                </a:solidFill>
                <a:latin typeface="Calibri" pitchFamily="34" charset="0"/>
                <a:ea typeface="Calibri" pitchFamily="34" charset="-122"/>
                <a:cs typeface="Calibri" pitchFamily="34" charset="-120"/>
              </a:rPr>
              <a:t>Tokens are embedded and given positional information (RoPE)</a:t>
            </a:r>
            <a:endParaRPr lang="en-US" sz="1130" dirty="0"/>
          </a:p>
        </p:txBody>
      </p:sp>
      <p:sp>
        <p:nvSpPr>
          <p:cNvPr id="23" name="Text 21"/>
          <p:cNvSpPr/>
          <p:nvPr/>
        </p:nvSpPr>
        <p:spPr>
          <a:xfrm>
            <a:off x="649224" y="5084064"/>
            <a:ext cx="402336" cy="128016"/>
          </a:xfrm>
          <a:prstGeom prst="rect">
            <a:avLst/>
          </a:prstGeom>
          <a:noFill/>
          <a:ln/>
        </p:spPr>
        <p:txBody>
          <a:bodyPr wrap="square" rtlCol="0" anchor="ctr"/>
          <a:lstStyle/>
          <a:p>
            <a:pPr algn="ctr" indent="0" marL="0">
              <a:buNone/>
            </a:pPr>
            <a:r>
              <a:rPr lang="en-US" sz="1000" b="1" dirty="0">
                <a:solidFill>
                  <a:srgbClr val="0E93A6"/>
                </a:solidFill>
                <a:latin typeface="Calibri" pitchFamily="34" charset="0"/>
                <a:ea typeface="Calibri" pitchFamily="34" charset="-122"/>
                <a:cs typeface="Calibri" pitchFamily="34" charset="-120"/>
              </a:rPr>
              <a:t>▼</a:t>
            </a:r>
            <a:endParaRPr lang="en-US" sz="1000" dirty="0"/>
          </a:p>
        </p:txBody>
      </p:sp>
      <p:sp>
        <p:nvSpPr>
          <p:cNvPr id="24" name="Shape 22"/>
          <p:cNvSpPr/>
          <p:nvPr/>
        </p:nvSpPr>
        <p:spPr>
          <a:xfrm>
            <a:off x="502920" y="5212080"/>
            <a:ext cx="5349240" cy="786384"/>
          </a:xfrm>
          <a:prstGeom prst="roundRect">
            <a:avLst>
              <a:gd name="adj" fmla="val 814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25" name="Shape 23"/>
          <p:cNvSpPr/>
          <p:nvPr/>
        </p:nvSpPr>
        <p:spPr>
          <a:xfrm>
            <a:off x="649224" y="5404104"/>
            <a:ext cx="402336" cy="402336"/>
          </a:xfrm>
          <a:prstGeom prst="ellipse">
            <a:avLst/>
          </a:prstGeom>
          <a:solidFill>
            <a:srgbClr val="6C3FC5"/>
          </a:solidFill>
          <a:ln/>
        </p:spPr>
      </p:sp>
      <p:sp>
        <p:nvSpPr>
          <p:cNvPr id="26" name="Text 24"/>
          <p:cNvSpPr/>
          <p:nvPr/>
        </p:nvSpPr>
        <p:spPr>
          <a:xfrm>
            <a:off x="649224" y="540410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188720" y="5212080"/>
            <a:ext cx="4526280" cy="786384"/>
          </a:xfrm>
          <a:prstGeom prst="rect">
            <a:avLst/>
          </a:prstGeom>
          <a:noFill/>
          <a:ln/>
        </p:spPr>
        <p:txBody>
          <a:bodyPr wrap="square" lIns="0" tIns="0" rIns="0" bIns="0" rtlCol="0" anchor="ctr"/>
          <a:lstStyle/>
          <a:p>
            <a:pPr indent="0" marL="0">
              <a:buNone/>
            </a:pPr>
            <a:r>
              <a:rPr lang="en-US" sz="1130" dirty="0">
                <a:solidFill>
                  <a:srgbClr val="121A3A"/>
                </a:solidFill>
                <a:latin typeface="Calibri" pitchFamily="34" charset="0"/>
                <a:ea typeface="Calibri" pitchFamily="34" charset="-122"/>
                <a:cs typeface="Calibri" pitchFamily="34" charset="-120"/>
              </a:rPr>
              <a:t>Transformer decoder stack processes context (MLA + DeepSeekMoE, ×61 layers)</a:t>
            </a:r>
            <a:endParaRPr lang="en-US" sz="1130" dirty="0"/>
          </a:p>
        </p:txBody>
      </p:sp>
      <p:sp>
        <p:nvSpPr>
          <p:cNvPr id="28" name="Shape 26"/>
          <p:cNvSpPr/>
          <p:nvPr/>
        </p:nvSpPr>
        <p:spPr>
          <a:xfrm>
            <a:off x="6309360" y="1554480"/>
            <a:ext cx="5349240" cy="786384"/>
          </a:xfrm>
          <a:prstGeom prst="roundRect">
            <a:avLst>
              <a:gd name="adj" fmla="val 814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29" name="Shape 27"/>
          <p:cNvSpPr/>
          <p:nvPr/>
        </p:nvSpPr>
        <p:spPr>
          <a:xfrm>
            <a:off x="6455664" y="1746504"/>
            <a:ext cx="402336" cy="402336"/>
          </a:xfrm>
          <a:prstGeom prst="ellipse">
            <a:avLst/>
          </a:prstGeom>
          <a:solidFill>
            <a:srgbClr val="6C3FC5"/>
          </a:solidFill>
          <a:ln/>
        </p:spPr>
      </p:sp>
      <p:sp>
        <p:nvSpPr>
          <p:cNvPr id="30" name="Text 28"/>
          <p:cNvSpPr/>
          <p:nvPr/>
        </p:nvSpPr>
        <p:spPr>
          <a:xfrm>
            <a:off x="6455664" y="174650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p:nvPr/>
        </p:nvSpPr>
        <p:spPr>
          <a:xfrm>
            <a:off x="6995160" y="1554480"/>
            <a:ext cx="4526280" cy="786384"/>
          </a:xfrm>
          <a:prstGeom prst="rect">
            <a:avLst/>
          </a:prstGeom>
          <a:noFill/>
          <a:ln/>
        </p:spPr>
        <p:txBody>
          <a:bodyPr wrap="square" lIns="0" tIns="0" rIns="0" bIns="0" rtlCol="0" anchor="ctr"/>
          <a:lstStyle/>
          <a:p>
            <a:pPr indent="0" marL="0">
              <a:buNone/>
            </a:pPr>
            <a:r>
              <a:rPr lang="en-US" sz="1130" dirty="0">
                <a:solidFill>
                  <a:srgbClr val="121A3A"/>
                </a:solidFill>
                <a:latin typeface="Calibri" pitchFamily="34" charset="0"/>
                <a:ea typeface="Calibri" pitchFamily="34" charset="-122"/>
                <a:cs typeface="Calibri" pitchFamily="34" charset="-120"/>
              </a:rPr>
              <a:t>Softmax converts final-layer logits into a probability distribution</a:t>
            </a:r>
            <a:endParaRPr lang="en-US" sz="1130" dirty="0"/>
          </a:p>
        </p:txBody>
      </p:sp>
      <p:sp>
        <p:nvSpPr>
          <p:cNvPr id="32" name="Text 30"/>
          <p:cNvSpPr/>
          <p:nvPr/>
        </p:nvSpPr>
        <p:spPr>
          <a:xfrm>
            <a:off x="6455664" y="2340864"/>
            <a:ext cx="402336" cy="128016"/>
          </a:xfrm>
          <a:prstGeom prst="rect">
            <a:avLst/>
          </a:prstGeom>
          <a:noFill/>
          <a:ln/>
        </p:spPr>
        <p:txBody>
          <a:bodyPr wrap="square" rtlCol="0" anchor="ctr"/>
          <a:lstStyle/>
          <a:p>
            <a:pPr algn="ctr" indent="0" marL="0">
              <a:buNone/>
            </a:pPr>
            <a:r>
              <a:rPr lang="en-US" sz="1000" b="1" dirty="0">
                <a:solidFill>
                  <a:srgbClr val="0E93A6"/>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6309360" y="2468880"/>
            <a:ext cx="5349240" cy="786384"/>
          </a:xfrm>
          <a:prstGeom prst="roundRect">
            <a:avLst>
              <a:gd name="adj" fmla="val 814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34" name="Shape 32"/>
          <p:cNvSpPr/>
          <p:nvPr/>
        </p:nvSpPr>
        <p:spPr>
          <a:xfrm>
            <a:off x="6455664" y="2660904"/>
            <a:ext cx="402336" cy="402336"/>
          </a:xfrm>
          <a:prstGeom prst="ellipse">
            <a:avLst/>
          </a:prstGeom>
          <a:solidFill>
            <a:srgbClr val="6C3FC5"/>
          </a:solidFill>
          <a:ln/>
        </p:spPr>
      </p:sp>
      <p:sp>
        <p:nvSpPr>
          <p:cNvPr id="35" name="Text 33"/>
          <p:cNvSpPr/>
          <p:nvPr/>
        </p:nvSpPr>
        <p:spPr>
          <a:xfrm>
            <a:off x="6455664" y="266090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6" name="Text 34"/>
          <p:cNvSpPr/>
          <p:nvPr/>
        </p:nvSpPr>
        <p:spPr>
          <a:xfrm>
            <a:off x="6995160" y="2468880"/>
            <a:ext cx="4526280" cy="786384"/>
          </a:xfrm>
          <a:prstGeom prst="rect">
            <a:avLst/>
          </a:prstGeom>
          <a:noFill/>
          <a:ln/>
        </p:spPr>
        <p:txBody>
          <a:bodyPr wrap="square" lIns="0" tIns="0" rIns="0" bIns="0" rtlCol="0" anchor="ctr"/>
          <a:lstStyle/>
          <a:p>
            <a:pPr indent="0" marL="0">
              <a:buNone/>
            </a:pPr>
            <a:r>
              <a:rPr lang="en-US" sz="1130" dirty="0">
                <a:solidFill>
                  <a:srgbClr val="121A3A"/>
                </a:solidFill>
                <a:latin typeface="Calibri" pitchFamily="34" charset="0"/>
                <a:ea typeface="Calibri" pitchFamily="34" charset="-122"/>
                <a:cs typeface="Calibri" pitchFamily="34" charset="-120"/>
              </a:rPr>
              <a:t>A decoding strategy selects the next token (greedy / beam / temperature)</a:t>
            </a:r>
            <a:endParaRPr lang="en-US" sz="1130" dirty="0"/>
          </a:p>
        </p:txBody>
      </p:sp>
      <p:sp>
        <p:nvSpPr>
          <p:cNvPr id="37" name="Text 35"/>
          <p:cNvSpPr/>
          <p:nvPr/>
        </p:nvSpPr>
        <p:spPr>
          <a:xfrm>
            <a:off x="6455664" y="3255264"/>
            <a:ext cx="402336" cy="128016"/>
          </a:xfrm>
          <a:prstGeom prst="rect">
            <a:avLst/>
          </a:prstGeom>
          <a:noFill/>
          <a:ln/>
        </p:spPr>
        <p:txBody>
          <a:bodyPr wrap="square" rtlCol="0" anchor="ctr"/>
          <a:lstStyle/>
          <a:p>
            <a:pPr algn="ctr" indent="0" marL="0">
              <a:buNone/>
            </a:pPr>
            <a:r>
              <a:rPr lang="en-US" sz="1000" b="1" dirty="0">
                <a:solidFill>
                  <a:srgbClr val="0E93A6"/>
                </a:solidFill>
                <a:latin typeface="Calibri" pitchFamily="34" charset="0"/>
                <a:ea typeface="Calibri" pitchFamily="34" charset="-122"/>
                <a:cs typeface="Calibri" pitchFamily="34" charset="-120"/>
              </a:rPr>
              <a:t>▼</a:t>
            </a:r>
            <a:endParaRPr lang="en-US" sz="1000" dirty="0"/>
          </a:p>
        </p:txBody>
      </p:sp>
      <p:sp>
        <p:nvSpPr>
          <p:cNvPr id="38" name="Shape 36"/>
          <p:cNvSpPr/>
          <p:nvPr/>
        </p:nvSpPr>
        <p:spPr>
          <a:xfrm>
            <a:off x="6309360" y="3383280"/>
            <a:ext cx="5349240" cy="786384"/>
          </a:xfrm>
          <a:prstGeom prst="roundRect">
            <a:avLst>
              <a:gd name="adj" fmla="val 814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39" name="Shape 37"/>
          <p:cNvSpPr/>
          <p:nvPr/>
        </p:nvSpPr>
        <p:spPr>
          <a:xfrm>
            <a:off x="6455664" y="3575304"/>
            <a:ext cx="402336" cy="402336"/>
          </a:xfrm>
          <a:prstGeom prst="ellipse">
            <a:avLst/>
          </a:prstGeom>
          <a:solidFill>
            <a:srgbClr val="6C3FC5"/>
          </a:solidFill>
          <a:ln/>
        </p:spPr>
      </p:sp>
      <p:sp>
        <p:nvSpPr>
          <p:cNvPr id="40" name="Text 38"/>
          <p:cNvSpPr/>
          <p:nvPr/>
        </p:nvSpPr>
        <p:spPr>
          <a:xfrm>
            <a:off x="6455664" y="357530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1" name="Text 39"/>
          <p:cNvSpPr/>
          <p:nvPr/>
        </p:nvSpPr>
        <p:spPr>
          <a:xfrm>
            <a:off x="6995160" y="3383280"/>
            <a:ext cx="4526280" cy="786384"/>
          </a:xfrm>
          <a:prstGeom prst="rect">
            <a:avLst/>
          </a:prstGeom>
          <a:noFill/>
          <a:ln/>
        </p:spPr>
        <p:txBody>
          <a:bodyPr wrap="square" lIns="0" tIns="0" rIns="0" bIns="0" rtlCol="0" anchor="ctr"/>
          <a:lstStyle/>
          <a:p>
            <a:pPr indent="0" marL="0">
              <a:buNone/>
            </a:pPr>
            <a:r>
              <a:rPr lang="en-US" sz="1130" dirty="0">
                <a:solidFill>
                  <a:srgbClr val="121A3A"/>
                </a:solidFill>
                <a:latin typeface="Calibri" pitchFamily="34" charset="0"/>
                <a:ea typeface="Calibri" pitchFamily="34" charset="-122"/>
                <a:cs typeface="Calibri" pitchFamily="34" charset="-120"/>
              </a:rPr>
              <a:t>New token is appended and fed back into the decoder — repeat</a:t>
            </a:r>
            <a:endParaRPr lang="en-US" sz="1130" dirty="0"/>
          </a:p>
        </p:txBody>
      </p:sp>
      <p:sp>
        <p:nvSpPr>
          <p:cNvPr id="42" name="Text 40"/>
          <p:cNvSpPr/>
          <p:nvPr/>
        </p:nvSpPr>
        <p:spPr>
          <a:xfrm>
            <a:off x="6455664" y="4169664"/>
            <a:ext cx="402336" cy="128016"/>
          </a:xfrm>
          <a:prstGeom prst="rect">
            <a:avLst/>
          </a:prstGeom>
          <a:noFill/>
          <a:ln/>
        </p:spPr>
        <p:txBody>
          <a:bodyPr wrap="square" rtlCol="0" anchor="ctr"/>
          <a:lstStyle/>
          <a:p>
            <a:pPr algn="ctr" indent="0" marL="0">
              <a:buNone/>
            </a:pPr>
            <a:r>
              <a:rPr lang="en-US" sz="1000" b="1" dirty="0">
                <a:solidFill>
                  <a:srgbClr val="0E93A6"/>
                </a:solidFill>
                <a:latin typeface="Calibri" pitchFamily="34" charset="0"/>
                <a:ea typeface="Calibri" pitchFamily="34" charset="-122"/>
                <a:cs typeface="Calibri" pitchFamily="34" charset="-120"/>
              </a:rPr>
              <a:t>▼</a:t>
            </a:r>
            <a:endParaRPr lang="en-US" sz="1000" dirty="0"/>
          </a:p>
        </p:txBody>
      </p:sp>
      <p:sp>
        <p:nvSpPr>
          <p:cNvPr id="43" name="Shape 41"/>
          <p:cNvSpPr/>
          <p:nvPr/>
        </p:nvSpPr>
        <p:spPr>
          <a:xfrm>
            <a:off x="6309360" y="4297680"/>
            <a:ext cx="5349240" cy="786384"/>
          </a:xfrm>
          <a:prstGeom prst="roundRect">
            <a:avLst>
              <a:gd name="adj" fmla="val 814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44" name="Shape 42"/>
          <p:cNvSpPr/>
          <p:nvPr/>
        </p:nvSpPr>
        <p:spPr>
          <a:xfrm>
            <a:off x="6455664" y="4489704"/>
            <a:ext cx="402336" cy="402336"/>
          </a:xfrm>
          <a:prstGeom prst="ellipse">
            <a:avLst/>
          </a:prstGeom>
          <a:solidFill>
            <a:srgbClr val="6C3FC5"/>
          </a:solidFill>
          <a:ln/>
        </p:spPr>
      </p:sp>
      <p:sp>
        <p:nvSpPr>
          <p:cNvPr id="45" name="Text 43"/>
          <p:cNvSpPr/>
          <p:nvPr/>
        </p:nvSpPr>
        <p:spPr>
          <a:xfrm>
            <a:off x="6455664" y="448970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6" name="Text 44"/>
          <p:cNvSpPr/>
          <p:nvPr/>
        </p:nvSpPr>
        <p:spPr>
          <a:xfrm>
            <a:off x="6995160" y="4297680"/>
            <a:ext cx="4526280" cy="786384"/>
          </a:xfrm>
          <a:prstGeom prst="rect">
            <a:avLst/>
          </a:prstGeom>
          <a:noFill/>
          <a:ln/>
        </p:spPr>
        <p:txBody>
          <a:bodyPr wrap="square" lIns="0" tIns="0" rIns="0" bIns="0" rtlCol="0" anchor="ctr"/>
          <a:lstStyle/>
          <a:p>
            <a:pPr indent="0" marL="0">
              <a:buNone/>
            </a:pPr>
            <a:r>
              <a:rPr lang="en-US" sz="1130" dirty="0">
                <a:solidFill>
                  <a:srgbClr val="121A3A"/>
                </a:solidFill>
                <a:latin typeface="Calibri" pitchFamily="34" charset="0"/>
                <a:ea typeface="Calibri" pitchFamily="34" charset="-122"/>
                <a:cs typeface="Calibri" pitchFamily="34" charset="-120"/>
              </a:rPr>
              <a:t>Stop when an end-of-sequence token or max length is reached</a:t>
            </a:r>
            <a:endParaRPr lang="en-US" sz="1130" dirty="0"/>
          </a:p>
        </p:txBody>
      </p:sp>
      <p:sp>
        <p:nvSpPr>
          <p:cNvPr id="47" name="Text 45"/>
          <p:cNvSpPr/>
          <p:nvPr/>
        </p:nvSpPr>
        <p:spPr>
          <a:xfrm>
            <a:off x="6455664" y="5084064"/>
            <a:ext cx="402336" cy="128016"/>
          </a:xfrm>
          <a:prstGeom prst="rect">
            <a:avLst/>
          </a:prstGeom>
          <a:noFill/>
          <a:ln/>
        </p:spPr>
        <p:txBody>
          <a:bodyPr wrap="square" rtlCol="0" anchor="ctr"/>
          <a:lstStyle/>
          <a:p>
            <a:pPr algn="ctr" indent="0" marL="0">
              <a:buNone/>
            </a:pPr>
            <a:r>
              <a:rPr lang="en-US" sz="1000" b="1" dirty="0">
                <a:solidFill>
                  <a:srgbClr val="0E93A6"/>
                </a:solidFill>
                <a:latin typeface="Calibri" pitchFamily="34" charset="0"/>
                <a:ea typeface="Calibri" pitchFamily="34" charset="-122"/>
                <a:cs typeface="Calibri" pitchFamily="34" charset="-120"/>
              </a:rPr>
              <a:t>▼</a:t>
            </a:r>
            <a:endParaRPr lang="en-US" sz="1000" dirty="0"/>
          </a:p>
        </p:txBody>
      </p:sp>
      <p:sp>
        <p:nvSpPr>
          <p:cNvPr id="48" name="Shape 46"/>
          <p:cNvSpPr/>
          <p:nvPr/>
        </p:nvSpPr>
        <p:spPr>
          <a:xfrm>
            <a:off x="6309360" y="5212080"/>
            <a:ext cx="5349240" cy="786384"/>
          </a:xfrm>
          <a:prstGeom prst="roundRect">
            <a:avLst>
              <a:gd name="adj" fmla="val 814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49" name="Shape 47"/>
          <p:cNvSpPr/>
          <p:nvPr/>
        </p:nvSpPr>
        <p:spPr>
          <a:xfrm>
            <a:off x="6455664" y="5404104"/>
            <a:ext cx="402336" cy="402336"/>
          </a:xfrm>
          <a:prstGeom prst="ellipse">
            <a:avLst/>
          </a:prstGeom>
          <a:solidFill>
            <a:srgbClr val="6C3FC5"/>
          </a:solidFill>
          <a:ln/>
        </p:spPr>
      </p:sp>
      <p:sp>
        <p:nvSpPr>
          <p:cNvPr id="50" name="Text 48"/>
          <p:cNvSpPr/>
          <p:nvPr/>
        </p:nvSpPr>
        <p:spPr>
          <a:xfrm>
            <a:off x="6455664" y="540410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51" name="Text 49"/>
          <p:cNvSpPr/>
          <p:nvPr/>
        </p:nvSpPr>
        <p:spPr>
          <a:xfrm>
            <a:off x="6995160" y="5212080"/>
            <a:ext cx="4526280" cy="786384"/>
          </a:xfrm>
          <a:prstGeom prst="rect">
            <a:avLst/>
          </a:prstGeom>
          <a:noFill/>
          <a:ln/>
        </p:spPr>
        <p:txBody>
          <a:bodyPr wrap="square" lIns="0" tIns="0" rIns="0" bIns="0" rtlCol="0" anchor="ctr"/>
          <a:lstStyle/>
          <a:p>
            <a:pPr indent="0" marL="0">
              <a:buNone/>
            </a:pPr>
            <a:r>
              <a:rPr lang="en-US" sz="1130" dirty="0">
                <a:solidFill>
                  <a:srgbClr val="121A3A"/>
                </a:solidFill>
                <a:latin typeface="Calibri" pitchFamily="34" charset="0"/>
                <a:ea typeface="Calibri" pitchFamily="34" charset="-122"/>
                <a:cs typeface="Calibri" pitchFamily="34" charset="-120"/>
              </a:rPr>
              <a:t>Completed response streams back through the API to the frontend</a:t>
            </a:r>
            <a:endParaRPr lang="en-US" sz="1130" dirty="0"/>
          </a:p>
        </p:txBody>
      </p:sp>
      <p:sp>
        <p:nvSpPr>
          <p:cNvPr id="52" name="Text 50"/>
          <p:cNvSpPr/>
          <p:nvPr/>
        </p:nvSpPr>
        <p:spPr>
          <a:xfrm>
            <a:off x="5897880" y="3291840"/>
            <a:ext cx="411480" cy="457200"/>
          </a:xfrm>
          <a:prstGeom prst="rect">
            <a:avLst/>
          </a:prstGeom>
          <a:noFill/>
          <a:ln/>
        </p:spPr>
        <p:txBody>
          <a:bodyPr wrap="square" rtlCol="0" anchor="ctr"/>
          <a:lstStyle/>
          <a:p>
            <a:pPr algn="ctr" indent="0" marL="0">
              <a:buNone/>
            </a:pPr>
            <a:r>
              <a:rPr lang="en-US" sz="2200" b="1" dirty="0">
                <a:solidFill>
                  <a:srgbClr val="6C3FC5"/>
                </a:solidFill>
                <a:latin typeface="Calibri" pitchFamily="34" charset="0"/>
                <a:ea typeface="Calibri" pitchFamily="34" charset="-122"/>
                <a:cs typeface="Calibri" pitchFamily="34" charset="-120"/>
              </a:rPr>
              <a:t>↷</a:t>
            </a:r>
            <a:endParaRPr lang="en-US" sz="2200" dirty="0"/>
          </a:p>
        </p:txBody>
      </p:sp>
      <p:sp>
        <p:nvSpPr>
          <p:cNvPr id="53" name="Shape 51"/>
          <p:cNvSpPr/>
          <p:nvPr/>
        </p:nvSpPr>
        <p:spPr>
          <a:xfrm>
            <a:off x="6309360" y="4434840"/>
            <a:ext cx="914" cy="914"/>
          </a:xfrm>
          <a:prstGeom prst="roundRect">
            <a:avLst/>
          </a:prstGeom>
          <a:noFill/>
          <a:ln/>
        </p:spPr>
      </p:sp>
      <p:sp>
        <p:nvSpPr>
          <p:cNvPr id="54" name="Text 52"/>
          <p:cNvSpPr/>
          <p:nvPr/>
        </p:nvSpPr>
        <p:spPr>
          <a:xfrm>
            <a:off x="502920" y="6263640"/>
            <a:ext cx="11155680" cy="320040"/>
          </a:xfrm>
          <a:prstGeom prst="rect">
            <a:avLst/>
          </a:prstGeom>
          <a:noFill/>
          <a:ln/>
        </p:spPr>
        <p:txBody>
          <a:bodyPr wrap="square" lIns="0" tIns="0" rIns="0" bIns="0" rtlCol="0" anchor="ctr"/>
          <a:lstStyle/>
          <a:p>
            <a:pPr indent="0" marL="0">
              <a:buNone/>
            </a:pPr>
            <a:r>
              <a:rPr lang="en-US" sz="1050" i="1" dirty="0">
                <a:solidFill>
                  <a:srgbClr val="5B6480"/>
                </a:solidFill>
                <a:latin typeface="Calibri" pitchFamily="34" charset="0"/>
                <a:ea typeface="Calibri" pitchFamily="34" charset="-122"/>
                <a:cs typeface="Calibri" pitchFamily="34" charset="-120"/>
              </a:rPr>
              <a:t>Steps 5–8 form an autoregressive loop: the model re-enters the decoder once per output token.</a:t>
            </a:r>
            <a:endParaRPr lang="en-US" sz="1050" dirty="0"/>
          </a:p>
        </p:txBody>
      </p:sp>
      <p:sp>
        <p:nvSpPr>
          <p:cNvPr id="55" name="Text 53"/>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56" name="Text 54"/>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Algorithms Used in DeepSeek</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4663440"/>
        </p:xfrm>
        <a:graphic>
          <a:graphicData uri="http://schemas.openxmlformats.org/drawingml/2006/table">
            <a:tbl>
              <a:tblPr/>
              <a:tblGrid>
                <a:gridCol w="3566160"/>
                <a:gridCol w="2286000"/>
                <a:gridCol w="5303520"/>
              </a:tblGrid>
              <a:tr h="46634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Algorithm</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0B14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Pipeline Stage</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0B14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0B1442"/>
                    </a:solidFill>
                  </a:tcPr>
                </a:tc>
              </a:tr>
              <a:tr h="466344">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Tokenization (BPE)</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indent="0" marL="0">
                        <a:buNone/>
                      </a:pPr>
                      <a:r>
                        <a:rPr lang="en-US" sz="1150" dirty="0">
                          <a:solidFill>
                            <a:srgbClr val="6C3FC5"/>
                          </a:solidFill>
                          <a:latin typeface="Calibri" pitchFamily="34" charset="0"/>
                          <a:ea typeface="Calibri" pitchFamily="34" charset="-122"/>
                          <a:cs typeface="Calibri" pitchFamily="34" charset="-120"/>
                        </a:rPr>
                        <a:t>Input stage</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Splits raw text into subword tokens</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r h="466344">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Embedding</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6C3FC5"/>
                          </a:solidFill>
                          <a:latin typeface="Calibri" pitchFamily="34" charset="0"/>
                          <a:ea typeface="Calibri" pitchFamily="34" charset="-122"/>
                          <a:cs typeface="Calibri" pitchFamily="34" charset="-120"/>
                        </a:rPr>
                        <a:t>Input stage</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Maps each token to a dense vector</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r>
              <a:tr h="466344">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Positional Encoding (RoPE)</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indent="0" marL="0">
                        <a:buNone/>
                      </a:pPr>
                      <a:r>
                        <a:rPr lang="en-US" sz="1150" dirty="0">
                          <a:solidFill>
                            <a:srgbClr val="6C3FC5"/>
                          </a:solidFill>
                          <a:latin typeface="Calibri" pitchFamily="34" charset="0"/>
                          <a:ea typeface="Calibri" pitchFamily="34" charset="-122"/>
                          <a:cs typeface="Calibri" pitchFamily="34" charset="-120"/>
                        </a:rPr>
                        <a:t>Input stage</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Injects word-order information</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r h="466344">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Multi-head Latent Attention</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6C3FC5"/>
                          </a:solidFill>
                          <a:latin typeface="Calibri" pitchFamily="34" charset="0"/>
                          <a:ea typeface="Calibri" pitchFamily="34" charset="-122"/>
                          <a:cs typeface="Calibri" pitchFamily="34" charset="-120"/>
                        </a:rPr>
                        <a:t>Decoder layer</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Compressed self-attention over context</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r>
              <a:tr h="466344">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Feed-Forward Network</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indent="0" marL="0">
                        <a:buNone/>
                      </a:pPr>
                      <a:r>
                        <a:rPr lang="en-US" sz="1150" dirty="0">
                          <a:solidFill>
                            <a:srgbClr val="6C3FC5"/>
                          </a:solidFill>
                          <a:latin typeface="Calibri" pitchFamily="34" charset="0"/>
                          <a:ea typeface="Calibri" pitchFamily="34" charset="-122"/>
                          <a:cs typeface="Calibri" pitchFamily="34" charset="-120"/>
                        </a:rPr>
                        <a:t>Decoder layer</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Non-linear per-token transformation</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r h="466344">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Residual + Layer Norm</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6C3FC5"/>
                          </a:solidFill>
                          <a:latin typeface="Calibri" pitchFamily="34" charset="0"/>
                          <a:ea typeface="Calibri" pitchFamily="34" charset="-122"/>
                          <a:cs typeface="Calibri" pitchFamily="34" charset="-120"/>
                        </a:rPr>
                        <a:t>Decoder layer</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Stabilizes training in deep stacks</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r>
              <a:tr h="466344">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DeepSeekMoE</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indent="0" marL="0">
                        <a:buNone/>
                      </a:pPr>
                      <a:r>
                        <a:rPr lang="en-US" sz="1150" dirty="0">
                          <a:solidFill>
                            <a:srgbClr val="6C3FC5"/>
                          </a:solidFill>
                          <a:latin typeface="Calibri" pitchFamily="34" charset="0"/>
                          <a:ea typeface="Calibri" pitchFamily="34" charset="-122"/>
                          <a:cs typeface="Calibri" pitchFamily="34" charset="-120"/>
                        </a:rPr>
                        <a:t>Decoder layer</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Sparse expert routing for efficiency</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r h="466344">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Softmax</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6C3FC5"/>
                          </a:solidFill>
                          <a:latin typeface="Calibri" pitchFamily="34" charset="0"/>
                          <a:ea typeface="Calibri" pitchFamily="34" charset="-122"/>
                          <a:cs typeface="Calibri" pitchFamily="34" charset="-120"/>
                        </a:rPr>
                        <a:t>Output stage</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Converts logits into probabilities</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DF0FC"/>
                    </a:solidFill>
                  </a:tcPr>
                </a:tc>
              </a:tr>
              <a:tr h="466344">
                <a:tc>
                  <a:txBody>
                    <a:bodyPr/>
                    <a:lstStyle/>
                    <a:p>
                      <a:pPr indent="0" marL="0">
                        <a:buNone/>
                      </a:pPr>
                      <a:r>
                        <a:rPr lang="en-US" sz="1150" b="1" dirty="0">
                          <a:solidFill>
                            <a:srgbClr val="121A3A"/>
                          </a:solidFill>
                          <a:latin typeface="Calibri" pitchFamily="34" charset="0"/>
                          <a:ea typeface="Calibri" pitchFamily="34" charset="-122"/>
                          <a:cs typeface="Calibri" pitchFamily="34" charset="-120"/>
                        </a:rPr>
                        <a:t>Decoding (Greedy / Beam / Temp.)</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indent="0" marL="0">
                        <a:buNone/>
                      </a:pPr>
                      <a:r>
                        <a:rPr lang="en-US" sz="1150" dirty="0">
                          <a:solidFill>
                            <a:srgbClr val="6C3FC5"/>
                          </a:solidFill>
                          <a:latin typeface="Calibri" pitchFamily="34" charset="0"/>
                          <a:ea typeface="Calibri" pitchFamily="34" charset="-122"/>
                          <a:cs typeface="Calibri" pitchFamily="34" charset="-120"/>
                        </a:rPr>
                        <a:t>Output stage</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indent="0" marL="0">
                        <a:buNone/>
                      </a:pPr>
                      <a:r>
                        <a:rPr lang="en-US" sz="1150" dirty="0">
                          <a:solidFill>
                            <a:srgbClr val="5B6480"/>
                          </a:solidFill>
                          <a:latin typeface="Calibri" pitchFamily="34" charset="0"/>
                          <a:ea typeface="Calibri" pitchFamily="34" charset="-122"/>
                          <a:cs typeface="Calibri" pitchFamily="34" charset="-120"/>
                        </a:rPr>
                        <a:t>Chooses the generated token</a:t>
                      </a:r>
                      <a:endParaRPr lang="en-US" sz="1150" dirty="0">
                        <a:latin typeface="Calibri" charset="0"/>
                        <a:ea typeface="Calibri" charset="0"/>
                        <a:cs typeface="Calibri" charset="0"/>
                      </a:endParaRPr>
                    </a:p>
                  </a:txBody>
                  <a:tcPr marL="127000" marR="127000" marT="50800" marB="50800"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6" name="Text 3"/>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ALGORITHM 1 / 9</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Tokenization (Byte Pair Encoding)</a:t>
            </a:r>
            <a:endParaRPr lang="en-US" sz="3000" dirty="0"/>
          </a:p>
        </p:txBody>
      </p:sp>
      <p:sp>
        <p:nvSpPr>
          <p:cNvPr id="4" name="Text 2"/>
          <p:cNvSpPr/>
          <p:nvPr/>
        </p:nvSpPr>
        <p:spPr>
          <a:xfrm>
            <a:off x="502920" y="1508760"/>
            <a:ext cx="5577840" cy="274320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Definition: splits raw text into a sequence of subword units called tokens, each mapped to a numeric ID from a fixed vocabulary.</a:t>
            </a:r>
            <a:endParaRPr lang="en-US" sz="1250" dirty="0"/>
          </a:p>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Working principle (BPE): starts from individual characters and iteratively merges the most frequent adjacent pair into a new symbol, repeated thousands of times to build a subword vocabulary.</a:t>
            </a:r>
            <a:endParaRPr lang="en-US" sz="1250" dirty="0"/>
          </a:p>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DeepSeek uses a large custom BPE-based vocabulary (~100K+ tokens) tuned for English, Chinese, and source code.</a:t>
            </a:r>
            <a:endParaRPr lang="en-US" sz="1250" dirty="0"/>
          </a:p>
        </p:txBody>
      </p:sp>
      <p:sp>
        <p:nvSpPr>
          <p:cNvPr id="5" name="Text 3"/>
          <p:cNvSpPr/>
          <p:nvPr/>
        </p:nvSpPr>
        <p:spPr>
          <a:xfrm>
            <a:off x="502920" y="4160520"/>
            <a:ext cx="3657600" cy="256032"/>
          </a:xfrm>
          <a:prstGeom prst="rect">
            <a:avLst/>
          </a:prstGeom>
          <a:noFill/>
          <a:ln/>
        </p:spPr>
        <p:txBody>
          <a:bodyPr wrap="square" rtlCol="0" anchor="ctr"/>
          <a:lstStyle/>
          <a:p>
            <a:pPr indent="0" marL="0">
              <a:buNone/>
            </a:pPr>
            <a:r>
              <a:rPr lang="en-US" sz="1050" b="1" spc="150" kern="0" dirty="0">
                <a:solidFill>
                  <a:srgbClr val="0E93A6"/>
                </a:solidFill>
                <a:latin typeface="Calibri" pitchFamily="34" charset="0"/>
                <a:ea typeface="Calibri" pitchFamily="34" charset="-122"/>
                <a:cs typeface="Calibri" pitchFamily="34" charset="-120"/>
              </a:rPr>
              <a:t>EXAMPLE</a:t>
            </a:r>
            <a:endParaRPr lang="en-US" sz="1050" dirty="0"/>
          </a:p>
        </p:txBody>
      </p:sp>
      <p:sp>
        <p:nvSpPr>
          <p:cNvPr id="6" name="Shape 4"/>
          <p:cNvSpPr/>
          <p:nvPr/>
        </p:nvSpPr>
        <p:spPr>
          <a:xfrm>
            <a:off x="502920" y="4434840"/>
            <a:ext cx="5577840" cy="1600200"/>
          </a:xfrm>
          <a:prstGeom prst="roundRect">
            <a:avLst>
              <a:gd name="adj" fmla="val 4571"/>
            </a:avLst>
          </a:prstGeom>
          <a:solidFill>
            <a:srgbClr val="0B1442"/>
          </a:solidFill>
          <a:ln/>
        </p:spPr>
      </p:sp>
      <p:sp>
        <p:nvSpPr>
          <p:cNvPr id="7" name="Text 5"/>
          <p:cNvSpPr/>
          <p:nvPr/>
        </p:nvSpPr>
        <p:spPr>
          <a:xfrm>
            <a:off x="731520" y="4572000"/>
            <a:ext cx="5120640" cy="292608"/>
          </a:xfrm>
          <a:prstGeom prst="rect">
            <a:avLst/>
          </a:prstGeom>
          <a:noFill/>
          <a:ln/>
        </p:spPr>
        <p:txBody>
          <a:bodyPr wrap="square" lIns="0" tIns="0" rIns="0" bIns="0" rtlCol="0" anchor="ctr"/>
          <a:lstStyle/>
          <a:p>
            <a:pPr indent="0" marL="0">
              <a:buNone/>
            </a:pPr>
            <a:r>
              <a:rPr lang="en-US" sz="1200" i="1" dirty="0">
                <a:solidFill>
                  <a:srgbClr val="C7CFF5"/>
                </a:solidFill>
                <a:latin typeface="Calibri" pitchFamily="34" charset="0"/>
                <a:ea typeface="Calibri" pitchFamily="34" charset="-122"/>
                <a:cs typeface="Calibri" pitchFamily="34" charset="-120"/>
              </a:rPr>
              <a:t>"Artificial Intelligence"</a:t>
            </a:r>
            <a:endParaRPr lang="en-US" sz="1200" dirty="0"/>
          </a:p>
        </p:txBody>
      </p:sp>
      <p:sp>
        <p:nvSpPr>
          <p:cNvPr id="8" name="Shape 6"/>
          <p:cNvSpPr/>
          <p:nvPr/>
        </p:nvSpPr>
        <p:spPr>
          <a:xfrm>
            <a:off x="731520" y="4983480"/>
            <a:ext cx="379476" cy="256032"/>
          </a:xfrm>
          <a:prstGeom prst="roundRect">
            <a:avLst>
              <a:gd name="adj" fmla="val 17857"/>
            </a:avLst>
          </a:prstGeom>
          <a:solidFill>
            <a:srgbClr val="4FD8EB"/>
          </a:solidFill>
          <a:ln/>
        </p:spPr>
      </p:sp>
      <p:sp>
        <p:nvSpPr>
          <p:cNvPr id="9" name="Text 7"/>
          <p:cNvSpPr/>
          <p:nvPr/>
        </p:nvSpPr>
        <p:spPr>
          <a:xfrm>
            <a:off x="731520" y="4983480"/>
            <a:ext cx="379476" cy="256032"/>
          </a:xfrm>
          <a:prstGeom prst="rect">
            <a:avLst/>
          </a:prstGeom>
          <a:noFill/>
          <a:ln/>
        </p:spPr>
        <p:txBody>
          <a:bodyPr wrap="square" rtlCol="0" anchor="ctr"/>
          <a:lstStyle/>
          <a:p>
            <a:pPr algn="ctr" indent="0" marL="0">
              <a:buNone/>
            </a:pPr>
            <a:r>
              <a:rPr lang="en-US" sz="900" b="1" dirty="0">
                <a:solidFill>
                  <a:srgbClr val="0B1442"/>
                </a:solidFill>
                <a:latin typeface="Calibri" pitchFamily="34" charset="0"/>
                <a:ea typeface="Calibri" pitchFamily="34" charset="-122"/>
                <a:cs typeface="Calibri" pitchFamily="34" charset="-120"/>
              </a:rPr>
              <a:t>Art</a:t>
            </a:r>
            <a:endParaRPr lang="en-US" sz="900" dirty="0"/>
          </a:p>
        </p:txBody>
      </p:sp>
      <p:sp>
        <p:nvSpPr>
          <p:cNvPr id="10" name="Shape 8"/>
          <p:cNvSpPr/>
          <p:nvPr/>
        </p:nvSpPr>
        <p:spPr>
          <a:xfrm>
            <a:off x="1220724" y="4983480"/>
            <a:ext cx="457200" cy="256032"/>
          </a:xfrm>
          <a:prstGeom prst="roundRect">
            <a:avLst>
              <a:gd name="adj" fmla="val 17857"/>
            </a:avLst>
          </a:prstGeom>
          <a:solidFill>
            <a:srgbClr val="6C3FC5"/>
          </a:solidFill>
          <a:ln/>
        </p:spPr>
      </p:sp>
      <p:sp>
        <p:nvSpPr>
          <p:cNvPr id="11" name="Text 9"/>
          <p:cNvSpPr/>
          <p:nvPr/>
        </p:nvSpPr>
        <p:spPr>
          <a:xfrm>
            <a:off x="1220724" y="4983480"/>
            <a:ext cx="45720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ific</a:t>
            </a:r>
            <a:endParaRPr lang="en-US" sz="900" dirty="0"/>
          </a:p>
        </p:txBody>
      </p:sp>
      <p:sp>
        <p:nvSpPr>
          <p:cNvPr id="12" name="Shape 10"/>
          <p:cNvSpPr/>
          <p:nvPr/>
        </p:nvSpPr>
        <p:spPr>
          <a:xfrm>
            <a:off x="1787652" y="4983480"/>
            <a:ext cx="379476" cy="256032"/>
          </a:xfrm>
          <a:prstGeom prst="roundRect">
            <a:avLst>
              <a:gd name="adj" fmla="val 17857"/>
            </a:avLst>
          </a:prstGeom>
          <a:solidFill>
            <a:srgbClr val="4FD8EB"/>
          </a:solidFill>
          <a:ln/>
        </p:spPr>
      </p:sp>
      <p:sp>
        <p:nvSpPr>
          <p:cNvPr id="13" name="Text 11"/>
          <p:cNvSpPr/>
          <p:nvPr/>
        </p:nvSpPr>
        <p:spPr>
          <a:xfrm>
            <a:off x="1787652" y="4983480"/>
            <a:ext cx="379476" cy="256032"/>
          </a:xfrm>
          <a:prstGeom prst="rect">
            <a:avLst/>
          </a:prstGeom>
          <a:noFill/>
          <a:ln/>
        </p:spPr>
        <p:txBody>
          <a:bodyPr wrap="square" rtlCol="0" anchor="ctr"/>
          <a:lstStyle/>
          <a:p>
            <a:pPr algn="ctr" indent="0" marL="0">
              <a:buNone/>
            </a:pPr>
            <a:r>
              <a:rPr lang="en-US" sz="900" b="1" dirty="0">
                <a:solidFill>
                  <a:srgbClr val="0B1442"/>
                </a:solidFill>
                <a:latin typeface="Calibri" pitchFamily="34" charset="0"/>
                <a:ea typeface="Calibri" pitchFamily="34" charset="-122"/>
                <a:cs typeface="Calibri" pitchFamily="34" charset="-120"/>
              </a:rPr>
              <a:t>ial</a:t>
            </a:r>
            <a:endParaRPr lang="en-US" sz="900" dirty="0"/>
          </a:p>
        </p:txBody>
      </p:sp>
      <p:sp>
        <p:nvSpPr>
          <p:cNvPr id="14" name="Shape 12"/>
          <p:cNvSpPr/>
          <p:nvPr/>
        </p:nvSpPr>
        <p:spPr>
          <a:xfrm>
            <a:off x="2276856" y="4983480"/>
            <a:ext cx="1156716" cy="256032"/>
          </a:xfrm>
          <a:prstGeom prst="roundRect">
            <a:avLst>
              <a:gd name="adj" fmla="val 17857"/>
            </a:avLst>
          </a:prstGeom>
          <a:solidFill>
            <a:srgbClr val="6C3FC5"/>
          </a:solidFill>
          <a:ln/>
        </p:spPr>
      </p:sp>
      <p:sp>
        <p:nvSpPr>
          <p:cNvPr id="15" name="Text 13"/>
          <p:cNvSpPr/>
          <p:nvPr/>
        </p:nvSpPr>
        <p:spPr>
          <a:xfrm>
            <a:off x="2276856" y="4983480"/>
            <a:ext cx="1156716"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␣Intelligence</a:t>
            </a:r>
            <a:endParaRPr lang="en-US" sz="900" dirty="0"/>
          </a:p>
        </p:txBody>
      </p:sp>
      <p:sp>
        <p:nvSpPr>
          <p:cNvPr id="16" name="Text 14"/>
          <p:cNvSpPr/>
          <p:nvPr/>
        </p:nvSpPr>
        <p:spPr>
          <a:xfrm>
            <a:off x="731520" y="5394960"/>
            <a:ext cx="5120640" cy="274320"/>
          </a:xfrm>
          <a:prstGeom prst="rect">
            <a:avLst/>
          </a:prstGeom>
          <a:noFill/>
          <a:ln/>
        </p:spPr>
        <p:txBody>
          <a:bodyPr wrap="square" lIns="0" tIns="0" rIns="0" bIns="0" rtlCol="0" anchor="ctr"/>
          <a:lstStyle/>
          <a:p>
            <a:pPr indent="0" marL="0">
              <a:buNone/>
            </a:pPr>
            <a:r>
              <a:rPr lang="en-US" sz="1050" dirty="0">
                <a:solidFill>
                  <a:srgbClr val="AEB8E8"/>
                </a:solidFill>
                <a:latin typeface="Calibri" pitchFamily="34" charset="0"/>
                <a:ea typeface="Calibri" pitchFamily="34" charset="-122"/>
                <a:cs typeface="Calibri" pitchFamily="34" charset="-120"/>
              </a:rPr>
              <a:t>Token IDs:  [8241, 15032, 391, 15981]</a:t>
            </a:r>
            <a:endParaRPr lang="en-US" sz="1050" dirty="0"/>
          </a:p>
        </p:txBody>
      </p:sp>
      <p:sp>
        <p:nvSpPr>
          <p:cNvPr id="17" name="Text 15"/>
          <p:cNvSpPr/>
          <p:nvPr/>
        </p:nvSpPr>
        <p:spPr>
          <a:xfrm>
            <a:off x="731520" y="5669280"/>
            <a:ext cx="5120640" cy="274320"/>
          </a:xfrm>
          <a:prstGeom prst="rect">
            <a:avLst/>
          </a:prstGeom>
          <a:noFill/>
          <a:ln/>
        </p:spPr>
        <p:txBody>
          <a:bodyPr wrap="square" lIns="0" tIns="0" rIns="0" bIns="0" rtlCol="0" anchor="ctr"/>
          <a:lstStyle/>
          <a:p>
            <a:pPr indent="0" marL="0">
              <a:buNone/>
            </a:pPr>
            <a:r>
              <a:rPr lang="en-US" sz="850" i="1" dirty="0">
                <a:solidFill>
                  <a:srgbClr val="7C8AD1"/>
                </a:solidFill>
                <a:latin typeface="Calibri" pitchFamily="34" charset="0"/>
                <a:ea typeface="Calibri" pitchFamily="34" charset="-122"/>
                <a:cs typeface="Calibri" pitchFamily="34" charset="-120"/>
              </a:rPr>
              <a:t>(illustrative IDs — actual vocabulary mapping is model-specific)</a:t>
            </a:r>
            <a:endParaRPr lang="en-US" sz="850" dirty="0"/>
          </a:p>
        </p:txBody>
      </p:sp>
      <p:sp>
        <p:nvSpPr>
          <p:cNvPr id="18" name="Shape 16"/>
          <p:cNvSpPr/>
          <p:nvPr/>
        </p:nvSpPr>
        <p:spPr>
          <a:xfrm>
            <a:off x="6446520" y="1508760"/>
            <a:ext cx="4846320" cy="1051560"/>
          </a:xfrm>
          <a:prstGeom prst="roundRect">
            <a:avLst>
              <a:gd name="adj" fmla="val 7826"/>
            </a:avLst>
          </a:prstGeom>
          <a:solidFill>
            <a:srgbClr val="FFFFFF"/>
          </a:solidFill>
          <a:ln w="12700">
            <a:solidFill>
              <a:srgbClr val="E1E5F5"/>
            </a:solidFill>
            <a:prstDash val="solid"/>
          </a:ln>
          <a:effectLst>
            <a:outerShdw sx="100000" sy="100000" kx="0" ky="0" algn="bl" rotWithShape="0" blurRad="76200" dist="25400" dir="5400000">
              <a:srgbClr val="0B1442">
                <a:alpha val="18000"/>
              </a:srgbClr>
            </a:outerShdw>
          </a:effectLst>
        </p:spPr>
      </p:sp>
      <p:sp>
        <p:nvSpPr>
          <p:cNvPr id="19" name="Shape 17"/>
          <p:cNvSpPr/>
          <p:nvPr/>
        </p:nvSpPr>
        <p:spPr>
          <a:xfrm>
            <a:off x="6574536" y="1805940"/>
            <a:ext cx="457200" cy="457200"/>
          </a:xfrm>
          <a:prstGeom prst="ellipse">
            <a:avLst/>
          </a:prstGeom>
          <a:solidFill>
            <a:srgbClr val="0E93A6"/>
          </a:solidFill>
          <a:ln/>
        </p:spPr>
      </p:sp>
      <p:sp>
        <p:nvSpPr>
          <p:cNvPr id="20" name="Text 18"/>
          <p:cNvSpPr/>
          <p:nvPr/>
        </p:nvSpPr>
        <p:spPr>
          <a:xfrm>
            <a:off x="6574536" y="180594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1" name="Text 19"/>
          <p:cNvSpPr/>
          <p:nvPr/>
        </p:nvSpPr>
        <p:spPr>
          <a:xfrm>
            <a:off x="7141464" y="1600200"/>
            <a:ext cx="4023360" cy="578358"/>
          </a:xfrm>
          <a:prstGeom prst="rect">
            <a:avLst/>
          </a:prstGeom>
          <a:noFill/>
          <a:ln/>
        </p:spPr>
        <p:txBody>
          <a:bodyPr wrap="square" lIns="0" tIns="0" rIns="0" bIns="0" rtlCol="0" anchor="b"/>
          <a:lstStyle/>
          <a:p>
            <a:pPr indent="0" marL="0">
              <a:buNone/>
            </a:pPr>
            <a:r>
              <a:rPr lang="en-US" sz="1200" b="1" dirty="0">
                <a:solidFill>
                  <a:srgbClr val="121A3A"/>
                </a:solidFill>
                <a:latin typeface="Calibri" pitchFamily="34" charset="0"/>
                <a:ea typeface="Calibri" pitchFamily="34" charset="-122"/>
                <a:cs typeface="Calibri" pitchFamily="34" charset="-120"/>
              </a:rPr>
              <a:t>Raw Text</a:t>
            </a:r>
            <a:endParaRPr lang="en-US" sz="1200" dirty="0"/>
          </a:p>
        </p:txBody>
      </p:sp>
      <p:sp>
        <p:nvSpPr>
          <p:cNvPr id="22" name="Text 20"/>
          <p:cNvSpPr/>
          <p:nvPr/>
        </p:nvSpPr>
        <p:spPr>
          <a:xfrm>
            <a:off x="7141464" y="2055571"/>
            <a:ext cx="4023360" cy="441655"/>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"Artificial Intelligence"</a:t>
            </a:r>
            <a:endParaRPr lang="en-US" sz="950" dirty="0"/>
          </a:p>
        </p:txBody>
      </p:sp>
      <p:sp>
        <p:nvSpPr>
          <p:cNvPr id="23" name="Text 21"/>
          <p:cNvSpPr/>
          <p:nvPr/>
        </p:nvSpPr>
        <p:spPr>
          <a:xfrm>
            <a:off x="8723376" y="2560320"/>
            <a:ext cx="292608" cy="365760"/>
          </a:xfrm>
          <a:prstGeom prst="rect">
            <a:avLst/>
          </a:prstGeom>
          <a:noFill/>
          <a:ln/>
        </p:spPr>
        <p:txBody>
          <a:bodyPr wrap="square" rtlCol="0" anchor="ctr"/>
          <a:lstStyle/>
          <a:p>
            <a:pPr algn="ctr" indent="0" marL="0">
              <a:buNone/>
            </a:pPr>
            <a:r>
              <a:rPr lang="en-US" sz="1500" b="1" dirty="0">
                <a:solidFill>
                  <a:srgbClr val="0E93A6"/>
                </a:solidFill>
                <a:latin typeface="Calibri" pitchFamily="34" charset="0"/>
                <a:ea typeface="Calibri" pitchFamily="34" charset="-122"/>
                <a:cs typeface="Calibri" pitchFamily="34" charset="-120"/>
              </a:rPr>
              <a:t>▼</a:t>
            </a:r>
            <a:endParaRPr lang="en-US" sz="1500" dirty="0"/>
          </a:p>
        </p:txBody>
      </p:sp>
      <p:sp>
        <p:nvSpPr>
          <p:cNvPr id="24" name="Shape 22"/>
          <p:cNvSpPr/>
          <p:nvPr/>
        </p:nvSpPr>
        <p:spPr>
          <a:xfrm>
            <a:off x="6446520" y="2926080"/>
            <a:ext cx="4846320" cy="1051560"/>
          </a:xfrm>
          <a:prstGeom prst="roundRect">
            <a:avLst>
              <a:gd name="adj" fmla="val 7826"/>
            </a:avLst>
          </a:prstGeom>
          <a:solidFill>
            <a:srgbClr val="FFFFFF"/>
          </a:solidFill>
          <a:ln w="12700">
            <a:solidFill>
              <a:srgbClr val="E1E5F5"/>
            </a:solidFill>
            <a:prstDash val="solid"/>
          </a:ln>
          <a:effectLst>
            <a:outerShdw sx="100000" sy="100000" kx="0" ky="0" algn="bl" rotWithShape="0" blurRad="76200" dist="25400" dir="5400000">
              <a:srgbClr val="0B1442">
                <a:alpha val="18000"/>
              </a:srgbClr>
            </a:outerShdw>
          </a:effectLst>
        </p:spPr>
      </p:sp>
      <p:sp>
        <p:nvSpPr>
          <p:cNvPr id="25" name="Shape 23"/>
          <p:cNvSpPr/>
          <p:nvPr/>
        </p:nvSpPr>
        <p:spPr>
          <a:xfrm>
            <a:off x="6574536" y="3223260"/>
            <a:ext cx="457200" cy="457200"/>
          </a:xfrm>
          <a:prstGeom prst="ellipse">
            <a:avLst/>
          </a:prstGeom>
          <a:solidFill>
            <a:srgbClr val="0E93A6"/>
          </a:solidFill>
          <a:ln/>
        </p:spPr>
      </p:sp>
      <p:sp>
        <p:nvSpPr>
          <p:cNvPr id="26" name="Text 24"/>
          <p:cNvSpPr/>
          <p:nvPr/>
        </p:nvSpPr>
        <p:spPr>
          <a:xfrm>
            <a:off x="6574536" y="322326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7" name="Text 25"/>
          <p:cNvSpPr/>
          <p:nvPr/>
        </p:nvSpPr>
        <p:spPr>
          <a:xfrm>
            <a:off x="7141464" y="3017520"/>
            <a:ext cx="4023360" cy="578358"/>
          </a:xfrm>
          <a:prstGeom prst="rect">
            <a:avLst/>
          </a:prstGeom>
          <a:noFill/>
          <a:ln/>
        </p:spPr>
        <p:txBody>
          <a:bodyPr wrap="square" lIns="0" tIns="0" rIns="0" bIns="0" rtlCol="0" anchor="b"/>
          <a:lstStyle/>
          <a:p>
            <a:pPr indent="0" marL="0">
              <a:buNone/>
            </a:pPr>
            <a:r>
              <a:rPr lang="en-US" sz="1200" b="1" dirty="0">
                <a:solidFill>
                  <a:srgbClr val="121A3A"/>
                </a:solidFill>
                <a:latin typeface="Calibri" pitchFamily="34" charset="0"/>
                <a:ea typeface="Calibri" pitchFamily="34" charset="-122"/>
                <a:cs typeface="Calibri" pitchFamily="34" charset="-120"/>
              </a:rPr>
              <a:t>Subword Tokens</a:t>
            </a:r>
            <a:endParaRPr lang="en-US" sz="1200" dirty="0"/>
          </a:p>
        </p:txBody>
      </p:sp>
      <p:sp>
        <p:nvSpPr>
          <p:cNvPr id="28" name="Text 26"/>
          <p:cNvSpPr/>
          <p:nvPr/>
        </p:nvSpPr>
        <p:spPr>
          <a:xfrm>
            <a:off x="7141464" y="3472891"/>
            <a:ext cx="4023360" cy="441655"/>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Art | ific | ial | Intelligence</a:t>
            </a:r>
            <a:endParaRPr lang="en-US" sz="950" dirty="0"/>
          </a:p>
        </p:txBody>
      </p:sp>
      <p:sp>
        <p:nvSpPr>
          <p:cNvPr id="29" name="Text 27"/>
          <p:cNvSpPr/>
          <p:nvPr/>
        </p:nvSpPr>
        <p:spPr>
          <a:xfrm>
            <a:off x="8723376" y="3977640"/>
            <a:ext cx="292608" cy="365760"/>
          </a:xfrm>
          <a:prstGeom prst="rect">
            <a:avLst/>
          </a:prstGeom>
          <a:noFill/>
          <a:ln/>
        </p:spPr>
        <p:txBody>
          <a:bodyPr wrap="square" rtlCol="0" anchor="ctr"/>
          <a:lstStyle/>
          <a:p>
            <a:pPr algn="ctr" indent="0" marL="0">
              <a:buNone/>
            </a:pPr>
            <a:r>
              <a:rPr lang="en-US" sz="1500" b="1" dirty="0">
                <a:solidFill>
                  <a:srgbClr val="0E93A6"/>
                </a:solidFill>
                <a:latin typeface="Calibri" pitchFamily="34" charset="0"/>
                <a:ea typeface="Calibri" pitchFamily="34" charset="-122"/>
                <a:cs typeface="Calibri" pitchFamily="34" charset="-120"/>
              </a:rPr>
              <a:t>▼</a:t>
            </a:r>
            <a:endParaRPr lang="en-US" sz="1500" dirty="0"/>
          </a:p>
        </p:txBody>
      </p:sp>
      <p:sp>
        <p:nvSpPr>
          <p:cNvPr id="30" name="Shape 28"/>
          <p:cNvSpPr/>
          <p:nvPr/>
        </p:nvSpPr>
        <p:spPr>
          <a:xfrm>
            <a:off x="6446520" y="4343400"/>
            <a:ext cx="4846320" cy="1051560"/>
          </a:xfrm>
          <a:prstGeom prst="roundRect">
            <a:avLst>
              <a:gd name="adj" fmla="val 7826"/>
            </a:avLst>
          </a:prstGeom>
          <a:solidFill>
            <a:srgbClr val="FFFFFF"/>
          </a:solidFill>
          <a:ln w="12700">
            <a:solidFill>
              <a:srgbClr val="E1E5F5"/>
            </a:solidFill>
            <a:prstDash val="solid"/>
          </a:ln>
          <a:effectLst>
            <a:outerShdw sx="100000" sy="100000" kx="0" ky="0" algn="bl" rotWithShape="0" blurRad="76200" dist="25400" dir="5400000">
              <a:srgbClr val="0B1442">
                <a:alpha val="18000"/>
              </a:srgbClr>
            </a:outerShdw>
          </a:effectLst>
        </p:spPr>
      </p:sp>
      <p:sp>
        <p:nvSpPr>
          <p:cNvPr id="31" name="Shape 29"/>
          <p:cNvSpPr/>
          <p:nvPr/>
        </p:nvSpPr>
        <p:spPr>
          <a:xfrm>
            <a:off x="6574536" y="4640580"/>
            <a:ext cx="457200" cy="457200"/>
          </a:xfrm>
          <a:prstGeom prst="ellipse">
            <a:avLst/>
          </a:prstGeom>
          <a:solidFill>
            <a:srgbClr val="0E93A6"/>
          </a:solidFill>
          <a:ln/>
        </p:spPr>
      </p:sp>
      <p:sp>
        <p:nvSpPr>
          <p:cNvPr id="32" name="Text 30"/>
          <p:cNvSpPr/>
          <p:nvPr/>
        </p:nvSpPr>
        <p:spPr>
          <a:xfrm>
            <a:off x="6574536" y="464058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31"/>
          <p:cNvSpPr/>
          <p:nvPr/>
        </p:nvSpPr>
        <p:spPr>
          <a:xfrm>
            <a:off x="7141464" y="4434840"/>
            <a:ext cx="4023360" cy="578358"/>
          </a:xfrm>
          <a:prstGeom prst="rect">
            <a:avLst/>
          </a:prstGeom>
          <a:noFill/>
          <a:ln/>
        </p:spPr>
        <p:txBody>
          <a:bodyPr wrap="square" lIns="0" tIns="0" rIns="0" bIns="0" rtlCol="0" anchor="b"/>
          <a:lstStyle/>
          <a:p>
            <a:pPr indent="0" marL="0">
              <a:buNone/>
            </a:pPr>
            <a:r>
              <a:rPr lang="en-US" sz="1200" b="1" dirty="0">
                <a:solidFill>
                  <a:srgbClr val="121A3A"/>
                </a:solidFill>
                <a:latin typeface="Calibri" pitchFamily="34" charset="0"/>
                <a:ea typeface="Calibri" pitchFamily="34" charset="-122"/>
                <a:cs typeface="Calibri" pitchFamily="34" charset="-120"/>
              </a:rPr>
              <a:t>Token IDs</a:t>
            </a:r>
            <a:endParaRPr lang="en-US" sz="1200" dirty="0"/>
          </a:p>
        </p:txBody>
      </p:sp>
      <p:sp>
        <p:nvSpPr>
          <p:cNvPr id="34" name="Text 32"/>
          <p:cNvSpPr/>
          <p:nvPr/>
        </p:nvSpPr>
        <p:spPr>
          <a:xfrm>
            <a:off x="7141464" y="4890211"/>
            <a:ext cx="4023360" cy="441655"/>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8241, 15032, 391, 15981</a:t>
            </a:r>
            <a:endParaRPr lang="en-US" sz="950" dirty="0"/>
          </a:p>
        </p:txBody>
      </p:sp>
      <p:sp>
        <p:nvSpPr>
          <p:cNvPr id="35" name="Text 33"/>
          <p:cNvSpPr/>
          <p:nvPr/>
        </p:nvSpPr>
        <p:spPr>
          <a:xfrm>
            <a:off x="6446520" y="5623560"/>
            <a:ext cx="4846320" cy="822960"/>
          </a:xfrm>
          <a:prstGeom prst="rect">
            <a:avLst/>
          </a:prstGeom>
          <a:noFill/>
          <a:ln/>
        </p:spPr>
        <p:txBody>
          <a:bodyPr wrap="square" lIns="0" tIns="0" rIns="0" bIns="0" rtlCol="0" anchor="ctr"/>
          <a:lstStyle/>
          <a:p>
            <a:pPr indent="0" marL="0">
              <a:lnSpc>
                <a:spcPct val="115000"/>
              </a:lnSpc>
              <a:buNone/>
            </a:pPr>
            <a:r>
              <a:rPr lang="en-US" sz="1000" b="1" dirty="0">
                <a:solidFill>
                  <a:srgbClr val="6C3FC5"/>
                </a:solidFill>
                <a:latin typeface="Calibri" pitchFamily="34" charset="0"/>
                <a:ea typeface="Calibri" pitchFamily="34" charset="-122"/>
                <a:cs typeface="Calibri" pitchFamily="34" charset="-120"/>
              </a:rPr>
              <a:t>Advantage: </a:t>
            </a:r>
            <a:pPr indent="0" marL="0">
              <a:lnSpc>
                <a:spcPct val="115000"/>
              </a:lnSpc>
              <a:buNone/>
            </a:pPr>
            <a:r>
              <a:rPr lang="en-US" sz="1000" dirty="0">
                <a:solidFill>
                  <a:srgbClr val="5B6480"/>
                </a:solidFill>
                <a:latin typeface="Calibri" pitchFamily="34" charset="0"/>
                <a:ea typeface="Calibri" pitchFamily="34" charset="-122"/>
                <a:cs typeface="Calibri" pitchFamily="34" charset="-120"/>
              </a:rPr>
              <a:t>handles rare/unseen words by breaking them into known pieces.  </a:t>
            </a:r>
            <a:pPr indent="0" marL="0">
              <a:lnSpc>
                <a:spcPct val="115000"/>
              </a:lnSpc>
              <a:buNone/>
            </a:pPr>
            <a:r>
              <a:rPr lang="en-US" sz="1000" b="1" dirty="0">
                <a:solidFill>
                  <a:srgbClr val="6C3FC5"/>
                </a:solidFill>
                <a:latin typeface="Calibri" pitchFamily="34" charset="0"/>
                <a:ea typeface="Calibri" pitchFamily="34" charset="-122"/>
                <a:cs typeface="Calibri" pitchFamily="34" charset="-120"/>
              </a:rPr>
              <a:t>Limitation: </a:t>
            </a:r>
            <a:pPr indent="0" marL="0">
              <a:lnSpc>
                <a:spcPct val="115000"/>
              </a:lnSpc>
              <a:buNone/>
            </a:pPr>
            <a:r>
              <a:rPr lang="en-US" sz="1000" dirty="0">
                <a:solidFill>
                  <a:srgbClr val="5B6480"/>
                </a:solidFill>
                <a:latin typeface="Calibri" pitchFamily="34" charset="0"/>
                <a:ea typeface="Calibri" pitchFamily="34" charset="-122"/>
                <a:cs typeface="Calibri" pitchFamily="34" charset="-120"/>
              </a:rPr>
              <a:t>longer token sequences for morphologically rich languages increase compute cost.</a:t>
            </a:r>
            <a:endParaRPr lang="en-US" sz="1000" dirty="0"/>
          </a:p>
        </p:txBody>
      </p:sp>
      <p:sp>
        <p:nvSpPr>
          <p:cNvPr id="36" name="Text 34"/>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37" name="Text 35"/>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ALGORITHM 2 / 9</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Embedding Layer</a:t>
            </a:r>
            <a:endParaRPr lang="en-US" sz="3000" dirty="0"/>
          </a:p>
        </p:txBody>
      </p:sp>
      <p:sp>
        <p:nvSpPr>
          <p:cNvPr id="4" name="Text 2"/>
          <p:cNvSpPr/>
          <p:nvPr/>
        </p:nvSpPr>
        <p:spPr>
          <a:xfrm>
            <a:off x="502920" y="1508760"/>
            <a:ext cx="5577840" cy="237744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Definition: a lookup table (embedding matrix) that maps every token ID to a dense, trainable vector of real numbers.</a:t>
            </a:r>
            <a:endParaRPr lang="en-US" sz="1250" dirty="0"/>
          </a:p>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Purpose: raw IDs carry no meaning by themselves — embeddings place tokens in a continuous space where semantically similar tokens end up with similar vectors.</a:t>
            </a:r>
            <a:endParaRPr lang="en-US" sz="1250" dirty="0"/>
          </a:p>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DeepSeek-V3 uses a hidden dimension of 7168 per token embedding.</a:t>
            </a:r>
            <a:endParaRPr lang="en-US" sz="1250" dirty="0"/>
          </a:p>
        </p:txBody>
      </p:sp>
      <p:sp>
        <p:nvSpPr>
          <p:cNvPr id="5" name="Text 3"/>
          <p:cNvSpPr/>
          <p:nvPr/>
        </p:nvSpPr>
        <p:spPr>
          <a:xfrm>
            <a:off x="502920" y="4023360"/>
            <a:ext cx="3657600" cy="256032"/>
          </a:xfrm>
          <a:prstGeom prst="rect">
            <a:avLst/>
          </a:prstGeom>
          <a:noFill/>
          <a:ln/>
        </p:spPr>
        <p:txBody>
          <a:bodyPr wrap="square" rtlCol="0" anchor="ctr"/>
          <a:lstStyle/>
          <a:p>
            <a:pPr indent="0" marL="0">
              <a:buNone/>
            </a:pPr>
            <a:r>
              <a:rPr lang="en-US" sz="1050" b="1" spc="150" kern="0" dirty="0">
                <a:solidFill>
                  <a:srgbClr val="0E93A6"/>
                </a:solidFill>
                <a:latin typeface="Calibri" pitchFamily="34" charset="0"/>
                <a:ea typeface="Calibri" pitchFamily="34" charset="-122"/>
                <a:cs typeface="Calibri" pitchFamily="34" charset="-120"/>
              </a:rPr>
              <a:t>EXAMPLE</a:t>
            </a:r>
            <a:endParaRPr lang="en-US" sz="1050" dirty="0"/>
          </a:p>
        </p:txBody>
      </p:sp>
      <p:sp>
        <p:nvSpPr>
          <p:cNvPr id="6" name="Shape 4"/>
          <p:cNvSpPr/>
          <p:nvPr/>
        </p:nvSpPr>
        <p:spPr>
          <a:xfrm>
            <a:off x="502920" y="4297680"/>
            <a:ext cx="5577840" cy="1737360"/>
          </a:xfrm>
          <a:prstGeom prst="roundRect">
            <a:avLst>
              <a:gd name="adj" fmla="val 4211"/>
            </a:avLst>
          </a:prstGeom>
          <a:solidFill>
            <a:srgbClr val="0B1442"/>
          </a:solidFill>
          <a:ln/>
        </p:spPr>
      </p:sp>
      <p:sp>
        <p:nvSpPr>
          <p:cNvPr id="7" name="Text 5"/>
          <p:cNvSpPr/>
          <p:nvPr/>
        </p:nvSpPr>
        <p:spPr>
          <a:xfrm>
            <a:off x="731520" y="4434840"/>
            <a:ext cx="5120640" cy="274320"/>
          </a:xfrm>
          <a:prstGeom prst="rect">
            <a:avLst/>
          </a:prstGeom>
          <a:noFill/>
          <a:ln/>
        </p:spPr>
        <p:txBody>
          <a:bodyPr wrap="square" lIns="0" tIns="0" rIns="0" bIns="0" rtlCol="0" anchor="ctr"/>
          <a:lstStyle/>
          <a:p>
            <a:pPr indent="0" marL="0">
              <a:buNone/>
            </a:pPr>
            <a:r>
              <a:rPr lang="en-US" sz="1200" dirty="0">
                <a:solidFill>
                  <a:srgbClr val="C7CFF5"/>
                </a:solidFill>
                <a:latin typeface="Calibri" pitchFamily="34" charset="0"/>
                <a:ea typeface="Calibri" pitchFamily="34" charset="-122"/>
                <a:cs typeface="Calibri" pitchFamily="34" charset="-120"/>
              </a:rPr>
              <a:t>Token "Art"  (ID 8241)</a:t>
            </a:r>
            <a:endParaRPr lang="en-US" sz="1200" dirty="0"/>
          </a:p>
        </p:txBody>
      </p:sp>
      <p:sp>
        <p:nvSpPr>
          <p:cNvPr id="8" name="Text 6"/>
          <p:cNvSpPr/>
          <p:nvPr/>
        </p:nvSpPr>
        <p:spPr>
          <a:xfrm>
            <a:off x="731520" y="4754880"/>
            <a:ext cx="5120640" cy="320040"/>
          </a:xfrm>
          <a:prstGeom prst="rect">
            <a:avLst/>
          </a:prstGeom>
          <a:noFill/>
          <a:ln/>
        </p:spPr>
        <p:txBody>
          <a:bodyPr wrap="square" lIns="0" tIns="0" rIns="0" bIns="0" rtlCol="0" anchor="ctr"/>
          <a:lstStyle/>
          <a:p>
            <a:pPr indent="0" marL="0">
              <a:buNone/>
            </a:pPr>
            <a:r>
              <a:rPr lang="en-US" sz="1200" dirty="0">
                <a:solidFill>
                  <a:srgbClr val="4FD8EB"/>
                </a:solidFill>
                <a:latin typeface="Courier New" pitchFamily="34" charset="0"/>
                <a:ea typeface="Courier New" pitchFamily="34" charset="-122"/>
                <a:cs typeface="Courier New" pitchFamily="34" charset="-120"/>
              </a:rPr>
              <a:t>→  [ 0.021, -0.183, 0.402, ... , 0.117 ]</a:t>
            </a:r>
            <a:endParaRPr lang="en-US" sz="1200" dirty="0"/>
          </a:p>
        </p:txBody>
      </p:sp>
      <p:sp>
        <p:nvSpPr>
          <p:cNvPr id="9" name="Text 7"/>
          <p:cNvSpPr/>
          <p:nvPr/>
        </p:nvSpPr>
        <p:spPr>
          <a:xfrm>
            <a:off x="731520" y="5166360"/>
            <a:ext cx="5120640" cy="274320"/>
          </a:xfrm>
          <a:prstGeom prst="rect">
            <a:avLst/>
          </a:prstGeom>
          <a:noFill/>
          <a:ln/>
        </p:spPr>
        <p:txBody>
          <a:bodyPr wrap="square" lIns="0" tIns="0" rIns="0" bIns="0" rtlCol="0" anchor="ctr"/>
          <a:lstStyle/>
          <a:p>
            <a:pPr indent="0" marL="0">
              <a:buNone/>
            </a:pPr>
            <a:r>
              <a:rPr lang="en-US" sz="950" i="1" dirty="0">
                <a:solidFill>
                  <a:srgbClr val="AEB8E8"/>
                </a:solidFill>
                <a:latin typeface="Calibri" pitchFamily="34" charset="0"/>
                <a:ea typeface="Calibri" pitchFamily="34" charset="-122"/>
                <a:cs typeface="Calibri" pitchFamily="34" charset="-120"/>
              </a:rPr>
              <a:t>a vector of length 7168 (DeepSeek-V3 hidden size)</a:t>
            </a:r>
            <a:endParaRPr lang="en-US" sz="950" dirty="0"/>
          </a:p>
        </p:txBody>
      </p:sp>
      <p:sp>
        <p:nvSpPr>
          <p:cNvPr id="10" name="Text 8"/>
          <p:cNvSpPr/>
          <p:nvPr/>
        </p:nvSpPr>
        <p:spPr>
          <a:xfrm>
            <a:off x="731520" y="5532120"/>
            <a:ext cx="5120640" cy="457200"/>
          </a:xfrm>
          <a:prstGeom prst="rect">
            <a:avLst/>
          </a:prstGeom>
          <a:noFill/>
          <a:ln/>
        </p:spPr>
        <p:txBody>
          <a:bodyPr wrap="square" lIns="0" tIns="0" rIns="0" bIns="0" rtlCol="0" anchor="ctr"/>
          <a:lstStyle/>
          <a:p>
            <a:pPr indent="0" marL="0">
              <a:lnSpc>
                <a:spcPct val="115000"/>
              </a:lnSpc>
              <a:buNone/>
            </a:pPr>
            <a:r>
              <a:rPr lang="en-US" sz="950" dirty="0">
                <a:solidFill>
                  <a:srgbClr val="AEB8E8"/>
                </a:solidFill>
                <a:latin typeface="Calibri" pitchFamily="34" charset="0"/>
                <a:ea typeface="Calibri" pitchFamily="34" charset="-122"/>
                <a:cs typeface="Calibri" pitchFamily="34" charset="-120"/>
              </a:rPr>
              <a:t>Advantage: captures semantic similarity (e.g. "king" and "queen" land close together).  Limitation: embedding table size grows with vocabulary × hidden-dimension, adding memory cost.</a:t>
            </a:r>
            <a:endParaRPr lang="en-US" sz="950" dirty="0"/>
          </a:p>
        </p:txBody>
      </p:sp>
      <p:sp>
        <p:nvSpPr>
          <p:cNvPr id="11" name="Shape 9"/>
          <p:cNvSpPr/>
          <p:nvPr/>
        </p:nvSpPr>
        <p:spPr>
          <a:xfrm>
            <a:off x="6446520" y="1508760"/>
            <a:ext cx="4846320" cy="2194560"/>
          </a:xfrm>
          <a:prstGeom prst="roundRect">
            <a:avLst>
              <a:gd name="adj" fmla="val 3750"/>
            </a:avLst>
          </a:prstGeom>
          <a:solidFill>
            <a:srgbClr val="FFFFFF"/>
          </a:solidFill>
          <a:ln w="12700">
            <a:solidFill>
              <a:srgbClr val="E1E5F5"/>
            </a:solidFill>
            <a:prstDash val="solid"/>
          </a:ln>
        </p:spPr>
      </p:sp>
      <p:sp>
        <p:nvSpPr>
          <p:cNvPr id="12" name="Text 10"/>
          <p:cNvSpPr/>
          <p:nvPr/>
        </p:nvSpPr>
        <p:spPr>
          <a:xfrm>
            <a:off x="6629400" y="1645920"/>
            <a:ext cx="4480560" cy="256032"/>
          </a:xfrm>
          <a:prstGeom prst="rect">
            <a:avLst/>
          </a:prstGeom>
          <a:noFill/>
          <a:ln/>
        </p:spPr>
        <p:txBody>
          <a:bodyPr wrap="square" rtlCol="0" anchor="ctr"/>
          <a:lstStyle/>
          <a:p>
            <a:pPr indent="0" marL="0">
              <a:buNone/>
            </a:pPr>
            <a:r>
              <a:rPr lang="en-US" sz="1000" b="1" dirty="0">
                <a:solidFill>
                  <a:srgbClr val="0E93A6"/>
                </a:solidFill>
                <a:latin typeface="Calibri" pitchFamily="34" charset="0"/>
                <a:ea typeface="Calibri" pitchFamily="34" charset="-122"/>
                <a:cs typeface="Calibri" pitchFamily="34" charset="-120"/>
              </a:rPr>
              <a:t>EMBEDDING MATRIX (Vocab × Hidden)</a:t>
            </a:r>
            <a:endParaRPr lang="en-US" sz="1000" dirty="0"/>
          </a:p>
        </p:txBody>
      </p:sp>
      <p:sp>
        <p:nvSpPr>
          <p:cNvPr id="13" name="Shape 11"/>
          <p:cNvSpPr/>
          <p:nvPr/>
        </p:nvSpPr>
        <p:spPr>
          <a:xfrm>
            <a:off x="6629400" y="1965960"/>
            <a:ext cx="4480560" cy="256032"/>
          </a:xfrm>
          <a:prstGeom prst="rect">
            <a:avLst/>
          </a:prstGeom>
          <a:solidFill>
            <a:srgbClr val="F7F8FE"/>
          </a:solidFill>
          <a:ln w="9525">
            <a:solidFill>
              <a:srgbClr val="E1E5F5"/>
            </a:solidFill>
            <a:prstDash val="solid"/>
          </a:ln>
        </p:spPr>
      </p:sp>
      <p:sp>
        <p:nvSpPr>
          <p:cNvPr id="14" name="Text 12"/>
          <p:cNvSpPr/>
          <p:nvPr/>
        </p:nvSpPr>
        <p:spPr>
          <a:xfrm>
            <a:off x="6766560" y="1965960"/>
            <a:ext cx="4206240" cy="256032"/>
          </a:xfrm>
          <a:prstGeom prst="rect">
            <a:avLst/>
          </a:prstGeom>
          <a:noFill/>
          <a:ln/>
        </p:spPr>
        <p:txBody>
          <a:bodyPr wrap="square" lIns="0" tIns="0" rIns="0" bIns="0" rtlCol="0" anchor="ctr"/>
          <a:lstStyle/>
          <a:p>
            <a:pPr indent="0" marL="0">
              <a:buNone/>
            </a:pPr>
            <a:r>
              <a:rPr lang="en-US" sz="950" dirty="0">
                <a:solidFill>
                  <a:srgbClr val="5B6480"/>
                </a:solidFill>
                <a:latin typeface="Courier New" pitchFamily="34" charset="0"/>
                <a:ea typeface="Courier New" pitchFamily="34" charset="-122"/>
                <a:cs typeface="Courier New" pitchFamily="34" charset="-120"/>
              </a:rPr>
              <a:t>ID 1000</a:t>
            </a:r>
            <a:endParaRPr lang="en-US" sz="950" dirty="0"/>
          </a:p>
        </p:txBody>
      </p:sp>
      <p:sp>
        <p:nvSpPr>
          <p:cNvPr id="15" name="Shape 13"/>
          <p:cNvSpPr/>
          <p:nvPr/>
        </p:nvSpPr>
        <p:spPr>
          <a:xfrm>
            <a:off x="6629400" y="2286000"/>
            <a:ext cx="4480560" cy="256032"/>
          </a:xfrm>
          <a:prstGeom prst="rect">
            <a:avLst/>
          </a:prstGeom>
          <a:solidFill>
            <a:srgbClr val="F7F8FE"/>
          </a:solidFill>
          <a:ln w="9525">
            <a:solidFill>
              <a:srgbClr val="E1E5F5"/>
            </a:solidFill>
            <a:prstDash val="solid"/>
          </a:ln>
        </p:spPr>
      </p:sp>
      <p:sp>
        <p:nvSpPr>
          <p:cNvPr id="16" name="Text 14"/>
          <p:cNvSpPr/>
          <p:nvPr/>
        </p:nvSpPr>
        <p:spPr>
          <a:xfrm>
            <a:off x="6766560" y="2286000"/>
            <a:ext cx="4206240" cy="256032"/>
          </a:xfrm>
          <a:prstGeom prst="rect">
            <a:avLst/>
          </a:prstGeom>
          <a:noFill/>
          <a:ln/>
        </p:spPr>
        <p:txBody>
          <a:bodyPr wrap="square" lIns="0" tIns="0" rIns="0" bIns="0" rtlCol="0" anchor="ctr"/>
          <a:lstStyle/>
          <a:p>
            <a:pPr indent="0" marL="0">
              <a:buNone/>
            </a:pPr>
            <a:r>
              <a:rPr lang="en-US" sz="950" dirty="0">
                <a:solidFill>
                  <a:srgbClr val="5B6480"/>
                </a:solidFill>
                <a:latin typeface="Courier New" pitchFamily="34" charset="0"/>
                <a:ea typeface="Courier New" pitchFamily="34" charset="-122"/>
                <a:cs typeface="Courier New" pitchFamily="34" charset="-120"/>
              </a:rPr>
              <a:t>ID 1731</a:t>
            </a:r>
            <a:endParaRPr lang="en-US" sz="950" dirty="0"/>
          </a:p>
        </p:txBody>
      </p:sp>
      <p:sp>
        <p:nvSpPr>
          <p:cNvPr id="17" name="Shape 15"/>
          <p:cNvSpPr/>
          <p:nvPr/>
        </p:nvSpPr>
        <p:spPr>
          <a:xfrm>
            <a:off x="6629400" y="2606040"/>
            <a:ext cx="4480560" cy="256032"/>
          </a:xfrm>
          <a:prstGeom prst="rect">
            <a:avLst/>
          </a:prstGeom>
          <a:solidFill>
            <a:srgbClr val="F1E9FF"/>
          </a:solidFill>
          <a:ln w="19050">
            <a:solidFill>
              <a:srgbClr val="6C3FC5"/>
            </a:solidFill>
            <a:prstDash val="solid"/>
          </a:ln>
        </p:spPr>
      </p:sp>
      <p:sp>
        <p:nvSpPr>
          <p:cNvPr id="18" name="Text 16"/>
          <p:cNvSpPr/>
          <p:nvPr/>
        </p:nvSpPr>
        <p:spPr>
          <a:xfrm>
            <a:off x="6766560" y="2606040"/>
            <a:ext cx="4206240" cy="256032"/>
          </a:xfrm>
          <a:prstGeom prst="rect">
            <a:avLst/>
          </a:prstGeom>
          <a:noFill/>
          <a:ln/>
        </p:spPr>
        <p:txBody>
          <a:bodyPr wrap="square" lIns="0" tIns="0" rIns="0" bIns="0" rtlCol="0" anchor="ctr"/>
          <a:lstStyle/>
          <a:p>
            <a:pPr indent="0" marL="0">
              <a:buNone/>
            </a:pPr>
            <a:r>
              <a:rPr lang="en-US" sz="950" b="1" dirty="0">
                <a:solidFill>
                  <a:srgbClr val="6C3FC5"/>
                </a:solidFill>
                <a:latin typeface="Courier New" pitchFamily="34" charset="0"/>
                <a:ea typeface="Courier New" pitchFamily="34" charset="-122"/>
                <a:cs typeface="Courier New" pitchFamily="34" charset="-120"/>
              </a:rPr>
              <a:t>ID 8241  →  row selected</a:t>
            </a:r>
            <a:endParaRPr lang="en-US" sz="950" dirty="0"/>
          </a:p>
        </p:txBody>
      </p:sp>
      <p:sp>
        <p:nvSpPr>
          <p:cNvPr id="19" name="Shape 17"/>
          <p:cNvSpPr/>
          <p:nvPr/>
        </p:nvSpPr>
        <p:spPr>
          <a:xfrm>
            <a:off x="6629400" y="2926080"/>
            <a:ext cx="4480560" cy="256032"/>
          </a:xfrm>
          <a:prstGeom prst="rect">
            <a:avLst/>
          </a:prstGeom>
          <a:solidFill>
            <a:srgbClr val="F7F8FE"/>
          </a:solidFill>
          <a:ln w="9525">
            <a:solidFill>
              <a:srgbClr val="E1E5F5"/>
            </a:solidFill>
            <a:prstDash val="solid"/>
          </a:ln>
        </p:spPr>
      </p:sp>
      <p:sp>
        <p:nvSpPr>
          <p:cNvPr id="20" name="Text 18"/>
          <p:cNvSpPr/>
          <p:nvPr/>
        </p:nvSpPr>
        <p:spPr>
          <a:xfrm>
            <a:off x="6766560" y="2926080"/>
            <a:ext cx="4206240" cy="256032"/>
          </a:xfrm>
          <a:prstGeom prst="rect">
            <a:avLst/>
          </a:prstGeom>
          <a:noFill/>
          <a:ln/>
        </p:spPr>
        <p:txBody>
          <a:bodyPr wrap="square" lIns="0" tIns="0" rIns="0" bIns="0" rtlCol="0" anchor="ctr"/>
          <a:lstStyle/>
          <a:p>
            <a:pPr indent="0" marL="0">
              <a:buNone/>
            </a:pPr>
            <a:r>
              <a:rPr lang="en-US" sz="950" dirty="0">
                <a:solidFill>
                  <a:srgbClr val="5B6480"/>
                </a:solidFill>
                <a:latin typeface="Courier New" pitchFamily="34" charset="0"/>
                <a:ea typeface="Courier New" pitchFamily="34" charset="-122"/>
                <a:cs typeface="Courier New" pitchFamily="34" charset="-120"/>
              </a:rPr>
              <a:t>ID 3193</a:t>
            </a:r>
            <a:endParaRPr lang="en-US" sz="950" dirty="0"/>
          </a:p>
        </p:txBody>
      </p:sp>
      <p:sp>
        <p:nvSpPr>
          <p:cNvPr id="21" name="Shape 19"/>
          <p:cNvSpPr/>
          <p:nvPr/>
        </p:nvSpPr>
        <p:spPr>
          <a:xfrm>
            <a:off x="6629400" y="3246120"/>
            <a:ext cx="4480560" cy="256032"/>
          </a:xfrm>
          <a:prstGeom prst="rect">
            <a:avLst/>
          </a:prstGeom>
          <a:solidFill>
            <a:srgbClr val="F7F8FE"/>
          </a:solidFill>
          <a:ln w="9525">
            <a:solidFill>
              <a:srgbClr val="E1E5F5"/>
            </a:solidFill>
            <a:prstDash val="solid"/>
          </a:ln>
        </p:spPr>
      </p:sp>
      <p:sp>
        <p:nvSpPr>
          <p:cNvPr id="22" name="Text 20"/>
          <p:cNvSpPr/>
          <p:nvPr/>
        </p:nvSpPr>
        <p:spPr>
          <a:xfrm>
            <a:off x="6766560" y="3246120"/>
            <a:ext cx="4206240" cy="256032"/>
          </a:xfrm>
          <a:prstGeom prst="rect">
            <a:avLst/>
          </a:prstGeom>
          <a:noFill/>
          <a:ln/>
        </p:spPr>
        <p:txBody>
          <a:bodyPr wrap="square" lIns="0" tIns="0" rIns="0" bIns="0" rtlCol="0" anchor="ctr"/>
          <a:lstStyle/>
          <a:p>
            <a:pPr indent="0" marL="0">
              <a:buNone/>
            </a:pPr>
            <a:r>
              <a:rPr lang="en-US" sz="950" dirty="0">
                <a:solidFill>
                  <a:srgbClr val="5B6480"/>
                </a:solidFill>
                <a:latin typeface="Courier New" pitchFamily="34" charset="0"/>
                <a:ea typeface="Courier New" pitchFamily="34" charset="-122"/>
                <a:cs typeface="Courier New" pitchFamily="34" charset="-120"/>
              </a:rPr>
              <a:t>ID 3924</a:t>
            </a:r>
            <a:endParaRPr lang="en-US" sz="950" dirty="0"/>
          </a:p>
        </p:txBody>
      </p:sp>
      <p:sp>
        <p:nvSpPr>
          <p:cNvPr id="23" name="Text 21"/>
          <p:cNvSpPr/>
          <p:nvPr/>
        </p:nvSpPr>
        <p:spPr>
          <a:xfrm>
            <a:off x="8705088" y="3749040"/>
            <a:ext cx="329184" cy="365760"/>
          </a:xfrm>
          <a:prstGeom prst="rect">
            <a:avLst/>
          </a:prstGeom>
          <a:noFill/>
          <a:ln/>
        </p:spPr>
        <p:txBody>
          <a:bodyPr wrap="square" rtlCol="0" anchor="ctr"/>
          <a:lstStyle/>
          <a:p>
            <a:pPr algn="ctr" indent="0" marL="0">
              <a:buNone/>
            </a:pPr>
            <a:r>
              <a:rPr lang="en-US" sz="1600" b="1" dirty="0">
                <a:solidFill>
                  <a:srgbClr val="0E93A6"/>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6446520" y="4160520"/>
            <a:ext cx="4846320" cy="914400"/>
          </a:xfrm>
          <a:prstGeom prst="roundRect">
            <a:avLst>
              <a:gd name="adj" fmla="val 9000"/>
            </a:avLst>
          </a:prstGeom>
          <a:solidFill>
            <a:srgbClr val="0B1442"/>
          </a:solidFill>
          <a:ln/>
          <a:effectLst>
            <a:outerShdw sx="100000" sy="100000" kx="0" ky="0" algn="bl" rotWithShape="0" blurRad="76200" dist="25400" dir="5400000">
              <a:srgbClr val="0B1442">
                <a:alpha val="18000"/>
              </a:srgbClr>
            </a:outerShdw>
          </a:effectLst>
        </p:spPr>
      </p:sp>
      <p:sp>
        <p:nvSpPr>
          <p:cNvPr id="25" name="Shape 23"/>
          <p:cNvSpPr/>
          <p:nvPr/>
        </p:nvSpPr>
        <p:spPr>
          <a:xfrm>
            <a:off x="6574536" y="4389120"/>
            <a:ext cx="457200" cy="457200"/>
          </a:xfrm>
          <a:prstGeom prst="ellipse">
            <a:avLst/>
          </a:prstGeom>
          <a:solidFill>
            <a:srgbClr val="4FD8EB"/>
          </a:solidFill>
          <a:ln/>
        </p:spPr>
      </p:sp>
      <p:sp>
        <p:nvSpPr>
          <p:cNvPr id="26" name="Text 24"/>
          <p:cNvSpPr/>
          <p:nvPr/>
        </p:nvSpPr>
        <p:spPr>
          <a:xfrm>
            <a:off x="6574536" y="4389120"/>
            <a:ext cx="457200" cy="457200"/>
          </a:xfrm>
          <a:prstGeom prst="rect">
            <a:avLst/>
          </a:prstGeom>
          <a:noFill/>
          <a:ln/>
        </p:spPr>
        <p:txBody>
          <a:bodyPr wrap="square" rtlCol="0" anchor="ctr"/>
          <a:lstStyle/>
          <a:p>
            <a:pPr algn="ctr" indent="0" marL="0">
              <a:buNone/>
            </a:pPr>
            <a:r>
              <a:rPr lang="en-US" sz="1500" b="1" dirty="0">
                <a:solidFill>
                  <a:srgbClr val="0B1442"/>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7141464" y="4251960"/>
            <a:ext cx="4023360" cy="502920"/>
          </a:xfrm>
          <a:prstGeom prst="rect">
            <a:avLst/>
          </a:prstGeom>
          <a:noFill/>
          <a:ln/>
        </p:spPr>
        <p:txBody>
          <a:bodyPr wrap="square" lIns="0" tIns="0" rIns="0" bIns="0"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Dense vector (length 7168)</a:t>
            </a:r>
            <a:endParaRPr lang="en-US" sz="1200" dirty="0"/>
          </a:p>
        </p:txBody>
      </p:sp>
      <p:sp>
        <p:nvSpPr>
          <p:cNvPr id="28" name="Text 26"/>
          <p:cNvSpPr/>
          <p:nvPr/>
        </p:nvSpPr>
        <p:spPr>
          <a:xfrm>
            <a:off x="7141464" y="4636008"/>
            <a:ext cx="4023360" cy="384048"/>
          </a:xfrm>
          <a:prstGeom prst="rect">
            <a:avLst/>
          </a:prstGeom>
          <a:noFill/>
          <a:ln/>
        </p:spPr>
        <p:txBody>
          <a:bodyPr wrap="square" lIns="0" tIns="0" rIns="0" bIns="0" rtlCol="0" anchor="t"/>
          <a:lstStyle/>
          <a:p>
            <a:pPr indent="0" marL="0">
              <a:buNone/>
            </a:pPr>
            <a:r>
              <a:rPr lang="en-US" sz="950" dirty="0">
                <a:solidFill>
                  <a:srgbClr val="AEB8E8"/>
                </a:solidFill>
                <a:latin typeface="Calibri" pitchFamily="34" charset="0"/>
                <a:ea typeface="Calibri" pitchFamily="34" charset="-122"/>
                <a:cs typeface="Calibri" pitchFamily="34" charset="-120"/>
              </a:rPr>
              <a:t>fed into positional encoding next</a:t>
            </a:r>
            <a:endParaRPr lang="en-US" sz="950" dirty="0"/>
          </a:p>
        </p:txBody>
      </p:sp>
      <p:sp>
        <p:nvSpPr>
          <p:cNvPr id="29" name="Text 27"/>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30" name="Text 28"/>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ALGORITHM 3 / 9</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Positional Encoding (RoPE)</a:t>
            </a:r>
            <a:endParaRPr lang="en-US" sz="3000" dirty="0"/>
          </a:p>
        </p:txBody>
      </p:sp>
      <p:sp>
        <p:nvSpPr>
          <p:cNvPr id="4" name="Text 2"/>
          <p:cNvSpPr/>
          <p:nvPr/>
        </p:nvSpPr>
        <p:spPr>
          <a:xfrm>
            <a:off x="502920" y="1508760"/>
            <a:ext cx="5577840" cy="274320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Problem: attention alone treats input as a bag of tokens — it has no notion of word order.</a:t>
            </a:r>
            <a:endParaRPr lang="en-US" sz="1250" dirty="0"/>
          </a:p>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DeepSeek uses Rotary Position Embedding (RoPE): each query/key vector is rotated by an angle proportional to its position in the sequence.</a:t>
            </a:r>
            <a:endParaRPr lang="en-US" sz="1250" dirty="0"/>
          </a:p>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Working: pairs of vector dimensions are treated as 2D coordinates and rotated by θ = position × frequency, so relative distance between tokens is naturally encoded in the dot product.</a:t>
            </a:r>
            <a:endParaRPr lang="en-US" sz="1250" dirty="0"/>
          </a:p>
        </p:txBody>
      </p:sp>
      <p:sp>
        <p:nvSpPr>
          <p:cNvPr id="5" name="Shape 3"/>
          <p:cNvSpPr/>
          <p:nvPr/>
        </p:nvSpPr>
        <p:spPr>
          <a:xfrm>
            <a:off x="502920" y="4343400"/>
            <a:ext cx="5577840" cy="1737360"/>
          </a:xfrm>
          <a:prstGeom prst="roundRect">
            <a:avLst>
              <a:gd name="adj" fmla="val 4211"/>
            </a:avLst>
          </a:prstGeom>
          <a:solidFill>
            <a:srgbClr val="0B1442"/>
          </a:solidFill>
          <a:ln/>
        </p:spPr>
      </p:sp>
      <p:sp>
        <p:nvSpPr>
          <p:cNvPr id="6" name="Text 4"/>
          <p:cNvSpPr/>
          <p:nvPr/>
        </p:nvSpPr>
        <p:spPr>
          <a:xfrm>
            <a:off x="731520" y="4480560"/>
            <a:ext cx="5120640" cy="256032"/>
          </a:xfrm>
          <a:prstGeom prst="rect">
            <a:avLst/>
          </a:prstGeom>
          <a:noFill/>
          <a:ln/>
        </p:spPr>
        <p:txBody>
          <a:bodyPr wrap="square" lIns="0" tIns="0" rIns="0" bIns="0" rtlCol="0" anchor="ctr"/>
          <a:lstStyle/>
          <a:p>
            <a:pPr indent="0" marL="0">
              <a:buNone/>
            </a:pPr>
            <a:r>
              <a:rPr lang="en-US" sz="1050" dirty="0">
                <a:solidFill>
                  <a:srgbClr val="AEB8E8"/>
                </a:solidFill>
                <a:latin typeface="Calibri" pitchFamily="34" charset="0"/>
                <a:ea typeface="Calibri" pitchFamily="34" charset="-122"/>
                <a:cs typeface="Calibri" pitchFamily="34" charset="-120"/>
              </a:rPr>
              <a:t>Formula (rotation applied to vector pairs):</a:t>
            </a:r>
            <a:endParaRPr lang="en-US" sz="1050" dirty="0"/>
          </a:p>
        </p:txBody>
      </p:sp>
      <p:sp>
        <p:nvSpPr>
          <p:cNvPr id="7" name="Text 5"/>
          <p:cNvSpPr/>
          <p:nvPr/>
        </p:nvSpPr>
        <p:spPr>
          <a:xfrm>
            <a:off x="731520" y="4800600"/>
            <a:ext cx="5120640" cy="365760"/>
          </a:xfrm>
          <a:prstGeom prst="rect">
            <a:avLst/>
          </a:prstGeom>
          <a:noFill/>
          <a:ln/>
        </p:spPr>
        <p:txBody>
          <a:bodyPr wrap="square" lIns="0" tIns="0" rIns="0" bIns="0" rtlCol="0" anchor="ctr"/>
          <a:lstStyle/>
          <a:p>
            <a:pPr indent="0" marL="0">
              <a:buNone/>
            </a:pPr>
            <a:r>
              <a:rPr lang="en-US" sz="1250" dirty="0">
                <a:solidFill>
                  <a:srgbClr val="4FD8EB"/>
                </a:solidFill>
                <a:latin typeface="Courier New" pitchFamily="34" charset="0"/>
                <a:ea typeface="Courier New" pitchFamily="34" charset="-122"/>
                <a:cs typeface="Courier New" pitchFamily="34" charset="-120"/>
              </a:rPr>
              <a:t>q'  =  q · cos(θ) + rotate(q) · sin(θ),     θ = pos / 10000^(2i/d)</a:t>
            </a:r>
            <a:endParaRPr lang="en-US" sz="1250" dirty="0"/>
          </a:p>
        </p:txBody>
      </p:sp>
      <p:sp>
        <p:nvSpPr>
          <p:cNvPr id="8" name="Text 6"/>
          <p:cNvSpPr/>
          <p:nvPr/>
        </p:nvSpPr>
        <p:spPr>
          <a:xfrm>
            <a:off x="731520" y="5257800"/>
            <a:ext cx="5120640" cy="685800"/>
          </a:xfrm>
          <a:prstGeom prst="rect">
            <a:avLst/>
          </a:prstGeom>
          <a:noFill/>
          <a:ln/>
        </p:spPr>
        <p:txBody>
          <a:bodyPr wrap="square" lIns="0" tIns="0" rIns="0" bIns="0" rtlCol="0" anchor="ctr"/>
          <a:lstStyle/>
          <a:p>
            <a:pPr indent="0" marL="0">
              <a:lnSpc>
                <a:spcPct val="115000"/>
              </a:lnSpc>
              <a:buNone/>
            </a:pPr>
            <a:r>
              <a:rPr lang="en-US" sz="950" dirty="0">
                <a:solidFill>
                  <a:srgbClr val="AEB8E8"/>
                </a:solidFill>
                <a:latin typeface="Calibri" pitchFamily="34" charset="0"/>
                <a:ea typeface="Calibri" pitchFamily="34" charset="-122"/>
                <a:cs typeface="Calibri" pitchFamily="34" charset="-120"/>
              </a:rPr>
              <a:t>Advantage: encodes relative position, generalizes well to longer sequences.  Limitation: adds computation per attention step and must match the training context length for best results.</a:t>
            </a:r>
            <a:endParaRPr lang="en-US" sz="950" dirty="0"/>
          </a:p>
        </p:txBody>
      </p:sp>
      <p:sp>
        <p:nvSpPr>
          <p:cNvPr id="9" name="Shape 7"/>
          <p:cNvSpPr/>
          <p:nvPr/>
        </p:nvSpPr>
        <p:spPr>
          <a:xfrm>
            <a:off x="6446520" y="1508760"/>
            <a:ext cx="4846320" cy="2743200"/>
          </a:xfrm>
          <a:prstGeom prst="roundRect">
            <a:avLst>
              <a:gd name="adj" fmla="val 3000"/>
            </a:avLst>
          </a:prstGeom>
          <a:solidFill>
            <a:srgbClr val="FFFFFF"/>
          </a:solidFill>
          <a:ln w="12700">
            <a:solidFill>
              <a:srgbClr val="E1E5F5"/>
            </a:solidFill>
            <a:prstDash val="solid"/>
          </a:ln>
        </p:spPr>
      </p:sp>
      <p:sp>
        <p:nvSpPr>
          <p:cNvPr id="10" name="Text 8"/>
          <p:cNvSpPr/>
          <p:nvPr/>
        </p:nvSpPr>
        <p:spPr>
          <a:xfrm>
            <a:off x="6629400" y="1645920"/>
            <a:ext cx="4480560" cy="237744"/>
          </a:xfrm>
          <a:prstGeom prst="rect">
            <a:avLst/>
          </a:prstGeom>
          <a:noFill/>
          <a:ln/>
        </p:spPr>
        <p:txBody>
          <a:bodyPr wrap="square" rtlCol="0" anchor="ctr"/>
          <a:lstStyle/>
          <a:p>
            <a:pPr indent="0" marL="0">
              <a:buNone/>
            </a:pPr>
            <a:r>
              <a:rPr lang="en-US" sz="950" b="1" dirty="0">
                <a:solidFill>
                  <a:srgbClr val="0E93A6"/>
                </a:solidFill>
                <a:latin typeface="Calibri" pitchFamily="34" charset="0"/>
                <a:ea typeface="Calibri" pitchFamily="34" charset="-122"/>
                <a:cs typeface="Calibri" pitchFamily="34" charset="-120"/>
              </a:rPr>
              <a:t>EACH POSITION → A DIFFERENT ROTATION</a:t>
            </a:r>
            <a:endParaRPr lang="en-US" sz="950" dirty="0"/>
          </a:p>
        </p:txBody>
      </p:sp>
      <p:sp>
        <p:nvSpPr>
          <p:cNvPr id="11" name="Shape 9"/>
          <p:cNvSpPr/>
          <p:nvPr/>
        </p:nvSpPr>
        <p:spPr>
          <a:xfrm>
            <a:off x="7909560" y="2011680"/>
            <a:ext cx="1920240" cy="1920240"/>
          </a:xfrm>
          <a:prstGeom prst="ellipse">
            <a:avLst/>
          </a:prstGeom>
          <a:solidFill>
            <a:srgbClr val="F7F8FE"/>
          </a:solidFill>
          <a:ln w="12700">
            <a:solidFill>
              <a:srgbClr val="E1E5F5"/>
            </a:solidFill>
            <a:prstDash val="solid"/>
          </a:ln>
        </p:spPr>
      </p:sp>
      <p:sp>
        <p:nvSpPr>
          <p:cNvPr id="12" name="Shape 10"/>
          <p:cNvSpPr/>
          <p:nvPr/>
        </p:nvSpPr>
        <p:spPr>
          <a:xfrm>
            <a:off x="8869680" y="2805077"/>
            <a:ext cx="945534" cy="166723"/>
          </a:xfrm>
          <a:prstGeom prst="line">
            <a:avLst/>
          </a:prstGeom>
          <a:noFill/>
          <a:ln w="28575">
            <a:solidFill>
              <a:srgbClr val="0E93A6"/>
            </a:solidFill>
            <a:prstDash val="solid"/>
          </a:ln>
        </p:spPr>
      </p:sp>
      <p:sp>
        <p:nvSpPr>
          <p:cNvPr id="13" name="Shape 11"/>
          <p:cNvSpPr/>
          <p:nvPr/>
        </p:nvSpPr>
        <p:spPr>
          <a:xfrm>
            <a:off x="8869680" y="2292893"/>
            <a:ext cx="678907" cy="678907"/>
          </a:xfrm>
          <a:prstGeom prst="line">
            <a:avLst/>
          </a:prstGeom>
          <a:noFill/>
          <a:ln w="28575">
            <a:solidFill>
              <a:srgbClr val="6C3FC5"/>
            </a:solidFill>
            <a:prstDash val="solid"/>
          </a:ln>
        </p:spPr>
      </p:sp>
      <p:sp>
        <p:nvSpPr>
          <p:cNvPr id="14" name="Shape 12"/>
          <p:cNvSpPr/>
          <p:nvPr/>
        </p:nvSpPr>
        <p:spPr>
          <a:xfrm>
            <a:off x="8869680" y="2011680"/>
            <a:ext cx="9144" cy="960120"/>
          </a:xfrm>
          <a:prstGeom prst="line">
            <a:avLst/>
          </a:prstGeom>
          <a:noFill/>
          <a:ln w="28575">
            <a:solidFill>
              <a:srgbClr val="E0793C"/>
            </a:solidFill>
            <a:prstDash val="solid"/>
          </a:ln>
        </p:spPr>
      </p:sp>
      <p:sp>
        <p:nvSpPr>
          <p:cNvPr id="15" name="Shape 13"/>
          <p:cNvSpPr/>
          <p:nvPr/>
        </p:nvSpPr>
        <p:spPr>
          <a:xfrm>
            <a:off x="8134185" y="2354647"/>
            <a:ext cx="735495" cy="617153"/>
          </a:xfrm>
          <a:prstGeom prst="line">
            <a:avLst/>
          </a:prstGeom>
          <a:noFill/>
          <a:ln w="28575">
            <a:solidFill>
              <a:srgbClr val="2E9E5B"/>
            </a:solidFill>
            <a:prstDash val="solid"/>
          </a:ln>
        </p:spPr>
      </p:sp>
      <p:sp>
        <p:nvSpPr>
          <p:cNvPr id="16" name="Text 14"/>
          <p:cNvSpPr/>
          <p:nvPr/>
        </p:nvSpPr>
        <p:spPr>
          <a:xfrm>
            <a:off x="6675120" y="4114800"/>
            <a:ext cx="4389120" cy="274320"/>
          </a:xfrm>
          <a:prstGeom prst="rect">
            <a:avLst/>
          </a:prstGeom>
          <a:noFill/>
          <a:ln/>
        </p:spPr>
        <p:txBody>
          <a:bodyPr wrap="square" lIns="0" tIns="0" rIns="0" bIns="0" rtlCol="0" anchor="ctr"/>
          <a:lstStyle/>
          <a:p>
            <a:pPr indent="0" marL="0">
              <a:buNone/>
            </a:pPr>
            <a:r>
              <a:rPr lang="en-US" sz="900" dirty="0">
                <a:solidFill>
                  <a:srgbClr val="5B6480"/>
                </a:solidFill>
                <a:latin typeface="Calibri" pitchFamily="34" charset="0"/>
                <a:ea typeface="Calibri" pitchFamily="34" charset="-122"/>
                <a:cs typeface="Calibri" pitchFamily="34" charset="-120"/>
              </a:rPr>
              <a:t>pos 1        pos 2        pos 3        pos 4</a:t>
            </a:r>
            <a:endParaRPr lang="en-US" sz="900" dirty="0"/>
          </a:p>
        </p:txBody>
      </p:sp>
      <p:sp>
        <p:nvSpPr>
          <p:cNvPr id="17" name="Text 15"/>
          <p:cNvSpPr/>
          <p:nvPr/>
        </p:nvSpPr>
        <p:spPr>
          <a:xfrm>
            <a:off x="6675120" y="4389120"/>
            <a:ext cx="4389120" cy="457200"/>
          </a:xfrm>
          <a:prstGeom prst="rect">
            <a:avLst/>
          </a:prstGeom>
          <a:noFill/>
          <a:ln/>
        </p:spPr>
        <p:txBody>
          <a:bodyPr wrap="square" lIns="0" tIns="0" rIns="0" bIns="0" rtlCol="0" anchor="ctr"/>
          <a:lstStyle/>
          <a:p>
            <a:pPr indent="0" marL="0">
              <a:buNone/>
            </a:pPr>
            <a:r>
              <a:rPr lang="en-US" sz="900" i="1" dirty="0">
                <a:solidFill>
                  <a:srgbClr val="5B6480"/>
                </a:solidFill>
                <a:latin typeface="Calibri" pitchFamily="34" charset="0"/>
                <a:ea typeface="Calibri" pitchFamily="34" charset="-122"/>
                <a:cs typeface="Calibri" pitchFamily="34" charset="-120"/>
              </a:rPr>
              <a:t>Vectors for later positions are rotated further — the model can recover how far apart two tokens are just from the angle between their vectors.</a:t>
            </a:r>
            <a:endParaRPr lang="en-US" sz="900" dirty="0"/>
          </a:p>
        </p:txBody>
      </p:sp>
      <p:sp>
        <p:nvSpPr>
          <p:cNvPr id="18" name="Text 16"/>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19" name="Text 17"/>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442"/>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4FD8EB"/>
                </a:solidFill>
                <a:latin typeface="Calibri" pitchFamily="34" charset="0"/>
                <a:ea typeface="Calibri" pitchFamily="34" charset="-122"/>
                <a:cs typeface="Calibri" pitchFamily="34" charset="-120"/>
              </a:rPr>
              <a:t>ALGORITHM 4 / 9</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Transformer Decoder Block</a:t>
            </a:r>
            <a:endParaRPr lang="en-US" sz="3000" dirty="0"/>
          </a:p>
        </p:txBody>
      </p:sp>
      <p:sp>
        <p:nvSpPr>
          <p:cNvPr id="4" name="Text 2"/>
          <p:cNvSpPr/>
          <p:nvPr/>
        </p:nvSpPr>
        <p:spPr>
          <a:xfrm>
            <a:off x="502920" y="1554480"/>
            <a:ext cx="4114800" cy="292608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00" dirty="0">
                <a:solidFill>
                  <a:srgbClr val="D8DCF4"/>
                </a:solidFill>
                <a:latin typeface="Calibri" pitchFamily="34" charset="0"/>
                <a:ea typeface="Calibri" pitchFamily="34" charset="-122"/>
                <a:cs typeface="Calibri" pitchFamily="34" charset="-120"/>
              </a:rPr>
              <a:t>DeepSeek-V3 stacks 61 decoder layers; each layer repeats the same block.</a:t>
            </a:r>
            <a:endParaRPr lang="en-US" sz="1200" dirty="0"/>
          </a:p>
          <a:p>
            <a:pPr marL="177800" indent="-177800">
              <a:lnSpc>
                <a:spcPct val="108000"/>
              </a:lnSpc>
              <a:spcAft>
                <a:spcPts val="1000"/>
              </a:spcAft>
              <a:buSzPct val="100000"/>
              <a:buChar char="●"/>
            </a:pPr>
            <a:r>
              <a:rPr lang="en-US" sz="1200" dirty="0">
                <a:solidFill>
                  <a:srgbClr val="D8DCF4"/>
                </a:solidFill>
                <a:latin typeface="Calibri" pitchFamily="34" charset="0"/>
                <a:ea typeface="Calibri" pitchFamily="34" charset="-122"/>
                <a:cs typeface="Calibri" pitchFamily="34" charset="-120"/>
              </a:rPr>
              <a:t>Masked (causal) attention: a token can only attend to itself and earlier tokens, never future ones — required for left-to-right generation.</a:t>
            </a:r>
            <a:endParaRPr lang="en-US" sz="1200" dirty="0"/>
          </a:p>
          <a:p>
            <a:pPr marL="177800" indent="-177800">
              <a:lnSpc>
                <a:spcPct val="108000"/>
              </a:lnSpc>
              <a:spcAft>
                <a:spcPts val="1000"/>
              </a:spcAft>
              <a:buSzPct val="100000"/>
              <a:buChar char="●"/>
            </a:pPr>
            <a:r>
              <a:rPr lang="en-US" sz="1200" dirty="0">
                <a:solidFill>
                  <a:srgbClr val="D8DCF4"/>
                </a:solidFill>
                <a:latin typeface="Calibri" pitchFamily="34" charset="0"/>
                <a:ea typeface="Calibri" pitchFamily="34" charset="-122"/>
                <a:cs typeface="Calibri" pitchFamily="34" charset="-120"/>
              </a:rPr>
              <a:t>Residual connections add each sub-layer's input back to its output, and Layer Normalization rescales activations — together these stabilize training in very deep stacks.</a:t>
            </a:r>
            <a:endParaRPr lang="en-US" sz="1200" dirty="0"/>
          </a:p>
        </p:txBody>
      </p:sp>
      <p:sp>
        <p:nvSpPr>
          <p:cNvPr id="5" name="Shape 3"/>
          <p:cNvSpPr/>
          <p:nvPr/>
        </p:nvSpPr>
        <p:spPr>
          <a:xfrm>
            <a:off x="4892040" y="1417320"/>
            <a:ext cx="4206240" cy="566928"/>
          </a:xfrm>
          <a:prstGeom prst="roundRect">
            <a:avLst>
              <a:gd name="adj" fmla="val 12903"/>
            </a:avLst>
          </a:prstGeom>
          <a:solidFill>
            <a:srgbClr val="16215C"/>
          </a:solidFill>
          <a:ln/>
          <a:effectLst>
            <a:outerShdw sx="100000" sy="100000" kx="0" ky="0" algn="bl" rotWithShape="0" blurRad="63500" dist="25400" dir="5400000">
              <a:srgbClr val="000000">
                <a:alpha val="25000"/>
              </a:srgbClr>
            </a:outerShdw>
          </a:effectLst>
        </p:spPr>
      </p:sp>
      <p:sp>
        <p:nvSpPr>
          <p:cNvPr id="6" name="Text 4"/>
          <p:cNvSpPr/>
          <p:nvPr/>
        </p:nvSpPr>
        <p:spPr>
          <a:xfrm>
            <a:off x="4892040" y="1417320"/>
            <a:ext cx="420624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Input (from previous layer)</a:t>
            </a:r>
            <a:endParaRPr lang="en-US" sz="1150" dirty="0"/>
          </a:p>
        </p:txBody>
      </p:sp>
      <p:sp>
        <p:nvSpPr>
          <p:cNvPr id="7" name="Text 5"/>
          <p:cNvSpPr/>
          <p:nvPr/>
        </p:nvSpPr>
        <p:spPr>
          <a:xfrm>
            <a:off x="6848856" y="1984248"/>
            <a:ext cx="292608" cy="201168"/>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8" name="Shape 6"/>
          <p:cNvSpPr/>
          <p:nvPr/>
        </p:nvSpPr>
        <p:spPr>
          <a:xfrm>
            <a:off x="4892040" y="2185416"/>
            <a:ext cx="4206240" cy="566928"/>
          </a:xfrm>
          <a:prstGeom prst="roundRect">
            <a:avLst>
              <a:gd name="adj" fmla="val 12903"/>
            </a:avLst>
          </a:prstGeom>
          <a:solidFill>
            <a:srgbClr val="6C3FC5"/>
          </a:solidFill>
          <a:ln/>
          <a:effectLst>
            <a:outerShdw sx="100000" sy="100000" kx="0" ky="0" algn="bl" rotWithShape="0" blurRad="63500" dist="25400" dir="5400000">
              <a:srgbClr val="000000">
                <a:alpha val="25000"/>
              </a:srgbClr>
            </a:outerShdw>
          </a:effectLst>
        </p:spPr>
      </p:sp>
      <p:sp>
        <p:nvSpPr>
          <p:cNvPr id="9" name="Text 7"/>
          <p:cNvSpPr/>
          <p:nvPr/>
        </p:nvSpPr>
        <p:spPr>
          <a:xfrm>
            <a:off x="4892040" y="2185416"/>
            <a:ext cx="420624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Layer Norm</a:t>
            </a:r>
            <a:endParaRPr lang="en-US" sz="1150" dirty="0"/>
          </a:p>
        </p:txBody>
      </p:sp>
      <p:sp>
        <p:nvSpPr>
          <p:cNvPr id="10" name="Text 8"/>
          <p:cNvSpPr/>
          <p:nvPr/>
        </p:nvSpPr>
        <p:spPr>
          <a:xfrm>
            <a:off x="6848856" y="2752344"/>
            <a:ext cx="292608" cy="201168"/>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4892040" y="2953512"/>
            <a:ext cx="4206240" cy="566928"/>
          </a:xfrm>
          <a:prstGeom prst="roundRect">
            <a:avLst>
              <a:gd name="adj" fmla="val 12903"/>
            </a:avLst>
          </a:prstGeom>
          <a:solidFill>
            <a:srgbClr val="0E93A6"/>
          </a:solidFill>
          <a:ln/>
          <a:effectLst>
            <a:outerShdw sx="100000" sy="100000" kx="0" ky="0" algn="bl" rotWithShape="0" blurRad="63500" dist="25400" dir="5400000">
              <a:srgbClr val="000000">
                <a:alpha val="25000"/>
              </a:srgbClr>
            </a:outerShdw>
          </a:effectLst>
        </p:spPr>
      </p:sp>
      <p:sp>
        <p:nvSpPr>
          <p:cNvPr id="12" name="Text 10"/>
          <p:cNvSpPr/>
          <p:nvPr/>
        </p:nvSpPr>
        <p:spPr>
          <a:xfrm>
            <a:off x="4892040" y="2953512"/>
            <a:ext cx="420624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Multi-head Latent Attention (masked)</a:t>
            </a:r>
            <a:endParaRPr lang="en-US" sz="1150" dirty="0"/>
          </a:p>
        </p:txBody>
      </p:sp>
      <p:sp>
        <p:nvSpPr>
          <p:cNvPr id="13" name="Text 11"/>
          <p:cNvSpPr/>
          <p:nvPr/>
        </p:nvSpPr>
        <p:spPr>
          <a:xfrm>
            <a:off x="6848856" y="3520440"/>
            <a:ext cx="292608" cy="201168"/>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14" name="Shape 12"/>
          <p:cNvSpPr/>
          <p:nvPr/>
        </p:nvSpPr>
        <p:spPr>
          <a:xfrm>
            <a:off x="4892040" y="3721608"/>
            <a:ext cx="4206240" cy="566928"/>
          </a:xfrm>
          <a:prstGeom prst="roundRect">
            <a:avLst>
              <a:gd name="adj" fmla="val 12903"/>
            </a:avLst>
          </a:prstGeom>
          <a:solidFill>
            <a:srgbClr val="6C3FC5"/>
          </a:solidFill>
          <a:ln/>
          <a:effectLst>
            <a:outerShdw sx="100000" sy="100000" kx="0" ky="0" algn="bl" rotWithShape="0" blurRad="63500" dist="25400" dir="5400000">
              <a:srgbClr val="000000">
                <a:alpha val="25000"/>
              </a:srgbClr>
            </a:outerShdw>
          </a:effectLst>
        </p:spPr>
      </p:sp>
      <p:sp>
        <p:nvSpPr>
          <p:cNvPr id="15" name="Text 13"/>
          <p:cNvSpPr/>
          <p:nvPr/>
        </p:nvSpPr>
        <p:spPr>
          <a:xfrm>
            <a:off x="4892040" y="3721608"/>
            <a:ext cx="420624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Residual Add</a:t>
            </a:r>
            <a:endParaRPr lang="en-US" sz="1150" dirty="0"/>
          </a:p>
        </p:txBody>
      </p:sp>
      <p:sp>
        <p:nvSpPr>
          <p:cNvPr id="16" name="Text 14"/>
          <p:cNvSpPr/>
          <p:nvPr/>
        </p:nvSpPr>
        <p:spPr>
          <a:xfrm>
            <a:off x="6848856" y="4288536"/>
            <a:ext cx="292608" cy="201168"/>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4892040" y="4489704"/>
            <a:ext cx="4206240" cy="566928"/>
          </a:xfrm>
          <a:prstGeom prst="roundRect">
            <a:avLst>
              <a:gd name="adj" fmla="val 12903"/>
            </a:avLst>
          </a:prstGeom>
          <a:solidFill>
            <a:srgbClr val="6C3FC5"/>
          </a:solidFill>
          <a:ln/>
          <a:effectLst>
            <a:outerShdw sx="100000" sy="100000" kx="0" ky="0" algn="bl" rotWithShape="0" blurRad="63500" dist="25400" dir="5400000">
              <a:srgbClr val="000000">
                <a:alpha val="25000"/>
              </a:srgbClr>
            </a:outerShdw>
          </a:effectLst>
        </p:spPr>
      </p:sp>
      <p:sp>
        <p:nvSpPr>
          <p:cNvPr id="18" name="Text 16"/>
          <p:cNvSpPr/>
          <p:nvPr/>
        </p:nvSpPr>
        <p:spPr>
          <a:xfrm>
            <a:off x="4892040" y="4489704"/>
            <a:ext cx="420624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Layer Norm</a:t>
            </a:r>
            <a:endParaRPr lang="en-US" sz="1150" dirty="0"/>
          </a:p>
        </p:txBody>
      </p:sp>
      <p:sp>
        <p:nvSpPr>
          <p:cNvPr id="19" name="Text 17"/>
          <p:cNvSpPr/>
          <p:nvPr/>
        </p:nvSpPr>
        <p:spPr>
          <a:xfrm>
            <a:off x="6848856" y="5056632"/>
            <a:ext cx="292608" cy="201168"/>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4892040" y="5257800"/>
            <a:ext cx="4206240" cy="566928"/>
          </a:xfrm>
          <a:prstGeom prst="roundRect">
            <a:avLst>
              <a:gd name="adj" fmla="val 12903"/>
            </a:avLst>
          </a:prstGeom>
          <a:solidFill>
            <a:srgbClr val="0E93A6"/>
          </a:solidFill>
          <a:ln/>
          <a:effectLst>
            <a:outerShdw sx="100000" sy="100000" kx="0" ky="0" algn="bl" rotWithShape="0" blurRad="63500" dist="25400" dir="5400000">
              <a:srgbClr val="000000">
                <a:alpha val="25000"/>
              </a:srgbClr>
            </a:outerShdw>
          </a:effectLst>
        </p:spPr>
      </p:sp>
      <p:sp>
        <p:nvSpPr>
          <p:cNvPr id="21" name="Text 19"/>
          <p:cNvSpPr/>
          <p:nvPr/>
        </p:nvSpPr>
        <p:spPr>
          <a:xfrm>
            <a:off x="4892040" y="5257800"/>
            <a:ext cx="420624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DeepSeekMoE Feed-Forward</a:t>
            </a:r>
            <a:endParaRPr lang="en-US" sz="1150" dirty="0"/>
          </a:p>
        </p:txBody>
      </p:sp>
      <p:sp>
        <p:nvSpPr>
          <p:cNvPr id="22" name="Text 20"/>
          <p:cNvSpPr/>
          <p:nvPr/>
        </p:nvSpPr>
        <p:spPr>
          <a:xfrm>
            <a:off x="6848856" y="5824728"/>
            <a:ext cx="292608" cy="201168"/>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4892040" y="6025896"/>
            <a:ext cx="4206240" cy="566928"/>
          </a:xfrm>
          <a:prstGeom prst="roundRect">
            <a:avLst>
              <a:gd name="adj" fmla="val 12903"/>
            </a:avLst>
          </a:prstGeom>
          <a:solidFill>
            <a:srgbClr val="6C3FC5"/>
          </a:solidFill>
          <a:ln/>
          <a:effectLst>
            <a:outerShdw sx="100000" sy="100000" kx="0" ky="0" algn="bl" rotWithShape="0" blurRad="63500" dist="25400" dir="5400000">
              <a:srgbClr val="000000">
                <a:alpha val="25000"/>
              </a:srgbClr>
            </a:outerShdw>
          </a:effectLst>
        </p:spPr>
      </p:sp>
      <p:sp>
        <p:nvSpPr>
          <p:cNvPr id="24" name="Text 22"/>
          <p:cNvSpPr/>
          <p:nvPr/>
        </p:nvSpPr>
        <p:spPr>
          <a:xfrm>
            <a:off x="4892040" y="6025896"/>
            <a:ext cx="420624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Residual Add</a:t>
            </a:r>
            <a:endParaRPr lang="en-US" sz="1150" dirty="0"/>
          </a:p>
        </p:txBody>
      </p:sp>
      <p:sp>
        <p:nvSpPr>
          <p:cNvPr id="25" name="Text 23"/>
          <p:cNvSpPr/>
          <p:nvPr/>
        </p:nvSpPr>
        <p:spPr>
          <a:xfrm>
            <a:off x="6848856" y="6592824"/>
            <a:ext cx="292608" cy="201168"/>
          </a:xfrm>
          <a:prstGeom prst="rect">
            <a:avLst/>
          </a:prstGeom>
          <a:noFill/>
          <a:ln/>
        </p:spPr>
        <p:txBody>
          <a:bodyPr wrap="square" rtlCol="0" anchor="ctr"/>
          <a:lstStyle/>
          <a:p>
            <a:pPr algn="ctr" indent="0" marL="0">
              <a:buNone/>
            </a:pPr>
            <a:r>
              <a:rPr lang="en-US" sz="1200" b="1" dirty="0">
                <a:solidFill>
                  <a:srgbClr val="4FD8EB"/>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892040" y="6793992"/>
            <a:ext cx="4206240" cy="566928"/>
          </a:xfrm>
          <a:prstGeom prst="roundRect">
            <a:avLst>
              <a:gd name="adj" fmla="val 12903"/>
            </a:avLst>
          </a:prstGeom>
          <a:solidFill>
            <a:srgbClr val="16215C"/>
          </a:solidFill>
          <a:ln/>
          <a:effectLst>
            <a:outerShdw sx="100000" sy="100000" kx="0" ky="0" algn="bl" rotWithShape="0" blurRad="63500" dist="25400" dir="5400000">
              <a:srgbClr val="000000">
                <a:alpha val="25000"/>
              </a:srgbClr>
            </a:outerShdw>
          </a:effectLst>
        </p:spPr>
      </p:sp>
      <p:sp>
        <p:nvSpPr>
          <p:cNvPr id="27" name="Text 25"/>
          <p:cNvSpPr/>
          <p:nvPr/>
        </p:nvSpPr>
        <p:spPr>
          <a:xfrm>
            <a:off x="4892040" y="6793992"/>
            <a:ext cx="420624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Output → next layer</a:t>
            </a:r>
            <a:endParaRPr lang="en-US" sz="1150" dirty="0"/>
          </a:p>
        </p:txBody>
      </p:sp>
      <p:sp>
        <p:nvSpPr>
          <p:cNvPr id="28" name="Shape 26"/>
          <p:cNvSpPr/>
          <p:nvPr/>
        </p:nvSpPr>
        <p:spPr>
          <a:xfrm>
            <a:off x="9235440" y="1700784"/>
            <a:ext cx="914" cy="5093208"/>
          </a:xfrm>
          <a:prstGeom prst="line">
            <a:avLst/>
          </a:prstGeom>
          <a:noFill/>
          <a:ln w="19050">
            <a:solidFill>
              <a:srgbClr val="4FD8EB"/>
            </a:solidFill>
            <a:prstDash val="dash"/>
          </a:ln>
        </p:spPr>
      </p:sp>
      <p:sp>
        <p:nvSpPr>
          <p:cNvPr id="29" name="Text 27"/>
          <p:cNvSpPr/>
          <p:nvPr/>
        </p:nvSpPr>
        <p:spPr>
          <a:xfrm>
            <a:off x="9144000" y="4352544"/>
            <a:ext cx="457200" cy="274320"/>
          </a:xfrm>
          <a:prstGeom prst="rect">
            <a:avLst/>
          </a:prstGeom>
          <a:noFill/>
          <a:ln/>
        </p:spPr>
        <p:txBody>
          <a:bodyPr wrap="square" rtlCol="0" anchor="ctr"/>
          <a:lstStyle/>
          <a:p>
            <a:pPr indent="0" marL="0">
              <a:buNone/>
            </a:pPr>
            <a:r>
              <a:rPr lang="en-US" sz="1200" b="1" dirty="0">
                <a:solidFill>
                  <a:srgbClr val="4FD8EB"/>
                </a:solidFill>
                <a:latin typeface="Calibri" pitchFamily="34" charset="0"/>
                <a:ea typeface="Calibri" pitchFamily="34" charset="-122"/>
                <a:cs typeface="Calibri" pitchFamily="34" charset="-120"/>
              </a:rPr>
              <a:t>× 61</a:t>
            </a:r>
            <a:endParaRPr lang="en-US" sz="1200" dirty="0"/>
          </a:p>
        </p:txBody>
      </p:sp>
      <p:sp>
        <p:nvSpPr>
          <p:cNvPr id="30" name="Text 28"/>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8891C4"/>
                </a:solidFill>
                <a:latin typeface="Calibri" pitchFamily="34" charset="0"/>
                <a:ea typeface="Calibri" pitchFamily="34" charset="-122"/>
                <a:cs typeface="Calibri" pitchFamily="34" charset="-120"/>
              </a:rPr>
              <a:t>DEEPSEEK AI MODEL  |  AI ENGINEERING SEMINAR</a:t>
            </a:r>
            <a:endParaRPr lang="en-US" sz="900" dirty="0"/>
          </a:p>
        </p:txBody>
      </p:sp>
      <p:sp>
        <p:nvSpPr>
          <p:cNvPr id="31" name="Text 29"/>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8891C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ALGORITHM 5 / 9</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Multi-head Latent Attention (Self-Attention)</a:t>
            </a:r>
            <a:endParaRPr lang="en-US" sz="3000" dirty="0"/>
          </a:p>
        </p:txBody>
      </p:sp>
      <p:sp>
        <p:nvSpPr>
          <p:cNvPr id="4" name="Text 2"/>
          <p:cNvSpPr/>
          <p:nvPr/>
        </p:nvSpPr>
        <p:spPr>
          <a:xfrm>
            <a:off x="502920" y="1508760"/>
            <a:ext cx="5394960" cy="329184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00" dirty="0">
                <a:solidFill>
                  <a:srgbClr val="121A3A"/>
                </a:solidFill>
                <a:latin typeface="Calibri" pitchFamily="34" charset="0"/>
                <a:ea typeface="Calibri" pitchFamily="34" charset="-122"/>
                <a:cs typeface="Calibri" pitchFamily="34" charset="-120"/>
              </a:rPr>
              <a:t>Working principle: every token produces a Query (Q), Key (K) and Value (V) vector. Attention score = how much one token should focus on another, from the dot product of Q and K.</a:t>
            </a:r>
            <a:endParaRPr lang="en-US" sz="1200" dirty="0"/>
          </a:p>
          <a:p>
            <a:pPr marL="177800" indent="-177800">
              <a:lnSpc>
                <a:spcPct val="108000"/>
              </a:lnSpc>
              <a:spcAft>
                <a:spcPts val="1000"/>
              </a:spcAft>
              <a:buSzPct val="100000"/>
              <a:buChar char="●"/>
            </a:pPr>
            <a:r>
              <a:rPr lang="en-US" sz="1200" dirty="0">
                <a:solidFill>
                  <a:srgbClr val="121A3A"/>
                </a:solidFill>
                <a:latin typeface="Calibri" pitchFamily="34" charset="0"/>
                <a:ea typeface="Calibri" pitchFamily="34" charset="-122"/>
                <a:cs typeface="Calibri" pitchFamily="34" charset="-120"/>
              </a:rPr>
              <a:t>Scores are scaled and passed through softmax to get attention weights that sum to 1; the output is a weighted sum of all Value vectors.</a:t>
            </a:r>
            <a:endParaRPr lang="en-US" sz="1200" dirty="0"/>
          </a:p>
          <a:p>
            <a:pPr marL="177800" indent="-177800">
              <a:lnSpc>
                <a:spcPct val="108000"/>
              </a:lnSpc>
              <a:spcAft>
                <a:spcPts val="1000"/>
              </a:spcAft>
              <a:buSzPct val="100000"/>
              <a:buChar char="●"/>
            </a:pPr>
            <a:r>
              <a:rPr lang="en-US" sz="1200" dirty="0">
                <a:solidFill>
                  <a:srgbClr val="121A3A"/>
                </a:solidFill>
                <a:latin typeface="Calibri" pitchFamily="34" charset="0"/>
                <a:ea typeface="Calibri" pitchFamily="34" charset="-122"/>
                <a:cs typeface="Calibri" pitchFamily="34" charset="-120"/>
              </a:rPr>
              <a:t>MLA's twist: instead of caching full-size K/V per head, DeepSeek compresses K and V into a small shared latent vector, then up-projects when needed — shrinking the KV-cache dramatically for long-context inference.</a:t>
            </a:r>
            <a:endParaRPr lang="en-US" sz="1200" dirty="0"/>
          </a:p>
        </p:txBody>
      </p:sp>
      <p:sp>
        <p:nvSpPr>
          <p:cNvPr id="5" name="Shape 3"/>
          <p:cNvSpPr/>
          <p:nvPr/>
        </p:nvSpPr>
        <p:spPr>
          <a:xfrm>
            <a:off x="502920" y="4892040"/>
            <a:ext cx="5394960" cy="1234440"/>
          </a:xfrm>
          <a:prstGeom prst="roundRect">
            <a:avLst>
              <a:gd name="adj" fmla="val 5926"/>
            </a:avLst>
          </a:prstGeom>
          <a:solidFill>
            <a:srgbClr val="0B1442"/>
          </a:solidFill>
          <a:ln/>
        </p:spPr>
      </p:sp>
      <p:sp>
        <p:nvSpPr>
          <p:cNvPr id="6" name="Text 4"/>
          <p:cNvSpPr/>
          <p:nvPr/>
        </p:nvSpPr>
        <p:spPr>
          <a:xfrm>
            <a:off x="731520" y="5074920"/>
            <a:ext cx="4937760" cy="365760"/>
          </a:xfrm>
          <a:prstGeom prst="rect">
            <a:avLst/>
          </a:prstGeom>
          <a:noFill/>
          <a:ln/>
        </p:spPr>
        <p:txBody>
          <a:bodyPr wrap="square" lIns="0" tIns="0" rIns="0" bIns="0" rtlCol="0" anchor="ctr"/>
          <a:lstStyle/>
          <a:p>
            <a:pPr indent="0" marL="0">
              <a:buNone/>
            </a:pPr>
            <a:r>
              <a:rPr lang="en-US" sz="1300" dirty="0">
                <a:solidFill>
                  <a:srgbClr val="4FD8EB"/>
                </a:solidFill>
                <a:latin typeface="Courier New" pitchFamily="34" charset="0"/>
                <a:ea typeface="Courier New" pitchFamily="34" charset="-122"/>
                <a:cs typeface="Courier New" pitchFamily="34" charset="-120"/>
              </a:rPr>
              <a:t>Attention(Q,K,V) = softmax( Q·Kᵀ / √d ) · V</a:t>
            </a:r>
            <a:endParaRPr lang="en-US" sz="1300" dirty="0"/>
          </a:p>
        </p:txBody>
      </p:sp>
      <p:sp>
        <p:nvSpPr>
          <p:cNvPr id="7" name="Text 5"/>
          <p:cNvSpPr/>
          <p:nvPr/>
        </p:nvSpPr>
        <p:spPr>
          <a:xfrm>
            <a:off x="731520" y="5440680"/>
            <a:ext cx="4937760" cy="548640"/>
          </a:xfrm>
          <a:prstGeom prst="rect">
            <a:avLst/>
          </a:prstGeom>
          <a:noFill/>
          <a:ln/>
        </p:spPr>
        <p:txBody>
          <a:bodyPr wrap="square" lIns="0" tIns="0" rIns="0" bIns="0" rtlCol="0" anchor="ctr"/>
          <a:lstStyle/>
          <a:p>
            <a:pPr indent="0" marL="0">
              <a:buNone/>
            </a:pPr>
            <a:r>
              <a:rPr lang="en-US" sz="950" i="1" dirty="0">
                <a:solidFill>
                  <a:srgbClr val="AEB8E8"/>
                </a:solidFill>
                <a:latin typeface="Calibri" pitchFamily="34" charset="0"/>
                <a:ea typeface="Calibri" pitchFamily="34" charset="-122"/>
                <a:cs typeface="Calibri" pitchFamily="34" charset="-120"/>
              </a:rPr>
              <a:t>d = key dimension (scaling avoids overly sharp softmax gradients)</a:t>
            </a:r>
            <a:endParaRPr lang="en-US" sz="950" dirty="0"/>
          </a:p>
        </p:txBody>
      </p:sp>
      <p:sp>
        <p:nvSpPr>
          <p:cNvPr id="8" name="Shape 6"/>
          <p:cNvSpPr/>
          <p:nvPr/>
        </p:nvSpPr>
        <p:spPr>
          <a:xfrm>
            <a:off x="6492240" y="1508760"/>
            <a:ext cx="4800600" cy="4572000"/>
          </a:xfrm>
          <a:prstGeom prst="roundRect">
            <a:avLst>
              <a:gd name="adj" fmla="val 1800"/>
            </a:avLst>
          </a:prstGeom>
          <a:solidFill>
            <a:srgbClr val="FFFFFF"/>
          </a:solidFill>
          <a:ln w="12700">
            <a:solidFill>
              <a:srgbClr val="E1E5F5"/>
            </a:solidFill>
            <a:prstDash val="solid"/>
          </a:ln>
        </p:spPr>
      </p:sp>
      <p:sp>
        <p:nvSpPr>
          <p:cNvPr id="9" name="Text 7"/>
          <p:cNvSpPr/>
          <p:nvPr/>
        </p:nvSpPr>
        <p:spPr>
          <a:xfrm>
            <a:off x="6675120" y="1645920"/>
            <a:ext cx="4434840" cy="237744"/>
          </a:xfrm>
          <a:prstGeom prst="rect">
            <a:avLst/>
          </a:prstGeom>
          <a:noFill/>
          <a:ln/>
        </p:spPr>
        <p:txBody>
          <a:bodyPr wrap="square" rtlCol="0" anchor="ctr"/>
          <a:lstStyle/>
          <a:p>
            <a:pPr indent="0" marL="0">
              <a:buNone/>
            </a:pPr>
            <a:r>
              <a:rPr lang="en-US" sz="950" b="1" dirty="0">
                <a:solidFill>
                  <a:srgbClr val="0E93A6"/>
                </a:solidFill>
                <a:latin typeface="Calibri" pitchFamily="34" charset="0"/>
                <a:ea typeface="Calibri" pitchFamily="34" charset="-122"/>
                <a:cs typeface="Calibri" pitchFamily="34" charset="-120"/>
              </a:rPr>
              <a:t>EVERY WORD ATTENDS TO EVERY OTHER WORD</a:t>
            </a:r>
            <a:endParaRPr lang="en-US" sz="950" dirty="0"/>
          </a:p>
        </p:txBody>
      </p:sp>
      <p:sp>
        <p:nvSpPr>
          <p:cNvPr id="10" name="Text 8"/>
          <p:cNvSpPr/>
          <p:nvPr/>
        </p:nvSpPr>
        <p:spPr>
          <a:xfrm>
            <a:off x="6629400" y="2148840"/>
            <a:ext cx="1234440" cy="713232"/>
          </a:xfrm>
          <a:prstGeom prst="rect">
            <a:avLst/>
          </a:prstGeom>
          <a:noFill/>
          <a:ln/>
        </p:spPr>
        <p:txBody>
          <a:bodyPr wrap="square" lIns="0" tIns="0" rIns="0" bIns="0" rtlCol="0" anchor="ctr"/>
          <a:lstStyle/>
          <a:p>
            <a:pPr algn="r" indent="0" marL="0">
              <a:buNone/>
            </a:pPr>
            <a:r>
              <a:rPr lang="en-US" sz="950" dirty="0">
                <a:solidFill>
                  <a:srgbClr val="121A3A"/>
                </a:solidFill>
                <a:latin typeface="Calibri" pitchFamily="34" charset="0"/>
                <a:ea typeface="Calibri" pitchFamily="34" charset="-122"/>
                <a:cs typeface="Calibri" pitchFamily="34" charset="-120"/>
              </a:rPr>
              <a:t>Artificial</a:t>
            </a:r>
            <a:endParaRPr lang="en-US" sz="950" dirty="0"/>
          </a:p>
        </p:txBody>
      </p:sp>
      <p:sp>
        <p:nvSpPr>
          <p:cNvPr id="11" name="Text 9"/>
          <p:cNvSpPr/>
          <p:nvPr/>
        </p:nvSpPr>
        <p:spPr>
          <a:xfrm rot="19200000">
            <a:off x="7635240" y="1764792"/>
            <a:ext cx="1261872" cy="365760"/>
          </a:xfrm>
          <a:prstGeom prst="rect">
            <a:avLst/>
          </a:prstGeom>
          <a:noFill/>
          <a:ln/>
        </p:spPr>
        <p:txBody>
          <a:bodyPr wrap="square" lIns="0" tIns="0" rIns="0" bIns="0" rtlCol="0" anchor="ctr"/>
          <a:lstStyle/>
          <a:p>
            <a:pPr algn="ctr" indent="0" marL="0">
              <a:buNone/>
            </a:pPr>
            <a:r>
              <a:rPr lang="en-US" sz="800" dirty="0">
                <a:solidFill>
                  <a:srgbClr val="121A3A"/>
                </a:solidFill>
                <a:latin typeface="Calibri" pitchFamily="34" charset="0"/>
                <a:ea typeface="Calibri" pitchFamily="34" charset="-122"/>
                <a:cs typeface="Calibri" pitchFamily="34" charset="-120"/>
              </a:rPr>
              <a:t>Artificial</a:t>
            </a:r>
            <a:endParaRPr lang="en-US" sz="800" dirty="0"/>
          </a:p>
        </p:txBody>
      </p:sp>
      <p:sp>
        <p:nvSpPr>
          <p:cNvPr id="12" name="Text 10"/>
          <p:cNvSpPr/>
          <p:nvPr/>
        </p:nvSpPr>
        <p:spPr>
          <a:xfrm>
            <a:off x="6629400" y="2862072"/>
            <a:ext cx="1234440" cy="713232"/>
          </a:xfrm>
          <a:prstGeom prst="rect">
            <a:avLst/>
          </a:prstGeom>
          <a:noFill/>
          <a:ln/>
        </p:spPr>
        <p:txBody>
          <a:bodyPr wrap="square" lIns="0" tIns="0" rIns="0" bIns="0" rtlCol="0" anchor="ctr"/>
          <a:lstStyle/>
          <a:p>
            <a:pPr algn="r" indent="0" marL="0">
              <a:buNone/>
            </a:pPr>
            <a:r>
              <a:rPr lang="en-US" sz="950" dirty="0">
                <a:solidFill>
                  <a:srgbClr val="121A3A"/>
                </a:solidFill>
                <a:latin typeface="Calibri" pitchFamily="34" charset="0"/>
                <a:ea typeface="Calibri" pitchFamily="34" charset="-122"/>
                <a:cs typeface="Calibri" pitchFamily="34" charset="-120"/>
              </a:rPr>
              <a:t>Intelligence</a:t>
            </a:r>
            <a:endParaRPr lang="en-US" sz="950" dirty="0"/>
          </a:p>
        </p:txBody>
      </p:sp>
      <p:sp>
        <p:nvSpPr>
          <p:cNvPr id="13" name="Text 11"/>
          <p:cNvSpPr/>
          <p:nvPr/>
        </p:nvSpPr>
        <p:spPr>
          <a:xfrm rot="19200000">
            <a:off x="8348472" y="1764792"/>
            <a:ext cx="1261872" cy="365760"/>
          </a:xfrm>
          <a:prstGeom prst="rect">
            <a:avLst/>
          </a:prstGeom>
          <a:noFill/>
          <a:ln/>
        </p:spPr>
        <p:txBody>
          <a:bodyPr wrap="square" lIns="0" tIns="0" rIns="0" bIns="0" rtlCol="0" anchor="ctr"/>
          <a:lstStyle/>
          <a:p>
            <a:pPr algn="ctr" indent="0" marL="0">
              <a:buNone/>
            </a:pPr>
            <a:r>
              <a:rPr lang="en-US" sz="800" dirty="0">
                <a:solidFill>
                  <a:srgbClr val="121A3A"/>
                </a:solidFill>
                <a:latin typeface="Calibri" pitchFamily="34" charset="0"/>
                <a:ea typeface="Calibri" pitchFamily="34" charset="-122"/>
                <a:cs typeface="Calibri" pitchFamily="34" charset="-120"/>
              </a:rPr>
              <a:t>Intelligence</a:t>
            </a:r>
            <a:endParaRPr lang="en-US" sz="800" dirty="0"/>
          </a:p>
        </p:txBody>
      </p:sp>
      <p:sp>
        <p:nvSpPr>
          <p:cNvPr id="14" name="Text 12"/>
          <p:cNvSpPr/>
          <p:nvPr/>
        </p:nvSpPr>
        <p:spPr>
          <a:xfrm>
            <a:off x="6629400" y="3575304"/>
            <a:ext cx="1234440" cy="713232"/>
          </a:xfrm>
          <a:prstGeom prst="rect">
            <a:avLst/>
          </a:prstGeom>
          <a:noFill/>
          <a:ln/>
        </p:spPr>
        <p:txBody>
          <a:bodyPr wrap="square" lIns="0" tIns="0" rIns="0" bIns="0" rtlCol="0" anchor="ctr"/>
          <a:lstStyle/>
          <a:p>
            <a:pPr algn="r" indent="0" marL="0">
              <a:buNone/>
            </a:pPr>
            <a:r>
              <a:rPr lang="en-US" sz="950" dirty="0">
                <a:solidFill>
                  <a:srgbClr val="121A3A"/>
                </a:solidFill>
                <a:latin typeface="Calibri" pitchFamily="34" charset="0"/>
                <a:ea typeface="Calibri" pitchFamily="34" charset="-122"/>
                <a:cs typeface="Calibri" pitchFamily="34" charset="-120"/>
              </a:rPr>
              <a:t>is</a:t>
            </a:r>
            <a:endParaRPr lang="en-US" sz="950" dirty="0"/>
          </a:p>
        </p:txBody>
      </p:sp>
      <p:sp>
        <p:nvSpPr>
          <p:cNvPr id="15" name="Text 13"/>
          <p:cNvSpPr/>
          <p:nvPr/>
        </p:nvSpPr>
        <p:spPr>
          <a:xfrm rot="19200000">
            <a:off x="9061704" y="1764792"/>
            <a:ext cx="1261872" cy="365760"/>
          </a:xfrm>
          <a:prstGeom prst="rect">
            <a:avLst/>
          </a:prstGeom>
          <a:noFill/>
          <a:ln/>
        </p:spPr>
        <p:txBody>
          <a:bodyPr wrap="square" lIns="0" tIns="0" rIns="0" bIns="0" rtlCol="0" anchor="ctr"/>
          <a:lstStyle/>
          <a:p>
            <a:pPr algn="ctr" indent="0" marL="0">
              <a:buNone/>
            </a:pPr>
            <a:r>
              <a:rPr lang="en-US" sz="800" dirty="0">
                <a:solidFill>
                  <a:srgbClr val="121A3A"/>
                </a:solidFill>
                <a:latin typeface="Calibri" pitchFamily="34" charset="0"/>
                <a:ea typeface="Calibri" pitchFamily="34" charset="-122"/>
                <a:cs typeface="Calibri" pitchFamily="34" charset="-120"/>
              </a:rPr>
              <a:t>is</a:t>
            </a:r>
            <a:endParaRPr lang="en-US" sz="800" dirty="0"/>
          </a:p>
        </p:txBody>
      </p:sp>
      <p:sp>
        <p:nvSpPr>
          <p:cNvPr id="16" name="Text 14"/>
          <p:cNvSpPr/>
          <p:nvPr/>
        </p:nvSpPr>
        <p:spPr>
          <a:xfrm>
            <a:off x="6629400" y="4288536"/>
            <a:ext cx="1234440" cy="713232"/>
          </a:xfrm>
          <a:prstGeom prst="rect">
            <a:avLst/>
          </a:prstGeom>
          <a:noFill/>
          <a:ln/>
        </p:spPr>
        <p:txBody>
          <a:bodyPr wrap="square" lIns="0" tIns="0" rIns="0" bIns="0" rtlCol="0" anchor="ctr"/>
          <a:lstStyle/>
          <a:p>
            <a:pPr algn="r" indent="0" marL="0">
              <a:buNone/>
            </a:pPr>
            <a:r>
              <a:rPr lang="en-US" sz="950" dirty="0">
                <a:solidFill>
                  <a:srgbClr val="121A3A"/>
                </a:solidFill>
                <a:latin typeface="Calibri" pitchFamily="34" charset="0"/>
                <a:ea typeface="Calibri" pitchFamily="34" charset="-122"/>
                <a:cs typeface="Calibri" pitchFamily="34" charset="-120"/>
              </a:rPr>
              <a:t>amazing</a:t>
            </a:r>
            <a:endParaRPr lang="en-US" sz="950" dirty="0"/>
          </a:p>
        </p:txBody>
      </p:sp>
      <p:sp>
        <p:nvSpPr>
          <p:cNvPr id="17" name="Text 15"/>
          <p:cNvSpPr/>
          <p:nvPr/>
        </p:nvSpPr>
        <p:spPr>
          <a:xfrm rot="19200000">
            <a:off x="9774936" y="1764792"/>
            <a:ext cx="1261872" cy="365760"/>
          </a:xfrm>
          <a:prstGeom prst="rect">
            <a:avLst/>
          </a:prstGeom>
          <a:noFill/>
          <a:ln/>
        </p:spPr>
        <p:txBody>
          <a:bodyPr wrap="square" lIns="0" tIns="0" rIns="0" bIns="0" rtlCol="0" anchor="ctr"/>
          <a:lstStyle/>
          <a:p>
            <a:pPr algn="ctr" indent="0" marL="0">
              <a:buNone/>
            </a:pPr>
            <a:r>
              <a:rPr lang="en-US" sz="800" dirty="0">
                <a:solidFill>
                  <a:srgbClr val="121A3A"/>
                </a:solidFill>
                <a:latin typeface="Calibri" pitchFamily="34" charset="0"/>
                <a:ea typeface="Calibri" pitchFamily="34" charset="-122"/>
                <a:cs typeface="Calibri" pitchFamily="34" charset="-120"/>
              </a:rPr>
              <a:t>amazing</a:t>
            </a:r>
            <a:endParaRPr lang="en-US" sz="800" dirty="0"/>
          </a:p>
        </p:txBody>
      </p:sp>
      <p:sp>
        <p:nvSpPr>
          <p:cNvPr id="18" name="Shape 16"/>
          <p:cNvSpPr/>
          <p:nvPr/>
        </p:nvSpPr>
        <p:spPr>
          <a:xfrm>
            <a:off x="7909560" y="2148840"/>
            <a:ext cx="676656" cy="676656"/>
          </a:xfrm>
          <a:prstGeom prst="rect">
            <a:avLst/>
          </a:prstGeom>
          <a:solidFill>
            <a:srgbClr val="9CEEFF"/>
          </a:solidFill>
          <a:ln w="19050">
            <a:solidFill>
              <a:srgbClr val="FFFFFF"/>
            </a:solidFill>
            <a:prstDash val="solid"/>
          </a:ln>
        </p:spPr>
      </p:sp>
      <p:sp>
        <p:nvSpPr>
          <p:cNvPr id="19" name="Text 17"/>
          <p:cNvSpPr/>
          <p:nvPr/>
        </p:nvSpPr>
        <p:spPr>
          <a:xfrm>
            <a:off x="7909560" y="2148840"/>
            <a:ext cx="676656" cy="6766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0.55</a:t>
            </a:r>
            <a:endParaRPr lang="en-US" sz="900" dirty="0"/>
          </a:p>
        </p:txBody>
      </p:sp>
      <p:sp>
        <p:nvSpPr>
          <p:cNvPr id="20" name="Shape 18"/>
          <p:cNvSpPr/>
          <p:nvPr/>
        </p:nvSpPr>
        <p:spPr>
          <a:xfrm>
            <a:off x="8622792" y="2148840"/>
            <a:ext cx="676656" cy="676656"/>
          </a:xfrm>
          <a:prstGeom prst="rect">
            <a:avLst/>
          </a:prstGeom>
          <a:solidFill>
            <a:srgbClr val="C9EEFF"/>
          </a:solidFill>
          <a:ln w="19050">
            <a:solidFill>
              <a:srgbClr val="FFFFFF"/>
            </a:solidFill>
            <a:prstDash val="solid"/>
          </a:ln>
        </p:spPr>
      </p:sp>
      <p:sp>
        <p:nvSpPr>
          <p:cNvPr id="21" name="Text 19"/>
          <p:cNvSpPr/>
          <p:nvPr/>
        </p:nvSpPr>
        <p:spPr>
          <a:xfrm>
            <a:off x="8622792" y="2148840"/>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0.30</a:t>
            </a:r>
            <a:endParaRPr lang="en-US" sz="900" dirty="0"/>
          </a:p>
        </p:txBody>
      </p:sp>
      <p:sp>
        <p:nvSpPr>
          <p:cNvPr id="22" name="Shape 20"/>
          <p:cNvSpPr/>
          <p:nvPr/>
        </p:nvSpPr>
        <p:spPr>
          <a:xfrm>
            <a:off x="9336024" y="2148840"/>
            <a:ext cx="676656" cy="676656"/>
          </a:xfrm>
          <a:prstGeom prst="rect">
            <a:avLst/>
          </a:prstGeom>
          <a:solidFill>
            <a:srgbClr val="F1EEFF"/>
          </a:solidFill>
          <a:ln w="19050">
            <a:solidFill>
              <a:srgbClr val="FFFFFF"/>
            </a:solidFill>
            <a:prstDash val="solid"/>
          </a:ln>
        </p:spPr>
      </p:sp>
      <p:sp>
        <p:nvSpPr>
          <p:cNvPr id="23" name="Text 21"/>
          <p:cNvSpPr/>
          <p:nvPr/>
        </p:nvSpPr>
        <p:spPr>
          <a:xfrm>
            <a:off x="9336024" y="2148840"/>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0.08</a:t>
            </a:r>
            <a:endParaRPr lang="en-US" sz="900" dirty="0"/>
          </a:p>
        </p:txBody>
      </p:sp>
      <p:sp>
        <p:nvSpPr>
          <p:cNvPr id="24" name="Shape 22"/>
          <p:cNvSpPr/>
          <p:nvPr/>
        </p:nvSpPr>
        <p:spPr>
          <a:xfrm>
            <a:off x="10049256" y="2148840"/>
            <a:ext cx="676656" cy="676656"/>
          </a:xfrm>
          <a:prstGeom prst="rect">
            <a:avLst/>
          </a:prstGeom>
          <a:solidFill>
            <a:srgbClr val="F2EEFF"/>
          </a:solidFill>
          <a:ln w="19050">
            <a:solidFill>
              <a:srgbClr val="FFFFFF"/>
            </a:solidFill>
            <a:prstDash val="solid"/>
          </a:ln>
        </p:spPr>
      </p:sp>
      <p:sp>
        <p:nvSpPr>
          <p:cNvPr id="25" name="Text 23"/>
          <p:cNvSpPr/>
          <p:nvPr/>
        </p:nvSpPr>
        <p:spPr>
          <a:xfrm>
            <a:off x="10049256" y="2148840"/>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0.07</a:t>
            </a:r>
            <a:endParaRPr lang="en-US" sz="900" dirty="0"/>
          </a:p>
        </p:txBody>
      </p:sp>
      <p:sp>
        <p:nvSpPr>
          <p:cNvPr id="26" name="Shape 24"/>
          <p:cNvSpPr/>
          <p:nvPr/>
        </p:nvSpPr>
        <p:spPr>
          <a:xfrm>
            <a:off x="7909560" y="2862072"/>
            <a:ext cx="676656" cy="676656"/>
          </a:xfrm>
          <a:prstGeom prst="rect">
            <a:avLst/>
          </a:prstGeom>
          <a:solidFill>
            <a:srgbClr val="D2EEFF"/>
          </a:solidFill>
          <a:ln w="19050">
            <a:solidFill>
              <a:srgbClr val="FFFFFF"/>
            </a:solidFill>
            <a:prstDash val="solid"/>
          </a:ln>
        </p:spPr>
      </p:sp>
      <p:sp>
        <p:nvSpPr>
          <p:cNvPr id="27" name="Text 25"/>
          <p:cNvSpPr/>
          <p:nvPr/>
        </p:nvSpPr>
        <p:spPr>
          <a:xfrm>
            <a:off x="7909560" y="2862072"/>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0.25</a:t>
            </a:r>
            <a:endParaRPr lang="en-US" sz="900" dirty="0"/>
          </a:p>
        </p:txBody>
      </p:sp>
      <p:sp>
        <p:nvSpPr>
          <p:cNvPr id="28" name="Shape 26"/>
          <p:cNvSpPr/>
          <p:nvPr/>
        </p:nvSpPr>
        <p:spPr>
          <a:xfrm>
            <a:off x="8622792" y="2862072"/>
            <a:ext cx="676656" cy="676656"/>
          </a:xfrm>
          <a:prstGeom prst="rect">
            <a:avLst/>
          </a:prstGeom>
          <a:solidFill>
            <a:srgbClr val="A5EEFF"/>
          </a:solidFill>
          <a:ln w="19050">
            <a:solidFill>
              <a:srgbClr val="FFFFFF"/>
            </a:solidFill>
            <a:prstDash val="solid"/>
          </a:ln>
        </p:spPr>
      </p:sp>
      <p:sp>
        <p:nvSpPr>
          <p:cNvPr id="29" name="Text 27"/>
          <p:cNvSpPr/>
          <p:nvPr/>
        </p:nvSpPr>
        <p:spPr>
          <a:xfrm>
            <a:off x="8622792" y="2862072"/>
            <a:ext cx="676656" cy="6766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0.50</a:t>
            </a:r>
            <a:endParaRPr lang="en-US" sz="900" dirty="0"/>
          </a:p>
        </p:txBody>
      </p:sp>
      <p:sp>
        <p:nvSpPr>
          <p:cNvPr id="30" name="Shape 28"/>
          <p:cNvSpPr/>
          <p:nvPr/>
        </p:nvSpPr>
        <p:spPr>
          <a:xfrm>
            <a:off x="9336024" y="2862072"/>
            <a:ext cx="676656" cy="676656"/>
          </a:xfrm>
          <a:prstGeom prst="rect">
            <a:avLst/>
          </a:prstGeom>
          <a:solidFill>
            <a:srgbClr val="EDEEFF"/>
          </a:solidFill>
          <a:ln w="19050">
            <a:solidFill>
              <a:srgbClr val="FFFFFF"/>
            </a:solidFill>
            <a:prstDash val="solid"/>
          </a:ln>
        </p:spPr>
      </p:sp>
      <p:sp>
        <p:nvSpPr>
          <p:cNvPr id="31" name="Text 29"/>
          <p:cNvSpPr/>
          <p:nvPr/>
        </p:nvSpPr>
        <p:spPr>
          <a:xfrm>
            <a:off x="9336024" y="2862072"/>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0.10</a:t>
            </a:r>
            <a:endParaRPr lang="en-US" sz="900" dirty="0"/>
          </a:p>
        </p:txBody>
      </p:sp>
      <p:sp>
        <p:nvSpPr>
          <p:cNvPr id="32" name="Shape 30"/>
          <p:cNvSpPr/>
          <p:nvPr/>
        </p:nvSpPr>
        <p:spPr>
          <a:xfrm>
            <a:off x="10049256" y="2862072"/>
            <a:ext cx="676656" cy="676656"/>
          </a:xfrm>
          <a:prstGeom prst="rect">
            <a:avLst/>
          </a:prstGeom>
          <a:solidFill>
            <a:srgbClr val="E4EEFF"/>
          </a:solidFill>
          <a:ln w="19050">
            <a:solidFill>
              <a:srgbClr val="FFFFFF"/>
            </a:solidFill>
            <a:prstDash val="solid"/>
          </a:ln>
        </p:spPr>
      </p:sp>
      <p:sp>
        <p:nvSpPr>
          <p:cNvPr id="33" name="Text 31"/>
          <p:cNvSpPr/>
          <p:nvPr/>
        </p:nvSpPr>
        <p:spPr>
          <a:xfrm>
            <a:off x="10049256" y="2862072"/>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0.15</a:t>
            </a:r>
            <a:endParaRPr lang="en-US" sz="900" dirty="0"/>
          </a:p>
        </p:txBody>
      </p:sp>
      <p:sp>
        <p:nvSpPr>
          <p:cNvPr id="34" name="Shape 32"/>
          <p:cNvSpPr/>
          <p:nvPr/>
        </p:nvSpPr>
        <p:spPr>
          <a:xfrm>
            <a:off x="7909560" y="3575304"/>
            <a:ext cx="676656" cy="676656"/>
          </a:xfrm>
          <a:prstGeom prst="rect">
            <a:avLst/>
          </a:prstGeom>
          <a:solidFill>
            <a:srgbClr val="EDEEFF"/>
          </a:solidFill>
          <a:ln w="19050">
            <a:solidFill>
              <a:srgbClr val="FFFFFF"/>
            </a:solidFill>
            <a:prstDash val="solid"/>
          </a:ln>
        </p:spPr>
      </p:sp>
      <p:sp>
        <p:nvSpPr>
          <p:cNvPr id="35" name="Text 33"/>
          <p:cNvSpPr/>
          <p:nvPr/>
        </p:nvSpPr>
        <p:spPr>
          <a:xfrm>
            <a:off x="7909560" y="3575304"/>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0.10</a:t>
            </a:r>
            <a:endParaRPr lang="en-US" sz="900" dirty="0"/>
          </a:p>
        </p:txBody>
      </p:sp>
      <p:sp>
        <p:nvSpPr>
          <p:cNvPr id="36" name="Shape 34"/>
          <p:cNvSpPr/>
          <p:nvPr/>
        </p:nvSpPr>
        <p:spPr>
          <a:xfrm>
            <a:off x="8622792" y="3575304"/>
            <a:ext cx="676656" cy="676656"/>
          </a:xfrm>
          <a:prstGeom prst="rect">
            <a:avLst/>
          </a:prstGeom>
          <a:solidFill>
            <a:srgbClr val="E4EEFF"/>
          </a:solidFill>
          <a:ln w="19050">
            <a:solidFill>
              <a:srgbClr val="FFFFFF"/>
            </a:solidFill>
            <a:prstDash val="solid"/>
          </a:ln>
        </p:spPr>
      </p:sp>
      <p:sp>
        <p:nvSpPr>
          <p:cNvPr id="37" name="Text 35"/>
          <p:cNvSpPr/>
          <p:nvPr/>
        </p:nvSpPr>
        <p:spPr>
          <a:xfrm>
            <a:off x="8622792" y="3575304"/>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0.15</a:t>
            </a:r>
            <a:endParaRPr lang="en-US" sz="900" dirty="0"/>
          </a:p>
        </p:txBody>
      </p:sp>
      <p:sp>
        <p:nvSpPr>
          <p:cNvPr id="38" name="Shape 36"/>
          <p:cNvSpPr/>
          <p:nvPr/>
        </p:nvSpPr>
        <p:spPr>
          <a:xfrm>
            <a:off x="9336024" y="3575304"/>
            <a:ext cx="676656" cy="676656"/>
          </a:xfrm>
          <a:prstGeom prst="rect">
            <a:avLst/>
          </a:prstGeom>
          <a:solidFill>
            <a:srgbClr val="AEEEFF"/>
          </a:solidFill>
          <a:ln w="19050">
            <a:solidFill>
              <a:srgbClr val="FFFFFF"/>
            </a:solidFill>
            <a:prstDash val="solid"/>
          </a:ln>
        </p:spPr>
      </p:sp>
      <p:sp>
        <p:nvSpPr>
          <p:cNvPr id="39" name="Text 37"/>
          <p:cNvSpPr/>
          <p:nvPr/>
        </p:nvSpPr>
        <p:spPr>
          <a:xfrm>
            <a:off x="9336024" y="3575304"/>
            <a:ext cx="676656" cy="6766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0.45</a:t>
            </a:r>
            <a:endParaRPr lang="en-US" sz="900" dirty="0"/>
          </a:p>
        </p:txBody>
      </p:sp>
      <p:sp>
        <p:nvSpPr>
          <p:cNvPr id="40" name="Shape 38"/>
          <p:cNvSpPr/>
          <p:nvPr/>
        </p:nvSpPr>
        <p:spPr>
          <a:xfrm>
            <a:off x="10049256" y="3575304"/>
            <a:ext cx="676656" cy="676656"/>
          </a:xfrm>
          <a:prstGeom prst="rect">
            <a:avLst/>
          </a:prstGeom>
          <a:solidFill>
            <a:srgbClr val="C9EEFF"/>
          </a:solidFill>
          <a:ln w="19050">
            <a:solidFill>
              <a:srgbClr val="FFFFFF"/>
            </a:solidFill>
            <a:prstDash val="solid"/>
          </a:ln>
        </p:spPr>
      </p:sp>
      <p:sp>
        <p:nvSpPr>
          <p:cNvPr id="41" name="Text 39"/>
          <p:cNvSpPr/>
          <p:nvPr/>
        </p:nvSpPr>
        <p:spPr>
          <a:xfrm>
            <a:off x="10049256" y="3575304"/>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0.30</a:t>
            </a:r>
            <a:endParaRPr lang="en-US" sz="900" dirty="0"/>
          </a:p>
        </p:txBody>
      </p:sp>
      <p:sp>
        <p:nvSpPr>
          <p:cNvPr id="42" name="Shape 40"/>
          <p:cNvSpPr/>
          <p:nvPr/>
        </p:nvSpPr>
        <p:spPr>
          <a:xfrm>
            <a:off x="7909560" y="4288536"/>
            <a:ext cx="676656" cy="676656"/>
          </a:xfrm>
          <a:prstGeom prst="rect">
            <a:avLst/>
          </a:prstGeom>
          <a:solidFill>
            <a:srgbClr val="E9EEFF"/>
          </a:solidFill>
          <a:ln w="19050">
            <a:solidFill>
              <a:srgbClr val="FFFFFF"/>
            </a:solidFill>
            <a:prstDash val="solid"/>
          </a:ln>
        </p:spPr>
      </p:sp>
      <p:sp>
        <p:nvSpPr>
          <p:cNvPr id="43" name="Text 41"/>
          <p:cNvSpPr/>
          <p:nvPr/>
        </p:nvSpPr>
        <p:spPr>
          <a:xfrm>
            <a:off x="7909560" y="4288536"/>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0.12</a:t>
            </a:r>
            <a:endParaRPr lang="en-US" sz="900" dirty="0"/>
          </a:p>
        </p:txBody>
      </p:sp>
      <p:sp>
        <p:nvSpPr>
          <p:cNvPr id="44" name="Shape 42"/>
          <p:cNvSpPr/>
          <p:nvPr/>
        </p:nvSpPr>
        <p:spPr>
          <a:xfrm>
            <a:off x="8622792" y="4288536"/>
            <a:ext cx="676656" cy="676656"/>
          </a:xfrm>
          <a:prstGeom prst="rect">
            <a:avLst/>
          </a:prstGeom>
          <a:solidFill>
            <a:srgbClr val="CDEEFF"/>
          </a:solidFill>
          <a:ln w="19050">
            <a:solidFill>
              <a:srgbClr val="FFFFFF"/>
            </a:solidFill>
            <a:prstDash val="solid"/>
          </a:ln>
        </p:spPr>
      </p:sp>
      <p:sp>
        <p:nvSpPr>
          <p:cNvPr id="45" name="Text 43"/>
          <p:cNvSpPr/>
          <p:nvPr/>
        </p:nvSpPr>
        <p:spPr>
          <a:xfrm>
            <a:off x="8622792" y="4288536"/>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0.28</a:t>
            </a:r>
            <a:endParaRPr lang="en-US" sz="900" dirty="0"/>
          </a:p>
        </p:txBody>
      </p:sp>
      <p:sp>
        <p:nvSpPr>
          <p:cNvPr id="46" name="Shape 44"/>
          <p:cNvSpPr/>
          <p:nvPr/>
        </p:nvSpPr>
        <p:spPr>
          <a:xfrm>
            <a:off x="9336024" y="4288536"/>
            <a:ext cx="676656" cy="676656"/>
          </a:xfrm>
          <a:prstGeom prst="rect">
            <a:avLst/>
          </a:prstGeom>
          <a:solidFill>
            <a:srgbClr val="DBEEFF"/>
          </a:solidFill>
          <a:ln w="19050">
            <a:solidFill>
              <a:srgbClr val="FFFFFF"/>
            </a:solidFill>
            <a:prstDash val="solid"/>
          </a:ln>
        </p:spPr>
      </p:sp>
      <p:sp>
        <p:nvSpPr>
          <p:cNvPr id="47" name="Text 45"/>
          <p:cNvSpPr/>
          <p:nvPr/>
        </p:nvSpPr>
        <p:spPr>
          <a:xfrm>
            <a:off x="9336024" y="4288536"/>
            <a:ext cx="676656" cy="676656"/>
          </a:xfrm>
          <a:prstGeom prst="rect">
            <a:avLst/>
          </a:prstGeom>
          <a:noFill/>
          <a:ln/>
        </p:spPr>
        <p:txBody>
          <a:bodyPr wrap="square" lIns="0" tIns="0" rIns="0" bIns="0" rtlCol="0" anchor="ctr"/>
          <a:lstStyle/>
          <a:p>
            <a:pPr algn="ctr" indent="0" marL="0">
              <a:buNone/>
            </a:pPr>
            <a:r>
              <a:rPr lang="en-US" sz="900" dirty="0">
                <a:solidFill>
                  <a:srgbClr val="121A3A"/>
                </a:solidFill>
                <a:latin typeface="Calibri" pitchFamily="34" charset="0"/>
                <a:ea typeface="Calibri" pitchFamily="34" charset="-122"/>
                <a:cs typeface="Calibri" pitchFamily="34" charset="-120"/>
              </a:rPr>
              <a:t>0.20</a:t>
            </a:r>
            <a:endParaRPr lang="en-US" sz="900" dirty="0"/>
          </a:p>
        </p:txBody>
      </p:sp>
      <p:sp>
        <p:nvSpPr>
          <p:cNvPr id="48" name="Shape 46"/>
          <p:cNvSpPr/>
          <p:nvPr/>
        </p:nvSpPr>
        <p:spPr>
          <a:xfrm>
            <a:off x="10049256" y="4288536"/>
            <a:ext cx="676656" cy="676656"/>
          </a:xfrm>
          <a:prstGeom prst="rect">
            <a:avLst/>
          </a:prstGeom>
          <a:solidFill>
            <a:srgbClr val="B7EEFF"/>
          </a:solidFill>
          <a:ln w="19050">
            <a:solidFill>
              <a:srgbClr val="FFFFFF"/>
            </a:solidFill>
            <a:prstDash val="solid"/>
          </a:ln>
        </p:spPr>
      </p:sp>
      <p:sp>
        <p:nvSpPr>
          <p:cNvPr id="49" name="Text 47"/>
          <p:cNvSpPr/>
          <p:nvPr/>
        </p:nvSpPr>
        <p:spPr>
          <a:xfrm>
            <a:off x="10049256" y="4288536"/>
            <a:ext cx="676656" cy="676656"/>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0.40</a:t>
            </a:r>
            <a:endParaRPr lang="en-US" sz="900" dirty="0"/>
          </a:p>
        </p:txBody>
      </p:sp>
      <p:sp>
        <p:nvSpPr>
          <p:cNvPr id="50" name="Text 48"/>
          <p:cNvSpPr/>
          <p:nvPr/>
        </p:nvSpPr>
        <p:spPr>
          <a:xfrm>
            <a:off x="6675120" y="5184648"/>
            <a:ext cx="4434840" cy="457200"/>
          </a:xfrm>
          <a:prstGeom prst="rect">
            <a:avLst/>
          </a:prstGeom>
          <a:noFill/>
          <a:ln/>
        </p:spPr>
        <p:txBody>
          <a:bodyPr wrap="square" lIns="0" tIns="0" rIns="0" bIns="0" rtlCol="0" anchor="ctr"/>
          <a:lstStyle/>
          <a:p>
            <a:pPr indent="0" marL="0">
              <a:buNone/>
            </a:pPr>
            <a:r>
              <a:rPr lang="en-US" sz="850" i="1" dirty="0">
                <a:solidFill>
                  <a:srgbClr val="5B6480"/>
                </a:solidFill>
                <a:latin typeface="Calibri" pitchFamily="34" charset="0"/>
                <a:ea typeface="Calibri" pitchFamily="34" charset="-122"/>
                <a:cs typeface="Calibri" pitchFamily="34" charset="-120"/>
              </a:rPr>
              <a:t>Rows = query word, columns = key word. Darker cell = higher attention weight (illustrative values).</a:t>
            </a:r>
            <a:endParaRPr lang="en-US" sz="850" dirty="0"/>
          </a:p>
        </p:txBody>
      </p:sp>
      <p:sp>
        <p:nvSpPr>
          <p:cNvPr id="51" name="Text 49"/>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52" name="Text 50"/>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ALGORITHM 6 / 9</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Feed-Forward Network (FFN)</a:t>
            </a:r>
            <a:endParaRPr lang="en-US" sz="3000" dirty="0"/>
          </a:p>
        </p:txBody>
      </p:sp>
      <p:sp>
        <p:nvSpPr>
          <p:cNvPr id="4" name="Text 2"/>
          <p:cNvSpPr/>
          <p:nvPr/>
        </p:nvSpPr>
        <p:spPr>
          <a:xfrm>
            <a:off x="502920" y="1508760"/>
            <a:ext cx="5394960" cy="265176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Definition: a small 2-layer fully-connected network applied identically and independently to every token position after attention.</a:t>
            </a:r>
            <a:endParaRPr lang="en-US" sz="1250" dirty="0"/>
          </a:p>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Working: expand the vector to a larger hidden size, apply a non-linear activation (DeepSeek uses SwiGLU), then project back down to the model dimension.</a:t>
            </a:r>
            <a:endParaRPr lang="en-US" sz="1250" dirty="0"/>
          </a:p>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Role: attention mixes information between tokens; the FFN then transforms each token's own representation, adding modeling capacity.</a:t>
            </a:r>
            <a:endParaRPr lang="en-US" sz="1250" dirty="0"/>
          </a:p>
        </p:txBody>
      </p:sp>
      <p:sp>
        <p:nvSpPr>
          <p:cNvPr id="5" name="Shape 3"/>
          <p:cNvSpPr/>
          <p:nvPr/>
        </p:nvSpPr>
        <p:spPr>
          <a:xfrm>
            <a:off x="502920" y="4343400"/>
            <a:ext cx="5394960" cy="1600200"/>
          </a:xfrm>
          <a:prstGeom prst="roundRect">
            <a:avLst>
              <a:gd name="adj" fmla="val 4571"/>
            </a:avLst>
          </a:prstGeom>
          <a:solidFill>
            <a:srgbClr val="0B1442"/>
          </a:solidFill>
          <a:ln/>
        </p:spPr>
      </p:sp>
      <p:sp>
        <p:nvSpPr>
          <p:cNvPr id="6" name="Text 4"/>
          <p:cNvSpPr/>
          <p:nvPr/>
        </p:nvSpPr>
        <p:spPr>
          <a:xfrm>
            <a:off x="731520" y="4526280"/>
            <a:ext cx="4937760" cy="365760"/>
          </a:xfrm>
          <a:prstGeom prst="rect">
            <a:avLst/>
          </a:prstGeom>
          <a:noFill/>
          <a:ln/>
        </p:spPr>
        <p:txBody>
          <a:bodyPr wrap="square" lIns="0" tIns="0" rIns="0" bIns="0" rtlCol="0" anchor="ctr"/>
          <a:lstStyle/>
          <a:p>
            <a:pPr indent="0" marL="0">
              <a:buNone/>
            </a:pPr>
            <a:r>
              <a:rPr lang="en-US" sz="1350" dirty="0">
                <a:solidFill>
                  <a:srgbClr val="4FD8EB"/>
                </a:solidFill>
                <a:latin typeface="Courier New" pitchFamily="34" charset="0"/>
                <a:ea typeface="Courier New" pitchFamily="34" charset="-122"/>
                <a:cs typeface="Courier New" pitchFamily="34" charset="-120"/>
              </a:rPr>
              <a:t>FFN(x) = W₂ · SwiGLU(W₁ · x)</a:t>
            </a:r>
            <a:endParaRPr lang="en-US" sz="1350" dirty="0"/>
          </a:p>
        </p:txBody>
      </p:sp>
      <p:sp>
        <p:nvSpPr>
          <p:cNvPr id="7" name="Text 5"/>
          <p:cNvSpPr/>
          <p:nvPr/>
        </p:nvSpPr>
        <p:spPr>
          <a:xfrm>
            <a:off x="731520" y="4937760"/>
            <a:ext cx="4937760" cy="914400"/>
          </a:xfrm>
          <a:prstGeom prst="rect">
            <a:avLst/>
          </a:prstGeom>
          <a:noFill/>
          <a:ln/>
        </p:spPr>
        <p:txBody>
          <a:bodyPr wrap="square" lIns="0" tIns="0" rIns="0" bIns="0" rtlCol="0" anchor="ctr"/>
          <a:lstStyle/>
          <a:p>
            <a:pPr indent="0" marL="0">
              <a:lnSpc>
                <a:spcPct val="115000"/>
              </a:lnSpc>
              <a:buNone/>
            </a:pPr>
            <a:r>
              <a:rPr lang="en-US" sz="1000" dirty="0">
                <a:solidFill>
                  <a:srgbClr val="AEB8E8"/>
                </a:solidFill>
                <a:latin typeface="Calibri" pitchFamily="34" charset="0"/>
                <a:ea typeface="Calibri" pitchFamily="34" charset="-122"/>
                <a:cs typeface="Calibri" pitchFamily="34" charset="-120"/>
              </a:rPr>
              <a:t>Advantage: adds per-token non-linear capacity cheaply.  Limitation: run for every expert in a dense model — one motivation behind routing to only a few experts (next slide).</a:t>
            </a:r>
            <a:endParaRPr lang="en-US" sz="1000" dirty="0"/>
          </a:p>
        </p:txBody>
      </p:sp>
      <p:sp>
        <p:nvSpPr>
          <p:cNvPr id="8" name="Shape 6"/>
          <p:cNvSpPr/>
          <p:nvPr/>
        </p:nvSpPr>
        <p:spPr>
          <a:xfrm>
            <a:off x="6492240" y="1508760"/>
            <a:ext cx="4800600" cy="841248"/>
          </a:xfrm>
          <a:prstGeom prst="roundRect">
            <a:avLst>
              <a:gd name="adj" fmla="val 9783"/>
            </a:avLst>
          </a:prstGeom>
          <a:solidFill>
            <a:srgbClr val="FFFFFF"/>
          </a:solidFill>
          <a:ln w="12700">
            <a:solidFill>
              <a:srgbClr val="E1E5F5"/>
            </a:solidFill>
            <a:prstDash val="solid"/>
          </a:ln>
          <a:effectLst>
            <a:outerShdw sx="100000" sy="100000" kx="0" ky="0" algn="bl" rotWithShape="0" blurRad="76200" dist="25400" dir="5400000">
              <a:srgbClr val="0B1442">
                <a:alpha val="18000"/>
              </a:srgbClr>
            </a:outerShdw>
          </a:effectLst>
        </p:spPr>
      </p:sp>
      <p:sp>
        <p:nvSpPr>
          <p:cNvPr id="9" name="Shape 7"/>
          <p:cNvSpPr/>
          <p:nvPr/>
        </p:nvSpPr>
        <p:spPr>
          <a:xfrm>
            <a:off x="6620256" y="1700784"/>
            <a:ext cx="457200" cy="457200"/>
          </a:xfrm>
          <a:prstGeom prst="ellipse">
            <a:avLst/>
          </a:prstGeom>
          <a:solidFill>
            <a:srgbClr val="0E93A6"/>
          </a:solidFill>
          <a:ln/>
        </p:spPr>
      </p:sp>
      <p:sp>
        <p:nvSpPr>
          <p:cNvPr id="10" name="Text 8"/>
          <p:cNvSpPr/>
          <p:nvPr/>
        </p:nvSpPr>
        <p:spPr>
          <a:xfrm>
            <a:off x="6620256" y="170078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p:nvPr/>
        </p:nvSpPr>
        <p:spPr>
          <a:xfrm>
            <a:off x="7187184" y="1600200"/>
            <a:ext cx="3977640" cy="462686"/>
          </a:xfrm>
          <a:prstGeom prst="rect">
            <a:avLst/>
          </a:prstGeom>
          <a:noFill/>
          <a:ln/>
        </p:spPr>
        <p:txBody>
          <a:bodyPr wrap="square" lIns="0" tIns="0" rIns="0" bIns="0" rtlCol="0" anchor="b"/>
          <a:lstStyle/>
          <a:p>
            <a:pPr indent="0" marL="0">
              <a:buNone/>
            </a:pPr>
            <a:r>
              <a:rPr lang="en-US" sz="1200" b="1" dirty="0">
                <a:solidFill>
                  <a:srgbClr val="121A3A"/>
                </a:solidFill>
                <a:latin typeface="Calibri" pitchFamily="34" charset="0"/>
                <a:ea typeface="Calibri" pitchFamily="34" charset="-122"/>
                <a:cs typeface="Calibri" pitchFamily="34" charset="-120"/>
              </a:rPr>
              <a:t>Input vector</a:t>
            </a:r>
            <a:endParaRPr lang="en-US" sz="1200" dirty="0"/>
          </a:p>
        </p:txBody>
      </p:sp>
      <p:sp>
        <p:nvSpPr>
          <p:cNvPr id="12" name="Text 10"/>
          <p:cNvSpPr/>
          <p:nvPr/>
        </p:nvSpPr>
        <p:spPr>
          <a:xfrm>
            <a:off x="7187184" y="1946209"/>
            <a:ext cx="3977640" cy="35332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size d = 7168</a:t>
            </a:r>
            <a:endParaRPr lang="en-US" sz="950" dirty="0"/>
          </a:p>
        </p:txBody>
      </p:sp>
      <p:sp>
        <p:nvSpPr>
          <p:cNvPr id="13" name="Text 11"/>
          <p:cNvSpPr/>
          <p:nvPr/>
        </p:nvSpPr>
        <p:spPr>
          <a:xfrm>
            <a:off x="8746236" y="2350008"/>
            <a:ext cx="292608" cy="256032"/>
          </a:xfrm>
          <a:prstGeom prst="rect">
            <a:avLst/>
          </a:prstGeom>
          <a:noFill/>
          <a:ln/>
        </p:spPr>
        <p:txBody>
          <a:bodyPr wrap="square" rtlCol="0" anchor="ctr"/>
          <a:lstStyle/>
          <a:p>
            <a:pPr algn="ctr" indent="0" marL="0">
              <a:buNone/>
            </a:pPr>
            <a:r>
              <a:rPr lang="en-US" sz="1400" b="1" dirty="0">
                <a:solidFill>
                  <a:srgbClr val="0E93A6"/>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6492240" y="2606040"/>
            <a:ext cx="4800600" cy="841248"/>
          </a:xfrm>
          <a:prstGeom prst="roundRect">
            <a:avLst>
              <a:gd name="adj" fmla="val 9783"/>
            </a:avLst>
          </a:prstGeom>
          <a:solidFill>
            <a:srgbClr val="FFFFFF"/>
          </a:solidFill>
          <a:ln w="12700">
            <a:solidFill>
              <a:srgbClr val="E1E5F5"/>
            </a:solidFill>
            <a:prstDash val="solid"/>
          </a:ln>
          <a:effectLst>
            <a:outerShdw sx="100000" sy="100000" kx="0" ky="0" algn="bl" rotWithShape="0" blurRad="76200" dist="25400" dir="5400000">
              <a:srgbClr val="0B1442">
                <a:alpha val="18000"/>
              </a:srgbClr>
            </a:outerShdw>
          </a:effectLst>
        </p:spPr>
      </p:sp>
      <p:sp>
        <p:nvSpPr>
          <p:cNvPr id="15" name="Shape 13"/>
          <p:cNvSpPr/>
          <p:nvPr/>
        </p:nvSpPr>
        <p:spPr>
          <a:xfrm>
            <a:off x="6620256" y="2798064"/>
            <a:ext cx="457200" cy="457200"/>
          </a:xfrm>
          <a:prstGeom prst="ellipse">
            <a:avLst/>
          </a:prstGeom>
          <a:solidFill>
            <a:srgbClr val="0E93A6"/>
          </a:solidFill>
          <a:ln/>
        </p:spPr>
      </p:sp>
      <p:sp>
        <p:nvSpPr>
          <p:cNvPr id="16" name="Text 14"/>
          <p:cNvSpPr/>
          <p:nvPr/>
        </p:nvSpPr>
        <p:spPr>
          <a:xfrm>
            <a:off x="6620256" y="279806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p:nvPr/>
        </p:nvSpPr>
        <p:spPr>
          <a:xfrm>
            <a:off x="7187184" y="2697480"/>
            <a:ext cx="3977640" cy="462686"/>
          </a:xfrm>
          <a:prstGeom prst="rect">
            <a:avLst/>
          </a:prstGeom>
          <a:noFill/>
          <a:ln/>
        </p:spPr>
        <p:txBody>
          <a:bodyPr wrap="square" lIns="0" tIns="0" rIns="0" bIns="0" rtlCol="0" anchor="b"/>
          <a:lstStyle/>
          <a:p>
            <a:pPr indent="0" marL="0">
              <a:buNone/>
            </a:pPr>
            <a:r>
              <a:rPr lang="en-US" sz="1200" b="1" dirty="0">
                <a:solidFill>
                  <a:srgbClr val="121A3A"/>
                </a:solidFill>
                <a:latin typeface="Calibri" pitchFamily="34" charset="0"/>
                <a:ea typeface="Calibri" pitchFamily="34" charset="-122"/>
                <a:cs typeface="Calibri" pitchFamily="34" charset="-120"/>
              </a:rPr>
              <a:t>Linear expand</a:t>
            </a:r>
            <a:endParaRPr lang="en-US" sz="1200" dirty="0"/>
          </a:p>
        </p:txBody>
      </p:sp>
      <p:sp>
        <p:nvSpPr>
          <p:cNvPr id="18" name="Text 16"/>
          <p:cNvSpPr/>
          <p:nvPr/>
        </p:nvSpPr>
        <p:spPr>
          <a:xfrm>
            <a:off x="7187184" y="3043489"/>
            <a:ext cx="3977640" cy="35332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size 4d, then SwiGLU activation</a:t>
            </a:r>
            <a:endParaRPr lang="en-US" sz="950" dirty="0"/>
          </a:p>
        </p:txBody>
      </p:sp>
      <p:sp>
        <p:nvSpPr>
          <p:cNvPr id="19" name="Text 17"/>
          <p:cNvSpPr/>
          <p:nvPr/>
        </p:nvSpPr>
        <p:spPr>
          <a:xfrm>
            <a:off x="8746236" y="3447288"/>
            <a:ext cx="292608" cy="256032"/>
          </a:xfrm>
          <a:prstGeom prst="rect">
            <a:avLst/>
          </a:prstGeom>
          <a:noFill/>
          <a:ln/>
        </p:spPr>
        <p:txBody>
          <a:bodyPr wrap="square" rtlCol="0" anchor="ctr"/>
          <a:lstStyle/>
          <a:p>
            <a:pPr algn="ctr" indent="0" marL="0">
              <a:buNone/>
            </a:pPr>
            <a:r>
              <a:rPr lang="en-US" sz="1400" b="1" dirty="0">
                <a:solidFill>
                  <a:srgbClr val="0E93A6"/>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6492240" y="3703320"/>
            <a:ext cx="4800600" cy="841248"/>
          </a:xfrm>
          <a:prstGeom prst="roundRect">
            <a:avLst>
              <a:gd name="adj" fmla="val 9783"/>
            </a:avLst>
          </a:prstGeom>
          <a:solidFill>
            <a:srgbClr val="FFFFFF"/>
          </a:solidFill>
          <a:ln w="12700">
            <a:solidFill>
              <a:srgbClr val="E1E5F5"/>
            </a:solidFill>
            <a:prstDash val="solid"/>
          </a:ln>
          <a:effectLst>
            <a:outerShdw sx="100000" sy="100000" kx="0" ky="0" algn="bl" rotWithShape="0" blurRad="76200" dist="25400" dir="5400000">
              <a:srgbClr val="0B1442">
                <a:alpha val="18000"/>
              </a:srgbClr>
            </a:outerShdw>
          </a:effectLst>
        </p:spPr>
      </p:sp>
      <p:sp>
        <p:nvSpPr>
          <p:cNvPr id="21" name="Shape 19"/>
          <p:cNvSpPr/>
          <p:nvPr/>
        </p:nvSpPr>
        <p:spPr>
          <a:xfrm>
            <a:off x="6620256" y="3895344"/>
            <a:ext cx="457200" cy="457200"/>
          </a:xfrm>
          <a:prstGeom prst="ellipse">
            <a:avLst/>
          </a:prstGeom>
          <a:solidFill>
            <a:srgbClr val="0E93A6"/>
          </a:solidFill>
          <a:ln/>
        </p:spPr>
      </p:sp>
      <p:sp>
        <p:nvSpPr>
          <p:cNvPr id="22" name="Text 20"/>
          <p:cNvSpPr/>
          <p:nvPr/>
        </p:nvSpPr>
        <p:spPr>
          <a:xfrm>
            <a:off x="6620256" y="389534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p:nvPr/>
        </p:nvSpPr>
        <p:spPr>
          <a:xfrm>
            <a:off x="7187184" y="3794760"/>
            <a:ext cx="3977640" cy="462686"/>
          </a:xfrm>
          <a:prstGeom prst="rect">
            <a:avLst/>
          </a:prstGeom>
          <a:noFill/>
          <a:ln/>
        </p:spPr>
        <p:txBody>
          <a:bodyPr wrap="square" lIns="0" tIns="0" rIns="0" bIns="0" rtlCol="0" anchor="b"/>
          <a:lstStyle/>
          <a:p>
            <a:pPr indent="0" marL="0">
              <a:buNone/>
            </a:pPr>
            <a:r>
              <a:rPr lang="en-US" sz="1200" b="1" dirty="0">
                <a:solidFill>
                  <a:srgbClr val="121A3A"/>
                </a:solidFill>
                <a:latin typeface="Calibri" pitchFamily="34" charset="0"/>
                <a:ea typeface="Calibri" pitchFamily="34" charset="-122"/>
                <a:cs typeface="Calibri" pitchFamily="34" charset="-120"/>
              </a:rPr>
              <a:t>Linear project</a:t>
            </a:r>
            <a:endParaRPr lang="en-US" sz="1200" dirty="0"/>
          </a:p>
        </p:txBody>
      </p:sp>
      <p:sp>
        <p:nvSpPr>
          <p:cNvPr id="24" name="Text 22"/>
          <p:cNvSpPr/>
          <p:nvPr/>
        </p:nvSpPr>
        <p:spPr>
          <a:xfrm>
            <a:off x="7187184" y="4140769"/>
            <a:ext cx="3977640" cy="35332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back down to size d</a:t>
            </a:r>
            <a:endParaRPr lang="en-US" sz="950" dirty="0"/>
          </a:p>
        </p:txBody>
      </p:sp>
      <p:sp>
        <p:nvSpPr>
          <p:cNvPr id="25" name="Text 23"/>
          <p:cNvSpPr/>
          <p:nvPr/>
        </p:nvSpPr>
        <p:spPr>
          <a:xfrm>
            <a:off x="8746236" y="4544568"/>
            <a:ext cx="292608" cy="256032"/>
          </a:xfrm>
          <a:prstGeom prst="rect">
            <a:avLst/>
          </a:prstGeom>
          <a:noFill/>
          <a:ln/>
        </p:spPr>
        <p:txBody>
          <a:bodyPr wrap="square" rtlCol="0" anchor="ctr"/>
          <a:lstStyle/>
          <a:p>
            <a:pPr algn="ctr" indent="0" marL="0">
              <a:buNone/>
            </a:pPr>
            <a:r>
              <a:rPr lang="en-US" sz="1400" b="1" dirty="0">
                <a:solidFill>
                  <a:srgbClr val="0E93A6"/>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6492240" y="4800600"/>
            <a:ext cx="4800600" cy="841248"/>
          </a:xfrm>
          <a:prstGeom prst="roundRect">
            <a:avLst>
              <a:gd name="adj" fmla="val 9783"/>
            </a:avLst>
          </a:prstGeom>
          <a:solidFill>
            <a:srgbClr val="FFFFFF"/>
          </a:solidFill>
          <a:ln w="12700">
            <a:solidFill>
              <a:srgbClr val="E1E5F5"/>
            </a:solidFill>
            <a:prstDash val="solid"/>
          </a:ln>
          <a:effectLst>
            <a:outerShdw sx="100000" sy="100000" kx="0" ky="0" algn="bl" rotWithShape="0" blurRad="76200" dist="25400" dir="5400000">
              <a:srgbClr val="0B1442">
                <a:alpha val="18000"/>
              </a:srgbClr>
            </a:outerShdw>
          </a:effectLst>
        </p:spPr>
      </p:sp>
      <p:sp>
        <p:nvSpPr>
          <p:cNvPr id="27" name="Shape 25"/>
          <p:cNvSpPr/>
          <p:nvPr/>
        </p:nvSpPr>
        <p:spPr>
          <a:xfrm>
            <a:off x="6620256" y="4992624"/>
            <a:ext cx="457200" cy="457200"/>
          </a:xfrm>
          <a:prstGeom prst="ellipse">
            <a:avLst/>
          </a:prstGeom>
          <a:solidFill>
            <a:srgbClr val="0E93A6"/>
          </a:solidFill>
          <a:ln/>
        </p:spPr>
      </p:sp>
      <p:sp>
        <p:nvSpPr>
          <p:cNvPr id="28" name="Text 26"/>
          <p:cNvSpPr/>
          <p:nvPr/>
        </p:nvSpPr>
        <p:spPr>
          <a:xfrm>
            <a:off x="6620256" y="499262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7"/>
          <p:cNvSpPr/>
          <p:nvPr/>
        </p:nvSpPr>
        <p:spPr>
          <a:xfrm>
            <a:off x="7187184" y="4892040"/>
            <a:ext cx="3977640" cy="462686"/>
          </a:xfrm>
          <a:prstGeom prst="rect">
            <a:avLst/>
          </a:prstGeom>
          <a:noFill/>
          <a:ln/>
        </p:spPr>
        <p:txBody>
          <a:bodyPr wrap="square" lIns="0" tIns="0" rIns="0" bIns="0" rtlCol="0" anchor="b"/>
          <a:lstStyle/>
          <a:p>
            <a:pPr indent="0" marL="0">
              <a:buNone/>
            </a:pPr>
            <a:r>
              <a:rPr lang="en-US" sz="1200" b="1" dirty="0">
                <a:solidFill>
                  <a:srgbClr val="121A3A"/>
                </a:solidFill>
                <a:latin typeface="Calibri" pitchFamily="34" charset="0"/>
                <a:ea typeface="Calibri" pitchFamily="34" charset="-122"/>
                <a:cs typeface="Calibri" pitchFamily="34" charset="-120"/>
              </a:rPr>
              <a:t>Output vector</a:t>
            </a:r>
            <a:endParaRPr lang="en-US" sz="1200" dirty="0"/>
          </a:p>
        </p:txBody>
      </p:sp>
      <p:sp>
        <p:nvSpPr>
          <p:cNvPr id="30" name="Text 28"/>
          <p:cNvSpPr/>
          <p:nvPr/>
        </p:nvSpPr>
        <p:spPr>
          <a:xfrm>
            <a:off x="7187184" y="5238049"/>
            <a:ext cx="3977640" cy="35332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passed to residual add</a:t>
            </a:r>
            <a:endParaRPr lang="en-US" sz="950" dirty="0"/>
          </a:p>
        </p:txBody>
      </p:sp>
      <p:sp>
        <p:nvSpPr>
          <p:cNvPr id="31" name="Text 29"/>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32" name="Text 30"/>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442"/>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4FD8EB"/>
                </a:solidFill>
                <a:latin typeface="Calibri" pitchFamily="34" charset="0"/>
                <a:ea typeface="Calibri" pitchFamily="34" charset="-122"/>
                <a:cs typeface="Calibri" pitchFamily="34" charset="-120"/>
              </a:rPr>
              <a:t>ALGORITHM 7 / 9</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DeepSeekMoE (Mixture of Experts)</a:t>
            </a:r>
            <a:endParaRPr lang="en-US" sz="3000" dirty="0"/>
          </a:p>
        </p:txBody>
      </p:sp>
      <p:sp>
        <p:nvSpPr>
          <p:cNvPr id="4" name="Text 2"/>
          <p:cNvSpPr/>
          <p:nvPr/>
        </p:nvSpPr>
        <p:spPr>
          <a:xfrm>
            <a:off x="502920" y="1508760"/>
            <a:ext cx="4114800" cy="301752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00" dirty="0">
                <a:solidFill>
                  <a:srgbClr val="D8DCF4"/>
                </a:solidFill>
                <a:latin typeface="Calibri" pitchFamily="34" charset="0"/>
                <a:ea typeface="Calibri" pitchFamily="34" charset="-122"/>
                <a:cs typeface="Calibri" pitchFamily="34" charset="-120"/>
              </a:rPr>
              <a:t>Idea: replace one giant FFN with many smaller “expert” FFNs; a router decides which few experts should process each token.</a:t>
            </a:r>
            <a:endParaRPr lang="en-US" sz="1200" dirty="0"/>
          </a:p>
          <a:p>
            <a:pPr marL="177800" indent="-177800">
              <a:lnSpc>
                <a:spcPct val="108000"/>
              </a:lnSpc>
              <a:spcAft>
                <a:spcPts val="1000"/>
              </a:spcAft>
              <a:buSzPct val="100000"/>
              <a:buChar char="●"/>
            </a:pPr>
            <a:r>
              <a:rPr lang="en-US" sz="1200" dirty="0">
                <a:solidFill>
                  <a:srgbClr val="D8DCF4"/>
                </a:solidFill>
                <a:latin typeface="Calibri" pitchFamily="34" charset="0"/>
                <a:ea typeface="Calibri" pitchFamily="34" charset="-122"/>
                <a:cs typeface="Calibri" pitchFamily="34" charset="-120"/>
              </a:rPr>
              <a:t>DeepSeekMoE uses fine-grained experts plus a small set of always-on shared experts, giving 671B total parameters but only ~37B activated per token.</a:t>
            </a:r>
            <a:endParaRPr lang="en-US" sz="1200" dirty="0"/>
          </a:p>
          <a:p>
            <a:pPr marL="177800" indent="-177800">
              <a:lnSpc>
                <a:spcPct val="108000"/>
              </a:lnSpc>
              <a:spcAft>
                <a:spcPts val="1000"/>
              </a:spcAft>
              <a:buSzPct val="100000"/>
              <a:buChar char="●"/>
            </a:pPr>
            <a:r>
              <a:rPr lang="en-US" sz="1200" dirty="0">
                <a:solidFill>
                  <a:srgbClr val="D8DCF4"/>
                </a:solidFill>
                <a:latin typeface="Calibri" pitchFamily="34" charset="0"/>
                <a:ea typeface="Calibri" pitchFamily="34" charset="-122"/>
                <a:cs typeface="Calibri" pitchFamily="34" charset="-120"/>
              </a:rPr>
              <a:t>Auxiliary-loss-free load balancing keeps experts evenly used without a separate penalty term hurting output quality.</a:t>
            </a:r>
            <a:endParaRPr lang="en-US" sz="1200" dirty="0"/>
          </a:p>
        </p:txBody>
      </p:sp>
      <p:sp>
        <p:nvSpPr>
          <p:cNvPr id="5" name="Text 3"/>
          <p:cNvSpPr/>
          <p:nvPr/>
        </p:nvSpPr>
        <p:spPr>
          <a:xfrm>
            <a:off x="502920" y="4709160"/>
            <a:ext cx="4114800" cy="822960"/>
          </a:xfrm>
          <a:prstGeom prst="rect">
            <a:avLst/>
          </a:prstGeom>
          <a:noFill/>
          <a:ln/>
        </p:spPr>
        <p:txBody>
          <a:bodyPr wrap="square" lIns="0" tIns="0" rIns="0" bIns="0" rtlCol="0" anchor="ctr"/>
          <a:lstStyle/>
          <a:p>
            <a:pPr indent="0" marL="0">
              <a:lnSpc>
                <a:spcPct val="120000"/>
              </a:lnSpc>
              <a:buNone/>
            </a:pPr>
            <a:r>
              <a:rPr lang="en-US" sz="1050" i="1" dirty="0">
                <a:solidFill>
                  <a:srgbClr val="4FD8EB"/>
                </a:solidFill>
                <a:latin typeface="Calibri" pitchFamily="34" charset="0"/>
                <a:ea typeface="Calibri" pitchFamily="34" charset="-122"/>
                <a:cs typeface="Calibri" pitchFamily="34" charset="-120"/>
              </a:rPr>
              <a:t>Why it matters: sparse activation = large model capacity at dense-model-like inference cost.</a:t>
            </a:r>
            <a:endParaRPr lang="en-US" sz="1050" dirty="0"/>
          </a:p>
        </p:txBody>
      </p:sp>
      <p:sp>
        <p:nvSpPr>
          <p:cNvPr id="6" name="Shape 4"/>
          <p:cNvSpPr/>
          <p:nvPr/>
        </p:nvSpPr>
        <p:spPr>
          <a:xfrm>
            <a:off x="6995160" y="1417320"/>
            <a:ext cx="2560320" cy="594360"/>
          </a:xfrm>
          <a:prstGeom prst="roundRect">
            <a:avLst>
              <a:gd name="adj" fmla="val 13846"/>
            </a:avLst>
          </a:prstGeom>
          <a:solidFill>
            <a:srgbClr val="16215C"/>
          </a:solidFill>
          <a:ln/>
          <a:effectLst>
            <a:outerShdw sx="100000" sy="100000" kx="0" ky="0" algn="bl" rotWithShape="0" blurRad="76200" dist="25400" dir="5400000">
              <a:srgbClr val="0B1442">
                <a:alpha val="18000"/>
              </a:srgbClr>
            </a:outerShdw>
          </a:effectLst>
        </p:spPr>
      </p:sp>
      <p:sp>
        <p:nvSpPr>
          <p:cNvPr id="7" name="Shape 5"/>
          <p:cNvSpPr/>
          <p:nvPr/>
        </p:nvSpPr>
        <p:spPr>
          <a:xfrm>
            <a:off x="7123176" y="1508760"/>
            <a:ext cx="411480" cy="411480"/>
          </a:xfrm>
          <a:prstGeom prst="ellipse">
            <a:avLst/>
          </a:prstGeom>
          <a:solidFill>
            <a:srgbClr val="4FD8EB"/>
          </a:solidFill>
          <a:ln/>
        </p:spPr>
      </p:sp>
      <p:sp>
        <p:nvSpPr>
          <p:cNvPr id="8" name="Text 6"/>
          <p:cNvSpPr/>
          <p:nvPr/>
        </p:nvSpPr>
        <p:spPr>
          <a:xfrm>
            <a:off x="7123176" y="1508760"/>
            <a:ext cx="411480" cy="411480"/>
          </a:xfrm>
          <a:prstGeom prst="rect">
            <a:avLst/>
          </a:prstGeom>
          <a:noFill/>
          <a:ln/>
        </p:spPr>
        <p:txBody>
          <a:bodyPr wrap="square" rtlCol="0" anchor="ctr"/>
          <a:lstStyle/>
          <a:p>
            <a:pPr algn="ctr" indent="0" marL="0">
              <a:buNone/>
            </a:pPr>
            <a:r>
              <a:rPr lang="en-US" sz="1350" b="1" dirty="0">
                <a:solidFill>
                  <a:srgbClr val="0B1442"/>
                </a:solidFill>
                <a:latin typeface="Calibri" pitchFamily="34" charset="0"/>
                <a:ea typeface="Calibri" pitchFamily="34" charset="-122"/>
                <a:cs typeface="Calibri" pitchFamily="34" charset="-120"/>
              </a:rPr>
              <a:t>✎</a:t>
            </a:r>
            <a:endParaRPr lang="en-US" sz="1350" dirty="0"/>
          </a:p>
        </p:txBody>
      </p:sp>
      <p:sp>
        <p:nvSpPr>
          <p:cNvPr id="9" name="Text 7"/>
          <p:cNvSpPr/>
          <p:nvPr/>
        </p:nvSpPr>
        <p:spPr>
          <a:xfrm>
            <a:off x="7644384" y="1417320"/>
            <a:ext cx="178308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Token / Prompt</a:t>
            </a:r>
            <a:endParaRPr lang="en-US" sz="1200" dirty="0"/>
          </a:p>
        </p:txBody>
      </p:sp>
      <p:sp>
        <p:nvSpPr>
          <p:cNvPr id="10" name="Text 8"/>
          <p:cNvSpPr/>
          <p:nvPr/>
        </p:nvSpPr>
        <p:spPr>
          <a:xfrm>
            <a:off x="8129016" y="2011680"/>
            <a:ext cx="292608" cy="274320"/>
          </a:xfrm>
          <a:prstGeom prst="rect">
            <a:avLst/>
          </a:prstGeom>
          <a:noFill/>
          <a:ln/>
        </p:spPr>
        <p:txBody>
          <a:bodyPr wrap="square" rtlCol="0" anchor="ctr"/>
          <a:lstStyle/>
          <a:p>
            <a:pPr algn="ctr" indent="0" marL="0">
              <a:buNone/>
            </a:pPr>
            <a:r>
              <a:rPr lang="en-US" sz="1400" b="1" dirty="0">
                <a:solidFill>
                  <a:srgbClr val="4FD8EB"/>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6812280" y="2286000"/>
            <a:ext cx="2926080" cy="594360"/>
          </a:xfrm>
          <a:prstGeom prst="roundRect">
            <a:avLst>
              <a:gd name="adj" fmla="val 13846"/>
            </a:avLst>
          </a:prstGeom>
          <a:solidFill>
            <a:srgbClr val="6C3FC5"/>
          </a:solidFill>
          <a:ln/>
          <a:effectLst>
            <a:outerShdw sx="100000" sy="100000" kx="0" ky="0" algn="bl" rotWithShape="0" blurRad="76200" dist="25400" dir="5400000">
              <a:srgbClr val="0B1442">
                <a:alpha val="18000"/>
              </a:srgbClr>
            </a:outerShdw>
          </a:effectLst>
        </p:spPr>
      </p:sp>
      <p:sp>
        <p:nvSpPr>
          <p:cNvPr id="12" name="Shape 10"/>
          <p:cNvSpPr/>
          <p:nvPr/>
        </p:nvSpPr>
        <p:spPr>
          <a:xfrm>
            <a:off x="6940296" y="2377440"/>
            <a:ext cx="411480" cy="411480"/>
          </a:xfrm>
          <a:prstGeom prst="ellipse">
            <a:avLst/>
          </a:prstGeom>
          <a:solidFill>
            <a:srgbClr val="FFFFFF"/>
          </a:solidFill>
          <a:ln/>
        </p:spPr>
      </p:sp>
      <p:sp>
        <p:nvSpPr>
          <p:cNvPr id="13" name="Text 11"/>
          <p:cNvSpPr/>
          <p:nvPr/>
        </p:nvSpPr>
        <p:spPr>
          <a:xfrm>
            <a:off x="6940296" y="2377440"/>
            <a:ext cx="411480" cy="411480"/>
          </a:xfrm>
          <a:prstGeom prst="rect">
            <a:avLst/>
          </a:prstGeom>
          <a:noFill/>
          <a:ln/>
        </p:spPr>
        <p:txBody>
          <a:bodyPr wrap="square" rtlCol="0" anchor="ctr"/>
          <a:lstStyle/>
          <a:p>
            <a:pPr algn="ctr" indent="0" marL="0">
              <a:buNone/>
            </a:pPr>
            <a:r>
              <a:rPr lang="en-US" sz="1350" b="1" dirty="0">
                <a:solidFill>
                  <a:srgbClr val="6C3FC5"/>
                </a:solidFill>
                <a:latin typeface="Calibri" pitchFamily="34" charset="0"/>
                <a:ea typeface="Calibri" pitchFamily="34" charset="-122"/>
                <a:cs typeface="Calibri" pitchFamily="34" charset="-120"/>
              </a:rPr>
              <a:t>⚙</a:t>
            </a:r>
            <a:endParaRPr lang="en-US" sz="1350" dirty="0"/>
          </a:p>
        </p:txBody>
      </p:sp>
      <p:sp>
        <p:nvSpPr>
          <p:cNvPr id="14" name="Text 12"/>
          <p:cNvSpPr/>
          <p:nvPr/>
        </p:nvSpPr>
        <p:spPr>
          <a:xfrm>
            <a:off x="7461504" y="2286000"/>
            <a:ext cx="2148840" cy="5943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Router (Gating Network)</a:t>
            </a:r>
            <a:endParaRPr lang="en-US" sz="1150" dirty="0"/>
          </a:p>
        </p:txBody>
      </p:sp>
      <p:sp>
        <p:nvSpPr>
          <p:cNvPr id="15" name="Shape 13"/>
          <p:cNvSpPr/>
          <p:nvPr/>
        </p:nvSpPr>
        <p:spPr>
          <a:xfrm>
            <a:off x="8257032" y="2880360"/>
            <a:ext cx="2633472" cy="365760"/>
          </a:xfrm>
          <a:prstGeom prst="line">
            <a:avLst/>
          </a:prstGeom>
          <a:noFill/>
          <a:ln w="12700">
            <a:solidFill>
              <a:srgbClr val="334085"/>
            </a:solidFill>
            <a:prstDash val="solid"/>
          </a:ln>
        </p:spPr>
      </p:sp>
      <p:sp>
        <p:nvSpPr>
          <p:cNvPr id="16" name="Shape 14"/>
          <p:cNvSpPr/>
          <p:nvPr/>
        </p:nvSpPr>
        <p:spPr>
          <a:xfrm>
            <a:off x="5056632" y="3246120"/>
            <a:ext cx="1170432" cy="868680"/>
          </a:xfrm>
          <a:prstGeom prst="roundRect">
            <a:avLst>
              <a:gd name="adj" fmla="val 8421"/>
            </a:avLst>
          </a:prstGeom>
          <a:solidFill>
            <a:srgbClr val="16215C"/>
          </a:solidFill>
          <a:ln/>
        </p:spPr>
      </p:sp>
      <p:sp>
        <p:nvSpPr>
          <p:cNvPr id="17" name="Text 15"/>
          <p:cNvSpPr/>
          <p:nvPr/>
        </p:nvSpPr>
        <p:spPr>
          <a:xfrm>
            <a:off x="5056632" y="3246120"/>
            <a:ext cx="1170432" cy="502920"/>
          </a:xfrm>
          <a:prstGeom prst="rect">
            <a:avLst/>
          </a:prstGeom>
          <a:noFill/>
          <a:ln/>
        </p:spPr>
        <p:txBody>
          <a:bodyPr wrap="square" lIns="0" tIns="0" rIns="0" bIns="0" rtlCol="0" anchor="b"/>
          <a:lstStyle/>
          <a:p>
            <a:pPr algn="ctr" indent="0" marL="0">
              <a:buNone/>
            </a:pPr>
            <a:r>
              <a:rPr lang="en-US" sz="1000" b="1" dirty="0">
                <a:solidFill>
                  <a:srgbClr val="AEB8E8"/>
                </a:solidFill>
                <a:latin typeface="Calibri" pitchFamily="34" charset="0"/>
                <a:ea typeface="Calibri" pitchFamily="34" charset="-122"/>
                <a:cs typeface="Calibri" pitchFamily="34" charset="-120"/>
              </a:rPr>
              <a:t>Expert 1</a:t>
            </a:r>
            <a:endParaRPr lang="en-US" sz="1000" dirty="0"/>
          </a:p>
        </p:txBody>
      </p:sp>
      <p:sp>
        <p:nvSpPr>
          <p:cNvPr id="18" name="Text 16"/>
          <p:cNvSpPr/>
          <p:nvPr/>
        </p:nvSpPr>
        <p:spPr>
          <a:xfrm>
            <a:off x="5056632" y="3749040"/>
            <a:ext cx="1170432" cy="320040"/>
          </a:xfrm>
          <a:prstGeom prst="rect">
            <a:avLst/>
          </a:prstGeom>
          <a:noFill/>
          <a:ln/>
        </p:spPr>
        <p:txBody>
          <a:bodyPr wrap="square" lIns="0" tIns="0" rIns="0" bIns="0" rtlCol="0" anchor="t"/>
          <a:lstStyle/>
          <a:p>
            <a:pPr algn="ctr" indent="0" marL="0">
              <a:buNone/>
            </a:pPr>
            <a:r>
              <a:rPr lang="en-US" sz="800" dirty="0">
                <a:solidFill>
                  <a:srgbClr val="5B6480"/>
                </a:solidFill>
                <a:latin typeface="Calibri" pitchFamily="34" charset="0"/>
                <a:ea typeface="Calibri" pitchFamily="34" charset="-122"/>
                <a:cs typeface="Calibri" pitchFamily="34" charset="-120"/>
              </a:rPr>
              <a:t>idle</a:t>
            </a:r>
            <a:endParaRPr lang="en-US" sz="800" dirty="0"/>
          </a:p>
        </p:txBody>
      </p:sp>
      <p:sp>
        <p:nvSpPr>
          <p:cNvPr id="19" name="Shape 17"/>
          <p:cNvSpPr/>
          <p:nvPr/>
        </p:nvSpPr>
        <p:spPr>
          <a:xfrm>
            <a:off x="8257032" y="2880360"/>
            <a:ext cx="1316736" cy="365760"/>
          </a:xfrm>
          <a:prstGeom prst="line">
            <a:avLst/>
          </a:prstGeom>
          <a:noFill/>
          <a:ln w="25400">
            <a:solidFill>
              <a:srgbClr val="4FD8EB"/>
            </a:solidFill>
            <a:prstDash val="solid"/>
          </a:ln>
        </p:spPr>
      </p:sp>
      <p:sp>
        <p:nvSpPr>
          <p:cNvPr id="20" name="Shape 18"/>
          <p:cNvSpPr/>
          <p:nvPr/>
        </p:nvSpPr>
        <p:spPr>
          <a:xfrm>
            <a:off x="6373368" y="3246120"/>
            <a:ext cx="1170432" cy="868680"/>
          </a:xfrm>
          <a:prstGeom prst="roundRect">
            <a:avLst>
              <a:gd name="adj" fmla="val 8421"/>
            </a:avLst>
          </a:prstGeom>
          <a:solidFill>
            <a:srgbClr val="4FD8EB"/>
          </a:solidFill>
          <a:ln w="19050">
            <a:solidFill>
              <a:srgbClr val="FFFFFF"/>
            </a:solidFill>
            <a:prstDash val="solid"/>
          </a:ln>
        </p:spPr>
      </p:sp>
      <p:sp>
        <p:nvSpPr>
          <p:cNvPr id="21" name="Text 19"/>
          <p:cNvSpPr/>
          <p:nvPr/>
        </p:nvSpPr>
        <p:spPr>
          <a:xfrm>
            <a:off x="6373368" y="3246120"/>
            <a:ext cx="1170432" cy="502920"/>
          </a:xfrm>
          <a:prstGeom prst="rect">
            <a:avLst/>
          </a:prstGeom>
          <a:noFill/>
          <a:ln/>
        </p:spPr>
        <p:txBody>
          <a:bodyPr wrap="square" lIns="0" tIns="0" rIns="0" bIns="0" rtlCol="0" anchor="b"/>
          <a:lstStyle/>
          <a:p>
            <a:pPr algn="ctr" indent="0" marL="0">
              <a:buNone/>
            </a:pPr>
            <a:r>
              <a:rPr lang="en-US" sz="1000" b="1" dirty="0">
                <a:solidFill>
                  <a:srgbClr val="0B1442"/>
                </a:solidFill>
                <a:latin typeface="Calibri" pitchFamily="34" charset="0"/>
                <a:ea typeface="Calibri" pitchFamily="34" charset="-122"/>
                <a:cs typeface="Calibri" pitchFamily="34" charset="-120"/>
              </a:rPr>
              <a:t>Expert 2</a:t>
            </a:r>
            <a:endParaRPr lang="en-US" sz="1000" dirty="0"/>
          </a:p>
        </p:txBody>
      </p:sp>
      <p:sp>
        <p:nvSpPr>
          <p:cNvPr id="22" name="Text 20"/>
          <p:cNvSpPr/>
          <p:nvPr/>
        </p:nvSpPr>
        <p:spPr>
          <a:xfrm>
            <a:off x="6373368" y="3749040"/>
            <a:ext cx="1170432" cy="320040"/>
          </a:xfrm>
          <a:prstGeom prst="rect">
            <a:avLst/>
          </a:prstGeom>
          <a:noFill/>
          <a:ln/>
        </p:spPr>
        <p:txBody>
          <a:bodyPr wrap="square" lIns="0" tIns="0" rIns="0" bIns="0" rtlCol="0" anchor="t"/>
          <a:lstStyle/>
          <a:p>
            <a:pPr algn="ctr" indent="0" marL="0">
              <a:buNone/>
            </a:pPr>
            <a:r>
              <a:rPr lang="en-US" sz="800" b="1" dirty="0">
                <a:solidFill>
                  <a:srgbClr val="0B1442"/>
                </a:solidFill>
                <a:latin typeface="Calibri" pitchFamily="34" charset="0"/>
                <a:ea typeface="Calibri" pitchFamily="34" charset="-122"/>
                <a:cs typeface="Calibri" pitchFamily="34" charset="-120"/>
              </a:rPr>
              <a:t>ACTIVE</a:t>
            </a:r>
            <a:endParaRPr lang="en-US" sz="800" dirty="0"/>
          </a:p>
        </p:txBody>
      </p:sp>
      <p:sp>
        <p:nvSpPr>
          <p:cNvPr id="23" name="Shape 21"/>
          <p:cNvSpPr/>
          <p:nvPr/>
        </p:nvSpPr>
        <p:spPr>
          <a:xfrm>
            <a:off x="8257032" y="2880360"/>
            <a:ext cx="9144" cy="365760"/>
          </a:xfrm>
          <a:prstGeom prst="line">
            <a:avLst/>
          </a:prstGeom>
          <a:noFill/>
          <a:ln w="12700">
            <a:solidFill>
              <a:srgbClr val="334085"/>
            </a:solidFill>
            <a:prstDash val="solid"/>
          </a:ln>
        </p:spPr>
      </p:sp>
      <p:sp>
        <p:nvSpPr>
          <p:cNvPr id="24" name="Shape 22"/>
          <p:cNvSpPr/>
          <p:nvPr/>
        </p:nvSpPr>
        <p:spPr>
          <a:xfrm>
            <a:off x="7690104" y="3246120"/>
            <a:ext cx="1170432" cy="868680"/>
          </a:xfrm>
          <a:prstGeom prst="roundRect">
            <a:avLst>
              <a:gd name="adj" fmla="val 8421"/>
            </a:avLst>
          </a:prstGeom>
          <a:solidFill>
            <a:srgbClr val="16215C"/>
          </a:solidFill>
          <a:ln/>
        </p:spPr>
      </p:sp>
      <p:sp>
        <p:nvSpPr>
          <p:cNvPr id="25" name="Text 23"/>
          <p:cNvSpPr/>
          <p:nvPr/>
        </p:nvSpPr>
        <p:spPr>
          <a:xfrm>
            <a:off x="7690104" y="3246120"/>
            <a:ext cx="1170432" cy="502920"/>
          </a:xfrm>
          <a:prstGeom prst="rect">
            <a:avLst/>
          </a:prstGeom>
          <a:noFill/>
          <a:ln/>
        </p:spPr>
        <p:txBody>
          <a:bodyPr wrap="square" lIns="0" tIns="0" rIns="0" bIns="0" rtlCol="0" anchor="b"/>
          <a:lstStyle/>
          <a:p>
            <a:pPr algn="ctr" indent="0" marL="0">
              <a:buNone/>
            </a:pPr>
            <a:r>
              <a:rPr lang="en-US" sz="1000" b="1" dirty="0">
                <a:solidFill>
                  <a:srgbClr val="AEB8E8"/>
                </a:solidFill>
                <a:latin typeface="Calibri" pitchFamily="34" charset="0"/>
                <a:ea typeface="Calibri" pitchFamily="34" charset="-122"/>
                <a:cs typeface="Calibri" pitchFamily="34" charset="-120"/>
              </a:rPr>
              <a:t>Expert 3</a:t>
            </a:r>
            <a:endParaRPr lang="en-US" sz="1000" dirty="0"/>
          </a:p>
        </p:txBody>
      </p:sp>
      <p:sp>
        <p:nvSpPr>
          <p:cNvPr id="26" name="Text 24"/>
          <p:cNvSpPr/>
          <p:nvPr/>
        </p:nvSpPr>
        <p:spPr>
          <a:xfrm>
            <a:off x="7690104" y="3749040"/>
            <a:ext cx="1170432" cy="320040"/>
          </a:xfrm>
          <a:prstGeom prst="rect">
            <a:avLst/>
          </a:prstGeom>
          <a:noFill/>
          <a:ln/>
        </p:spPr>
        <p:txBody>
          <a:bodyPr wrap="square" lIns="0" tIns="0" rIns="0" bIns="0" rtlCol="0" anchor="t"/>
          <a:lstStyle/>
          <a:p>
            <a:pPr algn="ctr" indent="0" marL="0">
              <a:buNone/>
            </a:pPr>
            <a:r>
              <a:rPr lang="en-US" sz="800" dirty="0">
                <a:solidFill>
                  <a:srgbClr val="5B6480"/>
                </a:solidFill>
                <a:latin typeface="Calibri" pitchFamily="34" charset="0"/>
                <a:ea typeface="Calibri" pitchFamily="34" charset="-122"/>
                <a:cs typeface="Calibri" pitchFamily="34" charset="-120"/>
              </a:rPr>
              <a:t>idle</a:t>
            </a:r>
            <a:endParaRPr lang="en-US" sz="800" dirty="0"/>
          </a:p>
        </p:txBody>
      </p:sp>
      <p:sp>
        <p:nvSpPr>
          <p:cNvPr id="27" name="Shape 25"/>
          <p:cNvSpPr/>
          <p:nvPr/>
        </p:nvSpPr>
        <p:spPr>
          <a:xfrm>
            <a:off x="8257032" y="2880360"/>
            <a:ext cx="1316736" cy="365760"/>
          </a:xfrm>
          <a:prstGeom prst="line">
            <a:avLst/>
          </a:prstGeom>
          <a:noFill/>
          <a:ln w="25400">
            <a:solidFill>
              <a:srgbClr val="4FD8EB"/>
            </a:solidFill>
            <a:prstDash val="solid"/>
          </a:ln>
        </p:spPr>
      </p:sp>
      <p:sp>
        <p:nvSpPr>
          <p:cNvPr id="28" name="Shape 26"/>
          <p:cNvSpPr/>
          <p:nvPr/>
        </p:nvSpPr>
        <p:spPr>
          <a:xfrm>
            <a:off x="9006840" y="3246120"/>
            <a:ext cx="1170432" cy="868680"/>
          </a:xfrm>
          <a:prstGeom prst="roundRect">
            <a:avLst>
              <a:gd name="adj" fmla="val 8421"/>
            </a:avLst>
          </a:prstGeom>
          <a:solidFill>
            <a:srgbClr val="4FD8EB"/>
          </a:solidFill>
          <a:ln w="19050">
            <a:solidFill>
              <a:srgbClr val="FFFFFF"/>
            </a:solidFill>
            <a:prstDash val="solid"/>
          </a:ln>
        </p:spPr>
      </p:sp>
      <p:sp>
        <p:nvSpPr>
          <p:cNvPr id="29" name="Text 27"/>
          <p:cNvSpPr/>
          <p:nvPr/>
        </p:nvSpPr>
        <p:spPr>
          <a:xfrm>
            <a:off x="9006840" y="3246120"/>
            <a:ext cx="1170432" cy="502920"/>
          </a:xfrm>
          <a:prstGeom prst="rect">
            <a:avLst/>
          </a:prstGeom>
          <a:noFill/>
          <a:ln/>
        </p:spPr>
        <p:txBody>
          <a:bodyPr wrap="square" lIns="0" tIns="0" rIns="0" bIns="0" rtlCol="0" anchor="b"/>
          <a:lstStyle/>
          <a:p>
            <a:pPr algn="ctr" indent="0" marL="0">
              <a:buNone/>
            </a:pPr>
            <a:r>
              <a:rPr lang="en-US" sz="1000" b="1" dirty="0">
                <a:solidFill>
                  <a:srgbClr val="0B1442"/>
                </a:solidFill>
                <a:latin typeface="Calibri" pitchFamily="34" charset="0"/>
                <a:ea typeface="Calibri" pitchFamily="34" charset="-122"/>
                <a:cs typeface="Calibri" pitchFamily="34" charset="-120"/>
              </a:rPr>
              <a:t>Expert 4</a:t>
            </a:r>
            <a:endParaRPr lang="en-US" sz="1000" dirty="0"/>
          </a:p>
        </p:txBody>
      </p:sp>
      <p:sp>
        <p:nvSpPr>
          <p:cNvPr id="30" name="Text 28"/>
          <p:cNvSpPr/>
          <p:nvPr/>
        </p:nvSpPr>
        <p:spPr>
          <a:xfrm>
            <a:off x="9006840" y="3749040"/>
            <a:ext cx="1170432" cy="320040"/>
          </a:xfrm>
          <a:prstGeom prst="rect">
            <a:avLst/>
          </a:prstGeom>
          <a:noFill/>
          <a:ln/>
        </p:spPr>
        <p:txBody>
          <a:bodyPr wrap="square" lIns="0" tIns="0" rIns="0" bIns="0" rtlCol="0" anchor="t"/>
          <a:lstStyle/>
          <a:p>
            <a:pPr algn="ctr" indent="0" marL="0">
              <a:buNone/>
            </a:pPr>
            <a:r>
              <a:rPr lang="en-US" sz="800" b="1" dirty="0">
                <a:solidFill>
                  <a:srgbClr val="0B1442"/>
                </a:solidFill>
                <a:latin typeface="Calibri" pitchFamily="34" charset="0"/>
                <a:ea typeface="Calibri" pitchFamily="34" charset="-122"/>
                <a:cs typeface="Calibri" pitchFamily="34" charset="-120"/>
              </a:rPr>
              <a:t>ACTIVE</a:t>
            </a:r>
            <a:endParaRPr lang="en-US" sz="800" dirty="0"/>
          </a:p>
        </p:txBody>
      </p:sp>
      <p:sp>
        <p:nvSpPr>
          <p:cNvPr id="31" name="Shape 29"/>
          <p:cNvSpPr/>
          <p:nvPr/>
        </p:nvSpPr>
        <p:spPr>
          <a:xfrm>
            <a:off x="8257032" y="2880360"/>
            <a:ext cx="2633472" cy="365760"/>
          </a:xfrm>
          <a:prstGeom prst="line">
            <a:avLst/>
          </a:prstGeom>
          <a:noFill/>
          <a:ln w="12700">
            <a:solidFill>
              <a:srgbClr val="334085"/>
            </a:solidFill>
            <a:prstDash val="solid"/>
          </a:ln>
        </p:spPr>
      </p:sp>
      <p:sp>
        <p:nvSpPr>
          <p:cNvPr id="32" name="Shape 30"/>
          <p:cNvSpPr/>
          <p:nvPr/>
        </p:nvSpPr>
        <p:spPr>
          <a:xfrm>
            <a:off x="10323576" y="3246120"/>
            <a:ext cx="1170432" cy="868680"/>
          </a:xfrm>
          <a:prstGeom prst="roundRect">
            <a:avLst>
              <a:gd name="adj" fmla="val 8421"/>
            </a:avLst>
          </a:prstGeom>
          <a:solidFill>
            <a:srgbClr val="16215C"/>
          </a:solidFill>
          <a:ln/>
        </p:spPr>
      </p:sp>
      <p:sp>
        <p:nvSpPr>
          <p:cNvPr id="33" name="Text 31"/>
          <p:cNvSpPr/>
          <p:nvPr/>
        </p:nvSpPr>
        <p:spPr>
          <a:xfrm>
            <a:off x="10323576" y="3246120"/>
            <a:ext cx="1170432" cy="502920"/>
          </a:xfrm>
          <a:prstGeom prst="rect">
            <a:avLst/>
          </a:prstGeom>
          <a:noFill/>
          <a:ln/>
        </p:spPr>
        <p:txBody>
          <a:bodyPr wrap="square" lIns="0" tIns="0" rIns="0" bIns="0" rtlCol="0" anchor="b"/>
          <a:lstStyle/>
          <a:p>
            <a:pPr algn="ctr" indent="0" marL="0">
              <a:buNone/>
            </a:pPr>
            <a:r>
              <a:rPr lang="en-US" sz="1000" b="1" dirty="0">
                <a:solidFill>
                  <a:srgbClr val="AEB8E8"/>
                </a:solidFill>
                <a:latin typeface="Calibri" pitchFamily="34" charset="0"/>
                <a:ea typeface="Calibri" pitchFamily="34" charset="-122"/>
                <a:cs typeface="Calibri" pitchFamily="34" charset="-120"/>
              </a:rPr>
              <a:t>Expert 5</a:t>
            </a:r>
            <a:endParaRPr lang="en-US" sz="1000" dirty="0"/>
          </a:p>
        </p:txBody>
      </p:sp>
      <p:sp>
        <p:nvSpPr>
          <p:cNvPr id="34" name="Text 32"/>
          <p:cNvSpPr/>
          <p:nvPr/>
        </p:nvSpPr>
        <p:spPr>
          <a:xfrm>
            <a:off x="10323576" y="3749040"/>
            <a:ext cx="1170432" cy="320040"/>
          </a:xfrm>
          <a:prstGeom prst="rect">
            <a:avLst/>
          </a:prstGeom>
          <a:noFill/>
          <a:ln/>
        </p:spPr>
        <p:txBody>
          <a:bodyPr wrap="square" lIns="0" tIns="0" rIns="0" bIns="0" rtlCol="0" anchor="t"/>
          <a:lstStyle/>
          <a:p>
            <a:pPr algn="ctr" indent="0" marL="0">
              <a:buNone/>
            </a:pPr>
            <a:r>
              <a:rPr lang="en-US" sz="800" dirty="0">
                <a:solidFill>
                  <a:srgbClr val="5B6480"/>
                </a:solidFill>
                <a:latin typeface="Calibri" pitchFamily="34" charset="0"/>
                <a:ea typeface="Calibri" pitchFamily="34" charset="-122"/>
                <a:cs typeface="Calibri" pitchFamily="34" charset="-120"/>
              </a:rPr>
              <a:t>idle</a:t>
            </a:r>
            <a:endParaRPr lang="en-US" sz="800" dirty="0"/>
          </a:p>
        </p:txBody>
      </p:sp>
      <p:sp>
        <p:nvSpPr>
          <p:cNvPr id="35" name="Text 33"/>
          <p:cNvSpPr/>
          <p:nvPr/>
        </p:nvSpPr>
        <p:spPr>
          <a:xfrm>
            <a:off x="8129016" y="4251960"/>
            <a:ext cx="292608" cy="292608"/>
          </a:xfrm>
          <a:prstGeom prst="rect">
            <a:avLst/>
          </a:prstGeom>
          <a:noFill/>
          <a:ln/>
        </p:spPr>
        <p:txBody>
          <a:bodyPr wrap="square" rtlCol="0" anchor="ctr"/>
          <a:lstStyle/>
          <a:p>
            <a:pPr algn="ctr" indent="0" marL="0">
              <a:buNone/>
            </a:pPr>
            <a:r>
              <a:rPr lang="en-US" sz="1400" b="1" dirty="0">
                <a:solidFill>
                  <a:srgbClr val="4FD8EB"/>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6537960" y="4572000"/>
            <a:ext cx="3474720" cy="566928"/>
          </a:xfrm>
          <a:prstGeom prst="roundRect">
            <a:avLst>
              <a:gd name="adj" fmla="val 14516"/>
            </a:avLst>
          </a:prstGeom>
          <a:solidFill>
            <a:srgbClr val="16215C"/>
          </a:solidFill>
          <a:ln/>
          <a:effectLst>
            <a:outerShdw sx="100000" sy="100000" kx="0" ky="0" algn="bl" rotWithShape="0" blurRad="76200" dist="25400" dir="5400000">
              <a:srgbClr val="0B1442">
                <a:alpha val="18000"/>
              </a:srgbClr>
            </a:outerShdw>
          </a:effectLst>
        </p:spPr>
      </p:sp>
      <p:sp>
        <p:nvSpPr>
          <p:cNvPr id="37" name="Shape 35"/>
          <p:cNvSpPr/>
          <p:nvPr/>
        </p:nvSpPr>
        <p:spPr>
          <a:xfrm>
            <a:off x="6665976" y="4663440"/>
            <a:ext cx="384048" cy="384048"/>
          </a:xfrm>
          <a:prstGeom prst="ellipse">
            <a:avLst/>
          </a:prstGeom>
          <a:solidFill>
            <a:srgbClr val="4FD8EB"/>
          </a:solidFill>
          <a:ln/>
        </p:spPr>
      </p:sp>
      <p:sp>
        <p:nvSpPr>
          <p:cNvPr id="38" name="Text 36"/>
          <p:cNvSpPr/>
          <p:nvPr/>
        </p:nvSpPr>
        <p:spPr>
          <a:xfrm>
            <a:off x="6665976" y="4663440"/>
            <a:ext cx="384048" cy="384048"/>
          </a:xfrm>
          <a:prstGeom prst="rect">
            <a:avLst/>
          </a:prstGeom>
          <a:noFill/>
          <a:ln/>
        </p:spPr>
        <p:txBody>
          <a:bodyPr wrap="square" rtlCol="0" anchor="ctr"/>
          <a:lstStyle/>
          <a:p>
            <a:pPr algn="ctr" indent="0" marL="0">
              <a:buNone/>
            </a:pPr>
            <a:r>
              <a:rPr lang="en-US" sz="1260" b="1" dirty="0">
                <a:solidFill>
                  <a:srgbClr val="0B1442"/>
                </a:solidFill>
                <a:latin typeface="Calibri" pitchFamily="34" charset="0"/>
                <a:ea typeface="Calibri" pitchFamily="34" charset="-122"/>
                <a:cs typeface="Calibri" pitchFamily="34" charset="-120"/>
              </a:rPr>
              <a:t>Σ</a:t>
            </a:r>
            <a:endParaRPr lang="en-US" sz="1260" dirty="0"/>
          </a:p>
        </p:txBody>
      </p:sp>
      <p:sp>
        <p:nvSpPr>
          <p:cNvPr id="39" name="Text 37"/>
          <p:cNvSpPr/>
          <p:nvPr/>
        </p:nvSpPr>
        <p:spPr>
          <a:xfrm>
            <a:off x="7159752" y="4572000"/>
            <a:ext cx="2724912" cy="566928"/>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Weighted Sum of Selected Experts</a:t>
            </a:r>
            <a:endParaRPr lang="en-US" sz="1080" dirty="0"/>
          </a:p>
        </p:txBody>
      </p:sp>
      <p:sp>
        <p:nvSpPr>
          <p:cNvPr id="40" name="Text 38"/>
          <p:cNvSpPr/>
          <p:nvPr/>
        </p:nvSpPr>
        <p:spPr>
          <a:xfrm>
            <a:off x="8129016" y="5138928"/>
            <a:ext cx="292608" cy="274320"/>
          </a:xfrm>
          <a:prstGeom prst="rect">
            <a:avLst/>
          </a:prstGeom>
          <a:noFill/>
          <a:ln/>
        </p:spPr>
        <p:txBody>
          <a:bodyPr wrap="square" rtlCol="0" anchor="ctr"/>
          <a:lstStyle/>
          <a:p>
            <a:pPr algn="ctr" indent="0" marL="0">
              <a:buNone/>
            </a:pPr>
            <a:r>
              <a:rPr lang="en-US" sz="1400" b="1" dirty="0">
                <a:solidFill>
                  <a:srgbClr val="4FD8EB"/>
                </a:solidFill>
                <a:latin typeface="Calibri" pitchFamily="34" charset="0"/>
                <a:ea typeface="Calibri" pitchFamily="34" charset="-122"/>
                <a:cs typeface="Calibri" pitchFamily="34" charset="-120"/>
              </a:rPr>
              <a:t>▼</a:t>
            </a:r>
            <a:endParaRPr lang="en-US" sz="1400" dirty="0"/>
          </a:p>
        </p:txBody>
      </p:sp>
      <p:sp>
        <p:nvSpPr>
          <p:cNvPr id="41" name="Shape 39"/>
          <p:cNvSpPr/>
          <p:nvPr/>
        </p:nvSpPr>
        <p:spPr>
          <a:xfrm>
            <a:off x="7178040" y="5413248"/>
            <a:ext cx="2194560" cy="502920"/>
          </a:xfrm>
          <a:prstGeom prst="roundRect">
            <a:avLst>
              <a:gd name="adj" fmla="val 16364"/>
            </a:avLst>
          </a:prstGeom>
          <a:solidFill>
            <a:srgbClr val="4FD8EB"/>
          </a:solidFill>
          <a:ln/>
          <a:effectLst>
            <a:outerShdw sx="100000" sy="100000" kx="0" ky="0" algn="bl" rotWithShape="0" blurRad="76200" dist="25400" dir="5400000">
              <a:srgbClr val="0B1442">
                <a:alpha val="18000"/>
              </a:srgbClr>
            </a:outerShdw>
          </a:effectLst>
        </p:spPr>
      </p:sp>
      <p:sp>
        <p:nvSpPr>
          <p:cNvPr id="42" name="Shape 40"/>
          <p:cNvSpPr/>
          <p:nvPr/>
        </p:nvSpPr>
        <p:spPr>
          <a:xfrm>
            <a:off x="7306056" y="5504688"/>
            <a:ext cx="320040" cy="320040"/>
          </a:xfrm>
          <a:prstGeom prst="ellipse">
            <a:avLst/>
          </a:prstGeom>
          <a:solidFill>
            <a:srgbClr val="0B1442"/>
          </a:solidFill>
          <a:ln/>
        </p:spPr>
      </p:sp>
      <p:sp>
        <p:nvSpPr>
          <p:cNvPr id="43" name="Text 41"/>
          <p:cNvSpPr/>
          <p:nvPr/>
        </p:nvSpPr>
        <p:spPr>
          <a:xfrm>
            <a:off x="7306056" y="5504688"/>
            <a:ext cx="320040" cy="320040"/>
          </a:xfrm>
          <a:prstGeom prst="rect">
            <a:avLst/>
          </a:prstGeom>
          <a:noFill/>
          <a:ln/>
        </p:spPr>
        <p:txBody>
          <a:bodyPr wrap="square" rtlCol="0" anchor="ctr"/>
          <a:lstStyle/>
          <a:p>
            <a:pPr algn="ctr" indent="0" marL="0">
              <a:buNone/>
            </a:pPr>
            <a:r>
              <a:rPr lang="en-US" sz="1050" b="1" dirty="0">
                <a:solidFill>
                  <a:srgbClr val="4FD8EB"/>
                </a:solidFill>
                <a:latin typeface="Calibri" pitchFamily="34" charset="0"/>
                <a:ea typeface="Calibri" pitchFamily="34" charset="-122"/>
                <a:cs typeface="Calibri" pitchFamily="34" charset="-120"/>
              </a:rPr>
              <a:t>→</a:t>
            </a:r>
            <a:endParaRPr lang="en-US" sz="1050" dirty="0"/>
          </a:p>
        </p:txBody>
      </p:sp>
      <p:sp>
        <p:nvSpPr>
          <p:cNvPr id="44" name="Text 42"/>
          <p:cNvSpPr/>
          <p:nvPr/>
        </p:nvSpPr>
        <p:spPr>
          <a:xfrm>
            <a:off x="7735824" y="5413248"/>
            <a:ext cx="1508760" cy="502920"/>
          </a:xfrm>
          <a:prstGeom prst="rect">
            <a:avLst/>
          </a:prstGeom>
          <a:noFill/>
          <a:ln/>
        </p:spPr>
        <p:txBody>
          <a:bodyPr wrap="square" lIns="0" tIns="0" rIns="0" bIns="0" rtlCol="0" anchor="ctr"/>
          <a:lstStyle/>
          <a:p>
            <a:pPr indent="0" marL="0">
              <a:buNone/>
            </a:pPr>
            <a:r>
              <a:rPr lang="en-US" sz="1200" b="1" dirty="0">
                <a:solidFill>
                  <a:srgbClr val="0B1442"/>
                </a:solidFill>
                <a:latin typeface="Calibri" pitchFamily="34" charset="0"/>
                <a:ea typeface="Calibri" pitchFamily="34" charset="-122"/>
                <a:cs typeface="Calibri" pitchFamily="34" charset="-120"/>
              </a:rPr>
              <a:t>Output</a:t>
            </a:r>
            <a:endParaRPr lang="en-US" sz="1200" dirty="0"/>
          </a:p>
        </p:txBody>
      </p:sp>
      <p:sp>
        <p:nvSpPr>
          <p:cNvPr id="45" name="Text 43"/>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8891C4"/>
                </a:solidFill>
                <a:latin typeface="Calibri" pitchFamily="34" charset="0"/>
                <a:ea typeface="Calibri" pitchFamily="34" charset="-122"/>
                <a:cs typeface="Calibri" pitchFamily="34" charset="-120"/>
              </a:rPr>
              <a:t>DEEPSEEK AI MODEL  |  AI ENGINEERING SEMINAR</a:t>
            </a:r>
            <a:endParaRPr lang="en-US" sz="900" dirty="0"/>
          </a:p>
        </p:txBody>
      </p:sp>
      <p:sp>
        <p:nvSpPr>
          <p:cNvPr id="46" name="Text 44"/>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8891C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ALGORITHM 8 / 9</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Softmax</a:t>
            </a:r>
            <a:endParaRPr lang="en-US" sz="3000" dirty="0"/>
          </a:p>
        </p:txBody>
      </p:sp>
      <p:sp>
        <p:nvSpPr>
          <p:cNvPr id="4" name="Text 2"/>
          <p:cNvSpPr/>
          <p:nvPr/>
        </p:nvSpPr>
        <p:spPr>
          <a:xfrm>
            <a:off x="502920" y="1508760"/>
            <a:ext cx="5212080" cy="237744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Converts a vector of raw scores (logits) — one per vocabulary word — into probabilities that are all positive and sum to 1.</a:t>
            </a:r>
            <a:endParaRPr lang="en-US" sz="1250" dirty="0"/>
          </a:p>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Formula: softmax(zᵢ) = e^zᵢ / Σⱼ e^zⱼ — larger logits get exponentially larger probability.</a:t>
            </a:r>
            <a:endParaRPr lang="en-US" sz="1250" dirty="0"/>
          </a:p>
          <a:p>
            <a:pPr marL="177800" indent="-177800">
              <a:lnSpc>
                <a:spcPct val="108000"/>
              </a:lnSpc>
              <a:spcAft>
                <a:spcPts val="1000"/>
              </a:spcAft>
              <a:buSzPct val="100000"/>
              <a:buChar char="●"/>
            </a:pPr>
            <a:r>
              <a:rPr lang="en-US" sz="1250" dirty="0">
                <a:solidFill>
                  <a:srgbClr val="121A3A"/>
                </a:solidFill>
                <a:latin typeface="Calibri" pitchFamily="34" charset="0"/>
                <a:ea typeface="Calibri" pitchFamily="34" charset="-122"/>
                <a:cs typeface="Calibri" pitchFamily="34" charset="-120"/>
              </a:rPr>
              <a:t>Applied at the very end of the decoder stack, over the entire vocabulary, to decide what the model “thinks” should come next.</a:t>
            </a:r>
            <a:endParaRPr lang="en-US" sz="1250" dirty="0"/>
          </a:p>
        </p:txBody>
      </p:sp>
      <p:sp>
        <p:nvSpPr>
          <p:cNvPr id="5" name="Shape 3"/>
          <p:cNvSpPr/>
          <p:nvPr/>
        </p:nvSpPr>
        <p:spPr>
          <a:xfrm>
            <a:off x="502920" y="4160520"/>
            <a:ext cx="5212080" cy="1005840"/>
          </a:xfrm>
          <a:prstGeom prst="roundRect">
            <a:avLst>
              <a:gd name="adj" fmla="val 7273"/>
            </a:avLst>
          </a:prstGeom>
          <a:solidFill>
            <a:srgbClr val="0B1442"/>
          </a:solidFill>
          <a:ln/>
        </p:spPr>
      </p:sp>
      <p:sp>
        <p:nvSpPr>
          <p:cNvPr id="6" name="Text 4"/>
          <p:cNvSpPr/>
          <p:nvPr/>
        </p:nvSpPr>
        <p:spPr>
          <a:xfrm>
            <a:off x="731520" y="4343400"/>
            <a:ext cx="4754880" cy="457200"/>
          </a:xfrm>
          <a:prstGeom prst="rect">
            <a:avLst/>
          </a:prstGeom>
          <a:noFill/>
          <a:ln/>
        </p:spPr>
        <p:txBody>
          <a:bodyPr wrap="square" lIns="0" tIns="0" rIns="0" bIns="0" rtlCol="0" anchor="ctr"/>
          <a:lstStyle/>
          <a:p>
            <a:pPr indent="0" marL="0">
              <a:buNone/>
            </a:pPr>
            <a:r>
              <a:rPr lang="en-US" sz="1500" dirty="0">
                <a:solidFill>
                  <a:srgbClr val="4FD8EB"/>
                </a:solidFill>
                <a:latin typeface="Courier New" pitchFamily="34" charset="0"/>
                <a:ea typeface="Courier New" pitchFamily="34" charset="-122"/>
                <a:cs typeface="Courier New" pitchFamily="34" charset="-120"/>
              </a:rPr>
              <a:t>softmax(zᵢ) = e^zᵢ  ⁄  Σⱼ e^zⱼ</a:t>
            </a:r>
            <a:endParaRPr lang="en-US" sz="1500" dirty="0"/>
          </a:p>
        </p:txBody>
      </p:sp>
      <p:sp>
        <p:nvSpPr>
          <p:cNvPr id="7" name="Text 5"/>
          <p:cNvSpPr/>
          <p:nvPr/>
        </p:nvSpPr>
        <p:spPr>
          <a:xfrm>
            <a:off x="502920" y="5303520"/>
            <a:ext cx="5212080" cy="457200"/>
          </a:xfrm>
          <a:prstGeom prst="rect">
            <a:avLst/>
          </a:prstGeom>
          <a:noFill/>
          <a:ln/>
        </p:spPr>
        <p:txBody>
          <a:bodyPr wrap="square" lIns="0" tIns="0" rIns="0" bIns="0" rtlCol="0" anchor="ctr"/>
          <a:lstStyle/>
          <a:p>
            <a:pPr indent="0" marL="0">
              <a:buNone/>
            </a:pPr>
            <a:r>
              <a:rPr lang="en-US" sz="1000" i="1" dirty="0">
                <a:solidFill>
                  <a:srgbClr val="5B6480"/>
                </a:solidFill>
                <a:latin typeface="Calibri" pitchFamily="34" charset="0"/>
                <a:ea typeface="Calibri" pitchFamily="34" charset="-122"/>
                <a:cs typeface="Calibri" pitchFamily="34" charset="-120"/>
              </a:rPr>
              <a:t>A temperature term can scale logits before this step to control randomness (see next slide).</a:t>
            </a:r>
            <a:endParaRPr lang="en-US" sz="1000" dirty="0"/>
          </a:p>
        </p:txBody>
      </p:sp>
      <p:sp>
        <p:nvSpPr>
          <p:cNvPr id="8" name="Shape 6"/>
          <p:cNvSpPr/>
          <p:nvPr/>
        </p:nvSpPr>
        <p:spPr>
          <a:xfrm>
            <a:off x="5623560" y="1508760"/>
            <a:ext cx="5669280" cy="4480560"/>
          </a:xfrm>
          <a:prstGeom prst="roundRect">
            <a:avLst>
              <a:gd name="adj" fmla="val 1837"/>
            </a:avLst>
          </a:prstGeom>
          <a:solidFill>
            <a:srgbClr val="FFFFFF"/>
          </a:solidFill>
          <a:ln w="12700">
            <a:solidFill>
              <a:srgbClr val="E1E5F5"/>
            </a:solidFill>
            <a:prstDash val="solid"/>
          </a:ln>
        </p:spPr>
      </p:sp>
      <p:sp>
        <p:nvSpPr>
          <p:cNvPr id="9" name="Text 7"/>
          <p:cNvSpPr/>
          <p:nvPr/>
        </p:nvSpPr>
        <p:spPr>
          <a:xfrm>
            <a:off x="5852160" y="1691640"/>
            <a:ext cx="5212080" cy="274320"/>
          </a:xfrm>
          <a:prstGeom prst="rect">
            <a:avLst/>
          </a:prstGeom>
          <a:noFill/>
          <a:ln/>
        </p:spPr>
        <p:txBody>
          <a:bodyPr wrap="square" rtlCol="0" anchor="ctr"/>
          <a:lstStyle/>
          <a:p>
            <a:pPr indent="0" marL="0">
              <a:buNone/>
            </a:pPr>
            <a:r>
              <a:rPr lang="en-US" sz="1100" b="1" dirty="0">
                <a:solidFill>
                  <a:srgbClr val="0E93A6"/>
                </a:solidFill>
                <a:latin typeface="Calibri" pitchFamily="34" charset="0"/>
                <a:ea typeface="Calibri" pitchFamily="34" charset="-122"/>
                <a:cs typeface="Calibri" pitchFamily="34" charset="-120"/>
              </a:rPr>
              <a:t>EXAMPLE — "Artificial Intelligence is ___"</a:t>
            </a:r>
            <a:endParaRPr lang="en-US" sz="1100" dirty="0"/>
          </a:p>
        </p:txBody>
      </p:sp>
      <p:sp>
        <p:nvSpPr>
          <p:cNvPr id="10" name="Text 8"/>
          <p:cNvSpPr/>
          <p:nvPr/>
        </p:nvSpPr>
        <p:spPr>
          <a:xfrm>
            <a:off x="5989320" y="2148840"/>
            <a:ext cx="1280160" cy="502920"/>
          </a:xfrm>
          <a:prstGeom prst="rect">
            <a:avLst/>
          </a:prstGeom>
          <a:noFill/>
          <a:ln/>
        </p:spPr>
        <p:txBody>
          <a:bodyPr wrap="square" lIns="0" tIns="0" rIns="0" bIns="0" rtlCol="0" anchor="ctr"/>
          <a:lstStyle/>
          <a:p>
            <a:pPr indent="0" marL="0">
              <a:buNone/>
            </a:pPr>
            <a:r>
              <a:rPr lang="en-US" sz="1100" dirty="0">
                <a:solidFill>
                  <a:srgbClr val="121A3A"/>
                </a:solidFill>
                <a:latin typeface="Calibri" pitchFamily="34" charset="0"/>
                <a:ea typeface="Calibri" pitchFamily="34" charset="-122"/>
                <a:cs typeface="Calibri" pitchFamily="34" charset="-120"/>
              </a:rPr>
              <a:t>Amazing</a:t>
            </a:r>
            <a:endParaRPr lang="en-US" sz="1100" dirty="0"/>
          </a:p>
        </p:txBody>
      </p:sp>
      <p:sp>
        <p:nvSpPr>
          <p:cNvPr id="11" name="Shape 9"/>
          <p:cNvSpPr/>
          <p:nvPr/>
        </p:nvSpPr>
        <p:spPr>
          <a:xfrm>
            <a:off x="7360920" y="2221992"/>
            <a:ext cx="3383280" cy="356616"/>
          </a:xfrm>
          <a:prstGeom prst="roundRect">
            <a:avLst>
              <a:gd name="adj" fmla="val 10256"/>
            </a:avLst>
          </a:prstGeom>
          <a:solidFill>
            <a:srgbClr val="0E93A6"/>
          </a:solidFill>
          <a:ln/>
        </p:spPr>
      </p:sp>
      <p:sp>
        <p:nvSpPr>
          <p:cNvPr id="12" name="Text 10"/>
          <p:cNvSpPr/>
          <p:nvPr/>
        </p:nvSpPr>
        <p:spPr>
          <a:xfrm>
            <a:off x="10835640" y="2148840"/>
            <a:ext cx="640080" cy="502920"/>
          </a:xfrm>
          <a:prstGeom prst="rect">
            <a:avLst/>
          </a:prstGeom>
          <a:noFill/>
          <a:ln/>
        </p:spPr>
        <p:txBody>
          <a:bodyPr wrap="square" lIns="0" tIns="0" rIns="0" bIns="0" rtlCol="0" anchor="ctr"/>
          <a:lstStyle/>
          <a:p>
            <a:pPr indent="0" marL="0">
              <a:buNone/>
            </a:pPr>
            <a:r>
              <a:rPr lang="en-US" sz="1100" b="1" dirty="0">
                <a:solidFill>
                  <a:srgbClr val="121A3A"/>
                </a:solidFill>
                <a:latin typeface="Calibri" pitchFamily="34" charset="0"/>
                <a:ea typeface="Calibri" pitchFamily="34" charset="-122"/>
                <a:cs typeface="Calibri" pitchFamily="34" charset="-120"/>
              </a:rPr>
              <a:t>82%</a:t>
            </a:r>
            <a:endParaRPr lang="en-US" sz="1100" dirty="0"/>
          </a:p>
        </p:txBody>
      </p:sp>
      <p:sp>
        <p:nvSpPr>
          <p:cNvPr id="13" name="Text 11"/>
          <p:cNvSpPr/>
          <p:nvPr/>
        </p:nvSpPr>
        <p:spPr>
          <a:xfrm>
            <a:off x="5989320" y="2788920"/>
            <a:ext cx="1280160" cy="502920"/>
          </a:xfrm>
          <a:prstGeom prst="rect">
            <a:avLst/>
          </a:prstGeom>
          <a:noFill/>
          <a:ln/>
        </p:spPr>
        <p:txBody>
          <a:bodyPr wrap="square" lIns="0" tIns="0" rIns="0" bIns="0" rtlCol="0" anchor="ctr"/>
          <a:lstStyle/>
          <a:p>
            <a:pPr indent="0" marL="0">
              <a:buNone/>
            </a:pPr>
            <a:r>
              <a:rPr lang="en-US" sz="1100" dirty="0">
                <a:solidFill>
                  <a:srgbClr val="121A3A"/>
                </a:solidFill>
                <a:latin typeface="Calibri" pitchFamily="34" charset="0"/>
                <a:ea typeface="Calibri" pitchFamily="34" charset="-122"/>
                <a:cs typeface="Calibri" pitchFamily="34" charset="-120"/>
              </a:rPr>
              <a:t>Useful</a:t>
            </a:r>
            <a:endParaRPr lang="en-US" sz="1100" dirty="0"/>
          </a:p>
        </p:txBody>
      </p:sp>
      <p:sp>
        <p:nvSpPr>
          <p:cNvPr id="14" name="Shape 12"/>
          <p:cNvSpPr/>
          <p:nvPr/>
        </p:nvSpPr>
        <p:spPr>
          <a:xfrm>
            <a:off x="7360920" y="2862072"/>
            <a:ext cx="412595" cy="356616"/>
          </a:xfrm>
          <a:prstGeom prst="roundRect">
            <a:avLst>
              <a:gd name="adj" fmla="val 10256"/>
            </a:avLst>
          </a:prstGeom>
          <a:solidFill>
            <a:srgbClr val="9A72E8"/>
          </a:solidFill>
          <a:ln/>
        </p:spPr>
      </p:sp>
      <p:sp>
        <p:nvSpPr>
          <p:cNvPr id="15" name="Text 13"/>
          <p:cNvSpPr/>
          <p:nvPr/>
        </p:nvSpPr>
        <p:spPr>
          <a:xfrm>
            <a:off x="7864955" y="2788920"/>
            <a:ext cx="640080" cy="502920"/>
          </a:xfrm>
          <a:prstGeom prst="rect">
            <a:avLst/>
          </a:prstGeom>
          <a:noFill/>
          <a:ln/>
        </p:spPr>
        <p:txBody>
          <a:bodyPr wrap="square" lIns="0" tIns="0" rIns="0" bIns="0" rtlCol="0" anchor="ctr"/>
          <a:lstStyle/>
          <a:p>
            <a:pPr indent="0" marL="0">
              <a:buNone/>
            </a:pPr>
            <a:r>
              <a:rPr lang="en-US" sz="1100" b="1" dirty="0">
                <a:solidFill>
                  <a:srgbClr val="121A3A"/>
                </a:solidFill>
                <a:latin typeface="Calibri" pitchFamily="34" charset="0"/>
                <a:ea typeface="Calibri" pitchFamily="34" charset="-122"/>
                <a:cs typeface="Calibri" pitchFamily="34" charset="-120"/>
              </a:rPr>
              <a:t>10%</a:t>
            </a:r>
            <a:endParaRPr lang="en-US" sz="1100" dirty="0"/>
          </a:p>
        </p:txBody>
      </p:sp>
      <p:sp>
        <p:nvSpPr>
          <p:cNvPr id="16" name="Text 14"/>
          <p:cNvSpPr/>
          <p:nvPr/>
        </p:nvSpPr>
        <p:spPr>
          <a:xfrm>
            <a:off x="5989320" y="3429000"/>
            <a:ext cx="1280160" cy="502920"/>
          </a:xfrm>
          <a:prstGeom prst="rect">
            <a:avLst/>
          </a:prstGeom>
          <a:noFill/>
          <a:ln/>
        </p:spPr>
        <p:txBody>
          <a:bodyPr wrap="square" lIns="0" tIns="0" rIns="0" bIns="0" rtlCol="0" anchor="ctr"/>
          <a:lstStyle/>
          <a:p>
            <a:pPr indent="0" marL="0">
              <a:buNone/>
            </a:pPr>
            <a:r>
              <a:rPr lang="en-US" sz="1100" dirty="0">
                <a:solidFill>
                  <a:srgbClr val="121A3A"/>
                </a:solidFill>
                <a:latin typeface="Calibri" pitchFamily="34" charset="0"/>
                <a:ea typeface="Calibri" pitchFamily="34" charset="-122"/>
                <a:cs typeface="Calibri" pitchFamily="34" charset="-120"/>
              </a:rPr>
              <a:t>Future</a:t>
            </a:r>
            <a:endParaRPr lang="en-US" sz="1100" dirty="0"/>
          </a:p>
        </p:txBody>
      </p:sp>
      <p:sp>
        <p:nvSpPr>
          <p:cNvPr id="17" name="Shape 15"/>
          <p:cNvSpPr/>
          <p:nvPr/>
        </p:nvSpPr>
        <p:spPr>
          <a:xfrm>
            <a:off x="7360920" y="3502152"/>
            <a:ext cx="206298" cy="356616"/>
          </a:xfrm>
          <a:prstGeom prst="roundRect">
            <a:avLst>
              <a:gd name="adj" fmla="val 17730"/>
            </a:avLst>
          </a:prstGeom>
          <a:solidFill>
            <a:srgbClr val="9A72E8"/>
          </a:solidFill>
          <a:ln/>
        </p:spPr>
      </p:sp>
      <p:sp>
        <p:nvSpPr>
          <p:cNvPr id="18" name="Text 16"/>
          <p:cNvSpPr/>
          <p:nvPr/>
        </p:nvSpPr>
        <p:spPr>
          <a:xfrm>
            <a:off x="7658658" y="3429000"/>
            <a:ext cx="640080" cy="502920"/>
          </a:xfrm>
          <a:prstGeom prst="rect">
            <a:avLst/>
          </a:prstGeom>
          <a:noFill/>
          <a:ln/>
        </p:spPr>
        <p:txBody>
          <a:bodyPr wrap="square" lIns="0" tIns="0" rIns="0" bIns="0" rtlCol="0" anchor="ctr"/>
          <a:lstStyle/>
          <a:p>
            <a:pPr indent="0" marL="0">
              <a:buNone/>
            </a:pPr>
            <a:r>
              <a:rPr lang="en-US" sz="1100" b="1" dirty="0">
                <a:solidFill>
                  <a:srgbClr val="121A3A"/>
                </a:solidFill>
                <a:latin typeface="Calibri" pitchFamily="34" charset="0"/>
                <a:ea typeface="Calibri" pitchFamily="34" charset="-122"/>
                <a:cs typeface="Calibri" pitchFamily="34" charset="-120"/>
              </a:rPr>
              <a:t>5%</a:t>
            </a:r>
            <a:endParaRPr lang="en-US" sz="1100" dirty="0"/>
          </a:p>
        </p:txBody>
      </p:sp>
      <p:sp>
        <p:nvSpPr>
          <p:cNvPr id="19" name="Text 17"/>
          <p:cNvSpPr/>
          <p:nvPr/>
        </p:nvSpPr>
        <p:spPr>
          <a:xfrm>
            <a:off x="5989320" y="4069080"/>
            <a:ext cx="1280160" cy="502920"/>
          </a:xfrm>
          <a:prstGeom prst="rect">
            <a:avLst/>
          </a:prstGeom>
          <a:noFill/>
          <a:ln/>
        </p:spPr>
        <p:txBody>
          <a:bodyPr wrap="square" lIns="0" tIns="0" rIns="0" bIns="0" rtlCol="0" anchor="ctr"/>
          <a:lstStyle/>
          <a:p>
            <a:pPr indent="0" marL="0">
              <a:buNone/>
            </a:pPr>
            <a:r>
              <a:rPr lang="en-US" sz="1100" dirty="0">
                <a:solidFill>
                  <a:srgbClr val="121A3A"/>
                </a:solidFill>
                <a:latin typeface="Calibri" pitchFamily="34" charset="0"/>
                <a:ea typeface="Calibri" pitchFamily="34" charset="-122"/>
                <a:cs typeface="Calibri" pitchFamily="34" charset="-120"/>
              </a:rPr>
              <a:t>Powerful</a:t>
            </a:r>
            <a:endParaRPr lang="en-US" sz="1100" dirty="0"/>
          </a:p>
        </p:txBody>
      </p:sp>
      <p:sp>
        <p:nvSpPr>
          <p:cNvPr id="20" name="Shape 18"/>
          <p:cNvSpPr/>
          <p:nvPr/>
        </p:nvSpPr>
        <p:spPr>
          <a:xfrm>
            <a:off x="7360920" y="4142232"/>
            <a:ext cx="137160" cy="356616"/>
          </a:xfrm>
          <a:prstGeom prst="roundRect">
            <a:avLst>
              <a:gd name="adj" fmla="val 26667"/>
            </a:avLst>
          </a:prstGeom>
          <a:solidFill>
            <a:srgbClr val="9A72E8"/>
          </a:solidFill>
          <a:ln/>
        </p:spPr>
      </p:sp>
      <p:sp>
        <p:nvSpPr>
          <p:cNvPr id="21" name="Text 19"/>
          <p:cNvSpPr/>
          <p:nvPr/>
        </p:nvSpPr>
        <p:spPr>
          <a:xfrm>
            <a:off x="7576139" y="4069080"/>
            <a:ext cx="640080" cy="502920"/>
          </a:xfrm>
          <a:prstGeom prst="rect">
            <a:avLst/>
          </a:prstGeom>
          <a:noFill/>
          <a:ln/>
        </p:spPr>
        <p:txBody>
          <a:bodyPr wrap="square" lIns="0" tIns="0" rIns="0" bIns="0" rtlCol="0" anchor="ctr"/>
          <a:lstStyle/>
          <a:p>
            <a:pPr indent="0" marL="0">
              <a:buNone/>
            </a:pPr>
            <a:r>
              <a:rPr lang="en-US" sz="1100" b="1" dirty="0">
                <a:solidFill>
                  <a:srgbClr val="121A3A"/>
                </a:solidFill>
                <a:latin typeface="Calibri" pitchFamily="34" charset="0"/>
                <a:ea typeface="Calibri" pitchFamily="34" charset="-122"/>
                <a:cs typeface="Calibri" pitchFamily="34" charset="-120"/>
              </a:rPr>
              <a:t>3%</a:t>
            </a:r>
            <a:endParaRPr lang="en-US" sz="1100" dirty="0"/>
          </a:p>
        </p:txBody>
      </p:sp>
      <p:sp>
        <p:nvSpPr>
          <p:cNvPr id="22" name="Shape 20"/>
          <p:cNvSpPr/>
          <p:nvPr/>
        </p:nvSpPr>
        <p:spPr>
          <a:xfrm>
            <a:off x="5852160" y="4846320"/>
            <a:ext cx="5212080" cy="777240"/>
          </a:xfrm>
          <a:prstGeom prst="roundRect">
            <a:avLst>
              <a:gd name="adj" fmla="val 7059"/>
            </a:avLst>
          </a:prstGeom>
          <a:solidFill>
            <a:srgbClr val="EAFBFB"/>
          </a:solidFill>
          <a:ln w="12700">
            <a:solidFill>
              <a:srgbClr val="0E93A6"/>
            </a:solidFill>
            <a:prstDash val="solid"/>
          </a:ln>
        </p:spPr>
      </p:sp>
      <p:sp>
        <p:nvSpPr>
          <p:cNvPr id="23" name="Text 21"/>
          <p:cNvSpPr/>
          <p:nvPr/>
        </p:nvSpPr>
        <p:spPr>
          <a:xfrm>
            <a:off x="5989320" y="4937760"/>
            <a:ext cx="4937760" cy="594360"/>
          </a:xfrm>
          <a:prstGeom prst="rect">
            <a:avLst/>
          </a:prstGeom>
          <a:noFill/>
          <a:ln/>
        </p:spPr>
        <p:txBody>
          <a:bodyPr wrap="square" lIns="0" tIns="0" rIns="0" bIns="0" rtlCol="0" anchor="ctr"/>
          <a:lstStyle/>
          <a:p>
            <a:pPr indent="0" marL="0">
              <a:lnSpc>
                <a:spcPct val="115000"/>
              </a:lnSpc>
              <a:buNone/>
            </a:pPr>
            <a:r>
              <a:rPr lang="en-US" sz="1000" dirty="0">
                <a:solidFill>
                  <a:srgbClr val="121A3A"/>
                </a:solidFill>
                <a:latin typeface="Calibri" pitchFamily="34" charset="0"/>
                <a:ea typeface="Calibri" pitchFamily="34" charset="-122"/>
                <a:cs typeface="Calibri" pitchFamily="34" charset="-120"/>
              </a:rPr>
              <a:t>“Amazing” has the highest probability (82%), so greedy decoding would select it as the next token.</a:t>
            </a:r>
            <a:endParaRPr lang="en-US" sz="1000" dirty="0"/>
          </a:p>
        </p:txBody>
      </p:sp>
      <p:sp>
        <p:nvSpPr>
          <p:cNvPr id="24" name="Text 22"/>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25" name="Text 23"/>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ALGORITHM 9 / 9</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Decoding Strategies</a:t>
            </a:r>
            <a:endParaRPr lang="en-US" sz="3000" dirty="0"/>
          </a:p>
        </p:txBody>
      </p:sp>
      <p:sp>
        <p:nvSpPr>
          <p:cNvPr id="4" name="Shape 2"/>
          <p:cNvSpPr/>
          <p:nvPr/>
        </p:nvSpPr>
        <p:spPr>
          <a:xfrm>
            <a:off x="502920" y="1600200"/>
            <a:ext cx="3505200" cy="4480560"/>
          </a:xfrm>
          <a:prstGeom prst="roundRect">
            <a:avLst>
              <a:gd name="adj" fmla="val 2609"/>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5" name="Shape 3"/>
          <p:cNvSpPr/>
          <p:nvPr/>
        </p:nvSpPr>
        <p:spPr>
          <a:xfrm>
            <a:off x="731520" y="1828800"/>
            <a:ext cx="548640" cy="548640"/>
          </a:xfrm>
          <a:prstGeom prst="ellipse">
            <a:avLst/>
          </a:prstGeom>
          <a:solidFill>
            <a:srgbClr val="6C3FC5"/>
          </a:solidFill>
          <a:ln/>
        </p:spPr>
      </p:sp>
      <p:sp>
        <p:nvSpPr>
          <p:cNvPr id="6" name="Text 4"/>
          <p:cNvSpPr/>
          <p:nvPr/>
        </p:nvSpPr>
        <p:spPr>
          <a:xfrm>
            <a:off x="731520" y="182880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731520" y="2514600"/>
            <a:ext cx="3048000" cy="502920"/>
          </a:xfrm>
          <a:prstGeom prst="rect">
            <a:avLst/>
          </a:prstGeom>
          <a:noFill/>
          <a:ln/>
        </p:spPr>
        <p:txBody>
          <a:bodyPr wrap="square" lIns="0" tIns="0" rIns="0" bIns="0" rtlCol="0" anchor="ctr"/>
          <a:lstStyle/>
          <a:p>
            <a:pPr indent="0" marL="0">
              <a:buNone/>
            </a:pPr>
            <a:r>
              <a:rPr lang="en-US" sz="1450" b="1" dirty="0">
                <a:solidFill>
                  <a:srgbClr val="121A3A"/>
                </a:solidFill>
                <a:latin typeface="Calibri" pitchFamily="34" charset="0"/>
                <a:ea typeface="Calibri" pitchFamily="34" charset="-122"/>
                <a:cs typeface="Calibri" pitchFamily="34" charset="-120"/>
              </a:rPr>
              <a:t>Greedy Decoding</a:t>
            </a:r>
            <a:endParaRPr lang="en-US" sz="1450" dirty="0"/>
          </a:p>
        </p:txBody>
      </p:sp>
      <p:sp>
        <p:nvSpPr>
          <p:cNvPr id="8" name="Text 6"/>
          <p:cNvSpPr/>
          <p:nvPr/>
        </p:nvSpPr>
        <p:spPr>
          <a:xfrm>
            <a:off x="731520" y="3017520"/>
            <a:ext cx="3048000" cy="1371600"/>
          </a:xfrm>
          <a:prstGeom prst="rect">
            <a:avLst/>
          </a:prstGeom>
          <a:noFill/>
          <a:ln/>
        </p:spPr>
        <p:txBody>
          <a:bodyPr wrap="square" lIns="0" tIns="0" rIns="0" bIns="0" rtlCol="0" anchor="ctr"/>
          <a:lstStyle/>
          <a:p>
            <a:pPr indent="0" marL="0">
              <a:lnSpc>
                <a:spcPct val="120000"/>
              </a:lnSpc>
              <a:buNone/>
            </a:pPr>
            <a:r>
              <a:rPr lang="en-US" sz="1050" dirty="0">
                <a:solidFill>
                  <a:srgbClr val="5B6480"/>
                </a:solidFill>
                <a:latin typeface="Calibri" pitchFamily="34" charset="0"/>
                <a:ea typeface="Calibri" pitchFamily="34" charset="-122"/>
                <a:cs typeface="Calibri" pitchFamily="34" charset="-120"/>
              </a:rPr>
              <a:t>Always picks the single highest-probability token at each step.</a:t>
            </a:r>
            <a:endParaRPr lang="en-US" sz="1050" dirty="0"/>
          </a:p>
        </p:txBody>
      </p:sp>
      <p:sp>
        <p:nvSpPr>
          <p:cNvPr id="9" name="Text 7"/>
          <p:cNvSpPr/>
          <p:nvPr/>
        </p:nvSpPr>
        <p:spPr>
          <a:xfrm>
            <a:off x="731520" y="4480560"/>
            <a:ext cx="3048000" cy="1463040"/>
          </a:xfrm>
          <a:prstGeom prst="rect">
            <a:avLst/>
          </a:prstGeom>
          <a:noFill/>
          <a:ln/>
        </p:spPr>
        <p:txBody>
          <a:bodyPr wrap="square" lIns="0" tIns="0" rIns="0" bIns="0" rtlCol="0" anchor="t"/>
          <a:lstStyle/>
          <a:p>
            <a:pPr marL="177800" indent="-177800">
              <a:lnSpc>
                <a:spcPct val="108000"/>
              </a:lnSpc>
              <a:spcAft>
                <a:spcPts val="600"/>
              </a:spcAft>
              <a:buSzPct val="100000"/>
              <a:buChar char="●"/>
            </a:pPr>
            <a:r>
              <a:rPr lang="en-US" sz="980" dirty="0">
                <a:solidFill>
                  <a:srgbClr val="121A3A"/>
                </a:solidFill>
                <a:latin typeface="Calibri" pitchFamily="34" charset="0"/>
                <a:ea typeface="Calibri" pitchFamily="34" charset="-122"/>
                <a:cs typeface="Calibri" pitchFamily="34" charset="-120"/>
              </a:rPr>
              <a:t>Fast, deterministic, simple to implement.</a:t>
            </a:r>
            <a:endParaRPr lang="en-US" sz="980" dirty="0"/>
          </a:p>
          <a:p>
            <a:pPr marL="177800" indent="-177800">
              <a:lnSpc>
                <a:spcPct val="108000"/>
              </a:lnSpc>
              <a:spcAft>
                <a:spcPts val="600"/>
              </a:spcAft>
              <a:buSzPct val="100000"/>
              <a:buChar char="●"/>
            </a:pPr>
            <a:r>
              <a:rPr lang="en-US" sz="980" dirty="0">
                <a:solidFill>
                  <a:srgbClr val="121A3A"/>
                </a:solidFill>
                <a:latin typeface="Calibri" pitchFamily="34" charset="0"/>
                <a:ea typeface="Calibri" pitchFamily="34" charset="-122"/>
                <a:cs typeface="Calibri" pitchFamily="34" charset="-120"/>
              </a:rPr>
              <a:t>Can produce repetitive or locally-optimal text.</a:t>
            </a:r>
            <a:endParaRPr lang="en-US" sz="980" dirty="0"/>
          </a:p>
        </p:txBody>
      </p:sp>
      <p:sp>
        <p:nvSpPr>
          <p:cNvPr id="10" name="Shape 8"/>
          <p:cNvSpPr/>
          <p:nvPr/>
        </p:nvSpPr>
        <p:spPr>
          <a:xfrm>
            <a:off x="4328160" y="1600200"/>
            <a:ext cx="3505200" cy="4480560"/>
          </a:xfrm>
          <a:prstGeom prst="roundRect">
            <a:avLst>
              <a:gd name="adj" fmla="val 2609"/>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11" name="Shape 9"/>
          <p:cNvSpPr/>
          <p:nvPr/>
        </p:nvSpPr>
        <p:spPr>
          <a:xfrm>
            <a:off x="4556760" y="1828800"/>
            <a:ext cx="548640" cy="548640"/>
          </a:xfrm>
          <a:prstGeom prst="ellipse">
            <a:avLst/>
          </a:prstGeom>
          <a:solidFill>
            <a:srgbClr val="0E93A6"/>
          </a:solidFill>
          <a:ln/>
        </p:spPr>
      </p:sp>
      <p:sp>
        <p:nvSpPr>
          <p:cNvPr id="12" name="Text 10"/>
          <p:cNvSpPr/>
          <p:nvPr/>
        </p:nvSpPr>
        <p:spPr>
          <a:xfrm>
            <a:off x="4556760" y="182880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4556760" y="2514600"/>
            <a:ext cx="3048000" cy="502920"/>
          </a:xfrm>
          <a:prstGeom prst="rect">
            <a:avLst/>
          </a:prstGeom>
          <a:noFill/>
          <a:ln/>
        </p:spPr>
        <p:txBody>
          <a:bodyPr wrap="square" lIns="0" tIns="0" rIns="0" bIns="0" rtlCol="0" anchor="ctr"/>
          <a:lstStyle/>
          <a:p>
            <a:pPr indent="0" marL="0">
              <a:buNone/>
            </a:pPr>
            <a:r>
              <a:rPr lang="en-US" sz="1450" b="1" dirty="0">
                <a:solidFill>
                  <a:srgbClr val="121A3A"/>
                </a:solidFill>
                <a:latin typeface="Calibri" pitchFamily="34" charset="0"/>
                <a:ea typeface="Calibri" pitchFamily="34" charset="-122"/>
                <a:cs typeface="Calibri" pitchFamily="34" charset="-120"/>
              </a:rPr>
              <a:t>Beam Search</a:t>
            </a:r>
            <a:endParaRPr lang="en-US" sz="1450" dirty="0"/>
          </a:p>
        </p:txBody>
      </p:sp>
      <p:sp>
        <p:nvSpPr>
          <p:cNvPr id="14" name="Text 12"/>
          <p:cNvSpPr/>
          <p:nvPr/>
        </p:nvSpPr>
        <p:spPr>
          <a:xfrm>
            <a:off x="4556760" y="3017520"/>
            <a:ext cx="3048000" cy="1371600"/>
          </a:xfrm>
          <a:prstGeom prst="rect">
            <a:avLst/>
          </a:prstGeom>
          <a:noFill/>
          <a:ln/>
        </p:spPr>
        <p:txBody>
          <a:bodyPr wrap="square" lIns="0" tIns="0" rIns="0" bIns="0" rtlCol="0" anchor="ctr"/>
          <a:lstStyle/>
          <a:p>
            <a:pPr indent="0" marL="0">
              <a:lnSpc>
                <a:spcPct val="120000"/>
              </a:lnSpc>
              <a:buNone/>
            </a:pPr>
            <a:r>
              <a:rPr lang="en-US" sz="1050" dirty="0">
                <a:solidFill>
                  <a:srgbClr val="5B6480"/>
                </a:solidFill>
                <a:latin typeface="Calibri" pitchFamily="34" charset="0"/>
                <a:ea typeface="Calibri" pitchFamily="34" charset="-122"/>
                <a:cs typeface="Calibri" pitchFamily="34" charset="-120"/>
              </a:rPr>
              <a:t>Tracks the top-k most likely partial sequences in parallel and keeps the best-scoring one overall.</a:t>
            </a:r>
            <a:endParaRPr lang="en-US" sz="1050" dirty="0"/>
          </a:p>
        </p:txBody>
      </p:sp>
      <p:sp>
        <p:nvSpPr>
          <p:cNvPr id="15" name="Text 13"/>
          <p:cNvSpPr/>
          <p:nvPr/>
        </p:nvSpPr>
        <p:spPr>
          <a:xfrm>
            <a:off x="4556760" y="4480560"/>
            <a:ext cx="3048000" cy="1463040"/>
          </a:xfrm>
          <a:prstGeom prst="rect">
            <a:avLst/>
          </a:prstGeom>
          <a:noFill/>
          <a:ln/>
        </p:spPr>
        <p:txBody>
          <a:bodyPr wrap="square" lIns="0" tIns="0" rIns="0" bIns="0" rtlCol="0" anchor="t"/>
          <a:lstStyle/>
          <a:p>
            <a:pPr marL="177800" indent="-177800">
              <a:lnSpc>
                <a:spcPct val="108000"/>
              </a:lnSpc>
              <a:spcAft>
                <a:spcPts val="600"/>
              </a:spcAft>
              <a:buSzPct val="100000"/>
              <a:buChar char="●"/>
            </a:pPr>
            <a:r>
              <a:rPr lang="en-US" sz="980" dirty="0">
                <a:solidFill>
                  <a:srgbClr val="121A3A"/>
                </a:solidFill>
                <a:latin typeface="Calibri" pitchFamily="34" charset="0"/>
                <a:ea typeface="Calibri" pitchFamily="34" charset="-122"/>
                <a:cs typeface="Calibri" pitchFamily="34" charset="-120"/>
              </a:rPr>
              <a:t>Higher-quality, more globally coherent output.</a:t>
            </a:r>
            <a:endParaRPr lang="en-US" sz="980" dirty="0"/>
          </a:p>
          <a:p>
            <a:pPr marL="177800" indent="-177800">
              <a:lnSpc>
                <a:spcPct val="108000"/>
              </a:lnSpc>
              <a:spcAft>
                <a:spcPts val="600"/>
              </a:spcAft>
              <a:buSzPct val="100000"/>
              <a:buChar char="●"/>
            </a:pPr>
            <a:r>
              <a:rPr lang="en-US" sz="980" dirty="0">
                <a:solidFill>
                  <a:srgbClr val="121A3A"/>
                </a:solidFill>
                <a:latin typeface="Calibri" pitchFamily="34" charset="0"/>
                <a:ea typeface="Calibri" pitchFamily="34" charset="-122"/>
                <a:cs typeface="Calibri" pitchFamily="34" charset="-120"/>
              </a:rPr>
              <a:t>k× more compute/memory; rarely used for long open-ended chat.</a:t>
            </a:r>
            <a:endParaRPr lang="en-US" sz="980" dirty="0"/>
          </a:p>
        </p:txBody>
      </p:sp>
      <p:sp>
        <p:nvSpPr>
          <p:cNvPr id="16" name="Shape 14"/>
          <p:cNvSpPr/>
          <p:nvPr/>
        </p:nvSpPr>
        <p:spPr>
          <a:xfrm>
            <a:off x="8153400" y="1600200"/>
            <a:ext cx="3505200" cy="4480560"/>
          </a:xfrm>
          <a:prstGeom prst="roundRect">
            <a:avLst>
              <a:gd name="adj" fmla="val 2609"/>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17" name="Shape 15"/>
          <p:cNvSpPr/>
          <p:nvPr/>
        </p:nvSpPr>
        <p:spPr>
          <a:xfrm>
            <a:off x="8382000" y="1828800"/>
            <a:ext cx="548640" cy="548640"/>
          </a:xfrm>
          <a:prstGeom prst="ellipse">
            <a:avLst/>
          </a:prstGeom>
          <a:solidFill>
            <a:srgbClr val="E0793C"/>
          </a:solidFill>
          <a:ln/>
        </p:spPr>
      </p:sp>
      <p:sp>
        <p:nvSpPr>
          <p:cNvPr id="18" name="Text 16"/>
          <p:cNvSpPr/>
          <p:nvPr/>
        </p:nvSpPr>
        <p:spPr>
          <a:xfrm>
            <a:off x="8382000" y="182880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8382000" y="2514600"/>
            <a:ext cx="3048000" cy="502920"/>
          </a:xfrm>
          <a:prstGeom prst="rect">
            <a:avLst/>
          </a:prstGeom>
          <a:noFill/>
          <a:ln/>
        </p:spPr>
        <p:txBody>
          <a:bodyPr wrap="square" lIns="0" tIns="0" rIns="0" bIns="0" rtlCol="0" anchor="ctr"/>
          <a:lstStyle/>
          <a:p>
            <a:pPr indent="0" marL="0">
              <a:buNone/>
            </a:pPr>
            <a:r>
              <a:rPr lang="en-US" sz="1450" b="1" dirty="0">
                <a:solidFill>
                  <a:srgbClr val="121A3A"/>
                </a:solidFill>
                <a:latin typeface="Calibri" pitchFamily="34" charset="0"/>
                <a:ea typeface="Calibri" pitchFamily="34" charset="-122"/>
                <a:cs typeface="Calibri" pitchFamily="34" charset="-120"/>
              </a:rPr>
              <a:t>Temperature Sampling</a:t>
            </a:r>
            <a:endParaRPr lang="en-US" sz="1450" dirty="0"/>
          </a:p>
        </p:txBody>
      </p:sp>
      <p:sp>
        <p:nvSpPr>
          <p:cNvPr id="20" name="Text 18"/>
          <p:cNvSpPr/>
          <p:nvPr/>
        </p:nvSpPr>
        <p:spPr>
          <a:xfrm>
            <a:off x="8382000" y="3017520"/>
            <a:ext cx="3048000" cy="1371600"/>
          </a:xfrm>
          <a:prstGeom prst="rect">
            <a:avLst/>
          </a:prstGeom>
          <a:noFill/>
          <a:ln/>
        </p:spPr>
        <p:txBody>
          <a:bodyPr wrap="square" lIns="0" tIns="0" rIns="0" bIns="0" rtlCol="0" anchor="ctr"/>
          <a:lstStyle/>
          <a:p>
            <a:pPr indent="0" marL="0">
              <a:lnSpc>
                <a:spcPct val="120000"/>
              </a:lnSpc>
              <a:buNone/>
            </a:pPr>
            <a:r>
              <a:rPr lang="en-US" sz="1050" dirty="0">
                <a:solidFill>
                  <a:srgbClr val="5B6480"/>
                </a:solidFill>
                <a:latin typeface="Calibri" pitchFamily="34" charset="0"/>
                <a:ea typeface="Calibri" pitchFamily="34" charset="-122"/>
                <a:cs typeface="Calibri" pitchFamily="34" charset="-120"/>
              </a:rPr>
              <a:t>Scales logits by 1/T before softmax, then samples — low T → focused, high T → creative/random.</a:t>
            </a:r>
            <a:endParaRPr lang="en-US" sz="1050" dirty="0"/>
          </a:p>
        </p:txBody>
      </p:sp>
      <p:sp>
        <p:nvSpPr>
          <p:cNvPr id="21" name="Text 19"/>
          <p:cNvSpPr/>
          <p:nvPr/>
        </p:nvSpPr>
        <p:spPr>
          <a:xfrm>
            <a:off x="8382000" y="4480560"/>
            <a:ext cx="3048000" cy="1463040"/>
          </a:xfrm>
          <a:prstGeom prst="rect">
            <a:avLst/>
          </a:prstGeom>
          <a:noFill/>
          <a:ln/>
        </p:spPr>
        <p:txBody>
          <a:bodyPr wrap="square" lIns="0" tIns="0" rIns="0" bIns="0" rtlCol="0" anchor="t"/>
          <a:lstStyle/>
          <a:p>
            <a:pPr marL="177800" indent="-177800">
              <a:lnSpc>
                <a:spcPct val="108000"/>
              </a:lnSpc>
              <a:spcAft>
                <a:spcPts val="600"/>
              </a:spcAft>
              <a:buSzPct val="100000"/>
              <a:buChar char="●"/>
            </a:pPr>
            <a:r>
              <a:rPr lang="en-US" sz="980" dirty="0">
                <a:solidFill>
                  <a:srgbClr val="121A3A"/>
                </a:solidFill>
                <a:latin typeface="Calibri" pitchFamily="34" charset="0"/>
                <a:ea typeface="Calibri" pitchFamily="34" charset="-122"/>
                <a:cs typeface="Calibri" pitchFamily="34" charset="-120"/>
              </a:rPr>
              <a:t>Adds controllable diversity and creativity.</a:t>
            </a:r>
            <a:endParaRPr lang="en-US" sz="980" dirty="0"/>
          </a:p>
          <a:p>
            <a:pPr marL="177800" indent="-177800">
              <a:lnSpc>
                <a:spcPct val="108000"/>
              </a:lnSpc>
              <a:spcAft>
                <a:spcPts val="600"/>
              </a:spcAft>
              <a:buSzPct val="100000"/>
              <a:buChar char="●"/>
            </a:pPr>
            <a:r>
              <a:rPr lang="en-US" sz="980" dirty="0">
                <a:solidFill>
                  <a:srgbClr val="121A3A"/>
                </a:solidFill>
                <a:latin typeface="Calibri" pitchFamily="34" charset="0"/>
                <a:ea typeface="Calibri" pitchFamily="34" charset="-122"/>
                <a:cs typeface="Calibri" pitchFamily="34" charset="-120"/>
              </a:rPr>
              <a:t>Too high a temperature risks incoherent output.</a:t>
            </a:r>
            <a:endParaRPr lang="en-US" sz="980" dirty="0"/>
          </a:p>
        </p:txBody>
      </p:sp>
      <p:sp>
        <p:nvSpPr>
          <p:cNvPr id="22" name="Text 20"/>
          <p:cNvSpPr/>
          <p:nvPr/>
        </p:nvSpPr>
        <p:spPr>
          <a:xfrm>
            <a:off x="502920" y="6263640"/>
            <a:ext cx="11155680" cy="365760"/>
          </a:xfrm>
          <a:prstGeom prst="rect">
            <a:avLst/>
          </a:prstGeom>
          <a:noFill/>
          <a:ln/>
        </p:spPr>
        <p:txBody>
          <a:bodyPr wrap="square" lIns="0" tIns="0" rIns="0" bIns="0" rtlCol="0" anchor="ctr"/>
          <a:lstStyle/>
          <a:p>
            <a:pPr indent="0" marL="0">
              <a:buNone/>
            </a:pPr>
            <a:r>
              <a:rPr lang="en-US" sz="1000" i="1" dirty="0">
                <a:solidFill>
                  <a:srgbClr val="5B6480"/>
                </a:solidFill>
                <a:latin typeface="Calibri" pitchFamily="34" charset="0"/>
                <a:ea typeface="Calibri" pitchFamily="34" charset="-122"/>
                <a:cs typeface="Calibri" pitchFamily="34" charset="-120"/>
              </a:rPr>
              <a:t>DeepSeek's chat interface primarily uses temperature-based sampling (with nucleus/top-p filtering) for natural, varied responses; greedy/beam-style decoding suits deterministic tasks like code generation.</a:t>
            </a:r>
            <a:endParaRPr lang="en-US" sz="1000" dirty="0"/>
          </a:p>
        </p:txBody>
      </p:sp>
      <p:sp>
        <p:nvSpPr>
          <p:cNvPr id="23" name="Text 21"/>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24" name="Text 22"/>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442"/>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4FD8EB"/>
                </a:solidFill>
                <a:latin typeface="Calibri" pitchFamily="34" charset="0"/>
                <a:ea typeface="Calibri" pitchFamily="34" charset="-122"/>
                <a:cs typeface="Calibri" pitchFamily="34" charset="-120"/>
              </a:rPr>
              <a:t>EXECUTION DEMONSTRATION</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Live Trace: Steps 1–3</a:t>
            </a:r>
            <a:endParaRPr lang="en-US" sz="3000" dirty="0"/>
          </a:p>
        </p:txBody>
      </p:sp>
      <p:sp>
        <p:nvSpPr>
          <p:cNvPr id="4" name="Shape 2"/>
          <p:cNvSpPr/>
          <p:nvPr/>
        </p:nvSpPr>
        <p:spPr>
          <a:xfrm>
            <a:off x="502920" y="1417320"/>
            <a:ext cx="11155680" cy="685800"/>
          </a:xfrm>
          <a:prstGeom prst="roundRect">
            <a:avLst>
              <a:gd name="adj" fmla="val 12000"/>
            </a:avLst>
          </a:prstGeom>
          <a:solidFill>
            <a:srgbClr val="16215C"/>
          </a:solidFill>
          <a:ln w="12700">
            <a:solidFill>
              <a:srgbClr val="4FD8EB"/>
            </a:solidFill>
            <a:prstDash val="solid"/>
          </a:ln>
        </p:spPr>
      </p:sp>
      <p:sp>
        <p:nvSpPr>
          <p:cNvPr id="5" name="Text 3"/>
          <p:cNvSpPr/>
          <p:nvPr/>
        </p:nvSpPr>
        <p:spPr>
          <a:xfrm>
            <a:off x="777240" y="1417320"/>
            <a:ext cx="10607040" cy="685800"/>
          </a:xfrm>
          <a:prstGeom prst="rect">
            <a:avLst/>
          </a:prstGeom>
          <a:noFill/>
          <a:ln/>
        </p:spPr>
        <p:txBody>
          <a:bodyPr wrap="square" lIns="0" tIns="0" rIns="0" bIns="0" rtlCol="0" anchor="ctr"/>
          <a:lstStyle/>
          <a:p>
            <a:pPr indent="0" marL="0">
              <a:buNone/>
            </a:pPr>
            <a:r>
              <a:rPr lang="en-US" sz="1500" b="1" dirty="0">
                <a:solidFill>
                  <a:srgbClr val="4FD8EB"/>
                </a:solidFill>
                <a:latin typeface="Calibri" pitchFamily="34" charset="0"/>
                <a:ea typeface="Calibri" pitchFamily="34" charset="-122"/>
                <a:cs typeface="Calibri" pitchFamily="34" charset="-120"/>
              </a:rPr>
              <a:t>Demo prompt:   </a:t>
            </a:r>
            <a:pPr indent="0" marL="0">
              <a:buNone/>
            </a:pPr>
            <a:r>
              <a:rPr lang="en-US" sz="1500" i="1" dirty="0">
                <a:solidFill>
                  <a:srgbClr val="FFFFFF"/>
                </a:solidFill>
                <a:latin typeface="Calibri" pitchFamily="34" charset="0"/>
                <a:ea typeface="Calibri" pitchFamily="34" charset="-122"/>
                <a:cs typeface="Calibri" pitchFamily="34" charset="-120"/>
              </a:rPr>
              <a:t>"What is Artificial Intelligence?"</a:t>
            </a:r>
            <a:endParaRPr lang="en-US" sz="1500" dirty="0"/>
          </a:p>
        </p:txBody>
      </p:sp>
      <p:sp>
        <p:nvSpPr>
          <p:cNvPr id="6" name="Shape 4"/>
          <p:cNvSpPr/>
          <p:nvPr/>
        </p:nvSpPr>
        <p:spPr>
          <a:xfrm>
            <a:off x="502920" y="2331720"/>
            <a:ext cx="11155680" cy="1280160"/>
          </a:xfrm>
          <a:prstGeom prst="roundRect">
            <a:avLst>
              <a:gd name="adj" fmla="val 6429"/>
            </a:avLst>
          </a:prstGeom>
          <a:solidFill>
            <a:srgbClr val="FFFFFF"/>
          </a:solidFill>
          <a:ln/>
        </p:spPr>
      </p:sp>
      <p:sp>
        <p:nvSpPr>
          <p:cNvPr id="7" name="Shape 5"/>
          <p:cNvSpPr/>
          <p:nvPr/>
        </p:nvSpPr>
        <p:spPr>
          <a:xfrm>
            <a:off x="731520" y="2679192"/>
            <a:ext cx="585216" cy="585216"/>
          </a:xfrm>
          <a:prstGeom prst="ellipse">
            <a:avLst/>
          </a:prstGeom>
          <a:solidFill>
            <a:srgbClr val="0E93A6"/>
          </a:solidFill>
          <a:ln/>
        </p:spPr>
      </p:sp>
      <p:sp>
        <p:nvSpPr>
          <p:cNvPr id="8" name="Text 6"/>
          <p:cNvSpPr/>
          <p:nvPr/>
        </p:nvSpPr>
        <p:spPr>
          <a:xfrm>
            <a:off x="731520" y="2679192"/>
            <a:ext cx="585216" cy="585216"/>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1554480" y="2468880"/>
            <a:ext cx="3291840" cy="365760"/>
          </a:xfrm>
          <a:prstGeom prst="rect">
            <a:avLst/>
          </a:prstGeom>
          <a:noFill/>
          <a:ln/>
        </p:spPr>
        <p:txBody>
          <a:bodyPr wrap="square" lIns="0" tIns="0" rIns="0" bIns="0" rtlCol="0" anchor="ctr"/>
          <a:lstStyle/>
          <a:p>
            <a:pPr indent="0" marL="0">
              <a:buNone/>
            </a:pPr>
            <a:r>
              <a:rPr lang="en-US" sz="1400" b="1" dirty="0">
                <a:solidFill>
                  <a:srgbClr val="121A3A"/>
                </a:solidFill>
                <a:latin typeface="Calibri" pitchFamily="34" charset="0"/>
                <a:ea typeface="Calibri" pitchFamily="34" charset="-122"/>
                <a:cs typeface="Calibri" pitchFamily="34" charset="-120"/>
              </a:rPr>
              <a:t>Tokenization</a:t>
            </a:r>
            <a:endParaRPr lang="en-US" sz="1400" dirty="0"/>
          </a:p>
        </p:txBody>
      </p:sp>
      <p:sp>
        <p:nvSpPr>
          <p:cNvPr id="10" name="Text 8"/>
          <p:cNvSpPr/>
          <p:nvPr/>
        </p:nvSpPr>
        <p:spPr>
          <a:xfrm>
            <a:off x="1554480" y="2834640"/>
            <a:ext cx="3291840" cy="274320"/>
          </a:xfrm>
          <a:prstGeom prst="rect">
            <a:avLst/>
          </a:prstGeom>
          <a:noFill/>
          <a:ln/>
        </p:spPr>
        <p:txBody>
          <a:bodyPr wrap="square" lIns="0" tIns="0" rIns="0" bIns="0" rtlCol="0" anchor="ctr"/>
          <a:lstStyle/>
          <a:p>
            <a:pPr indent="0" marL="0">
              <a:buNone/>
            </a:pPr>
            <a:r>
              <a:rPr lang="en-US" sz="900" b="1" spc="150" kern="0" dirty="0">
                <a:solidFill>
                  <a:srgbClr val="6C3FC5"/>
                </a:solidFill>
                <a:latin typeface="Calibri" pitchFamily="34" charset="0"/>
                <a:ea typeface="Calibri" pitchFamily="34" charset="-122"/>
                <a:cs typeface="Calibri" pitchFamily="34" charset="-120"/>
              </a:rPr>
              <a:t>STEP 1</a:t>
            </a:r>
            <a:endParaRPr lang="en-US" sz="900" dirty="0"/>
          </a:p>
        </p:txBody>
      </p:sp>
      <p:sp>
        <p:nvSpPr>
          <p:cNvPr id="11" name="Text 9"/>
          <p:cNvSpPr/>
          <p:nvPr/>
        </p:nvSpPr>
        <p:spPr>
          <a:xfrm>
            <a:off x="4983480" y="2496312"/>
            <a:ext cx="6492240" cy="457200"/>
          </a:xfrm>
          <a:prstGeom prst="rect">
            <a:avLst/>
          </a:prstGeom>
          <a:noFill/>
          <a:ln/>
        </p:spPr>
        <p:txBody>
          <a:bodyPr wrap="square" lIns="0" tIns="0" rIns="0" bIns="0" rtlCol="0" anchor="ctr"/>
          <a:lstStyle/>
          <a:p>
            <a:pPr indent="0" marL="0">
              <a:buNone/>
            </a:pPr>
            <a:r>
              <a:rPr lang="en-US" sz="1100" b="1" dirty="0">
                <a:solidFill>
                  <a:srgbClr val="5B6480"/>
                </a:solidFill>
                <a:latin typeface="Calibri" pitchFamily="34" charset="0"/>
                <a:ea typeface="Calibri" pitchFamily="34" charset="-122"/>
                <a:cs typeface="Calibri" pitchFamily="34" charset="-120"/>
              </a:rPr>
              <a:t>Input/Process:  </a:t>
            </a:r>
            <a:pPr indent="0" marL="0">
              <a:buNone/>
            </a:pPr>
            <a:r>
              <a:rPr lang="en-US" sz="1100" dirty="0">
                <a:solidFill>
                  <a:srgbClr val="121A3A"/>
                </a:solidFill>
                <a:latin typeface="Calibri" pitchFamily="34" charset="0"/>
                <a:ea typeface="Calibri" pitchFamily="34" charset="-122"/>
                <a:cs typeface="Calibri" pitchFamily="34" charset="-120"/>
              </a:rPr>
              <a:t>"What","is","Art","ificial","Intelligence","?"</a:t>
            </a:r>
            <a:endParaRPr lang="en-US" sz="1100" dirty="0"/>
          </a:p>
        </p:txBody>
      </p:sp>
      <p:sp>
        <p:nvSpPr>
          <p:cNvPr id="12" name="Text 10"/>
          <p:cNvSpPr/>
          <p:nvPr/>
        </p:nvSpPr>
        <p:spPr>
          <a:xfrm>
            <a:off x="4983480" y="2953512"/>
            <a:ext cx="6492240" cy="502920"/>
          </a:xfrm>
          <a:prstGeom prst="rect">
            <a:avLst/>
          </a:prstGeom>
          <a:noFill/>
          <a:ln/>
        </p:spPr>
        <p:txBody>
          <a:bodyPr wrap="square" lIns="0" tIns="0" rIns="0" bIns="0" rtlCol="0" anchor="ctr"/>
          <a:lstStyle/>
          <a:p>
            <a:pPr indent="0" marL="0">
              <a:buNone/>
            </a:pPr>
            <a:r>
              <a:rPr lang="en-US" sz="1100" b="1" dirty="0">
                <a:solidFill>
                  <a:srgbClr val="0E93A6"/>
                </a:solidFill>
                <a:latin typeface="Calibri" pitchFamily="34" charset="0"/>
                <a:ea typeface="Calibri" pitchFamily="34" charset="-122"/>
                <a:cs typeface="Calibri" pitchFamily="34" charset="-120"/>
              </a:rPr>
              <a:t>Output:  </a:t>
            </a:r>
            <a:pPr indent="0" marL="0">
              <a:buNone/>
            </a:pPr>
            <a:r>
              <a:rPr lang="en-US" sz="1100" dirty="0">
                <a:solidFill>
                  <a:srgbClr val="121A3A"/>
                </a:solidFill>
                <a:latin typeface="Calibri" pitchFamily="34" charset="0"/>
                <a:ea typeface="Calibri" pitchFamily="34" charset="-122"/>
                <a:cs typeface="Calibri" pitchFamily="34" charset="-120"/>
              </a:rPr>
              <a:t>6 subword tokens → IDs [2091, 314, 8241, 15032, 15981, 63]</a:t>
            </a:r>
            <a:endParaRPr lang="en-US" sz="1100" dirty="0"/>
          </a:p>
        </p:txBody>
      </p:sp>
      <p:sp>
        <p:nvSpPr>
          <p:cNvPr id="13" name="Shape 11"/>
          <p:cNvSpPr/>
          <p:nvPr/>
        </p:nvSpPr>
        <p:spPr>
          <a:xfrm>
            <a:off x="502920" y="3794760"/>
            <a:ext cx="11155680" cy="1280160"/>
          </a:xfrm>
          <a:prstGeom prst="roundRect">
            <a:avLst>
              <a:gd name="adj" fmla="val 6429"/>
            </a:avLst>
          </a:prstGeom>
          <a:solidFill>
            <a:srgbClr val="FFFFFF"/>
          </a:solidFill>
          <a:ln/>
        </p:spPr>
      </p:sp>
      <p:sp>
        <p:nvSpPr>
          <p:cNvPr id="14" name="Shape 12"/>
          <p:cNvSpPr/>
          <p:nvPr/>
        </p:nvSpPr>
        <p:spPr>
          <a:xfrm>
            <a:off x="731520" y="4142232"/>
            <a:ext cx="585216" cy="585216"/>
          </a:xfrm>
          <a:prstGeom prst="ellipse">
            <a:avLst/>
          </a:prstGeom>
          <a:solidFill>
            <a:srgbClr val="0E93A6"/>
          </a:solidFill>
          <a:ln/>
        </p:spPr>
      </p:sp>
      <p:sp>
        <p:nvSpPr>
          <p:cNvPr id="15" name="Text 13"/>
          <p:cNvSpPr/>
          <p:nvPr/>
        </p:nvSpPr>
        <p:spPr>
          <a:xfrm>
            <a:off x="731520" y="4142232"/>
            <a:ext cx="585216" cy="585216"/>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6" name="Text 14"/>
          <p:cNvSpPr/>
          <p:nvPr/>
        </p:nvSpPr>
        <p:spPr>
          <a:xfrm>
            <a:off x="1554480" y="3931920"/>
            <a:ext cx="3291840" cy="365760"/>
          </a:xfrm>
          <a:prstGeom prst="rect">
            <a:avLst/>
          </a:prstGeom>
          <a:noFill/>
          <a:ln/>
        </p:spPr>
        <p:txBody>
          <a:bodyPr wrap="square" lIns="0" tIns="0" rIns="0" bIns="0" rtlCol="0" anchor="ctr"/>
          <a:lstStyle/>
          <a:p>
            <a:pPr indent="0" marL="0">
              <a:buNone/>
            </a:pPr>
            <a:r>
              <a:rPr lang="en-US" sz="1400" b="1" dirty="0">
                <a:solidFill>
                  <a:srgbClr val="121A3A"/>
                </a:solidFill>
                <a:latin typeface="Calibri" pitchFamily="34" charset="0"/>
                <a:ea typeface="Calibri" pitchFamily="34" charset="-122"/>
                <a:cs typeface="Calibri" pitchFamily="34" charset="-120"/>
              </a:rPr>
              <a:t>Embedding</a:t>
            </a:r>
            <a:endParaRPr lang="en-US" sz="1400" dirty="0"/>
          </a:p>
        </p:txBody>
      </p:sp>
      <p:sp>
        <p:nvSpPr>
          <p:cNvPr id="17" name="Text 15"/>
          <p:cNvSpPr/>
          <p:nvPr/>
        </p:nvSpPr>
        <p:spPr>
          <a:xfrm>
            <a:off x="1554480" y="4297680"/>
            <a:ext cx="3291840" cy="274320"/>
          </a:xfrm>
          <a:prstGeom prst="rect">
            <a:avLst/>
          </a:prstGeom>
          <a:noFill/>
          <a:ln/>
        </p:spPr>
        <p:txBody>
          <a:bodyPr wrap="square" lIns="0" tIns="0" rIns="0" bIns="0" rtlCol="0" anchor="ctr"/>
          <a:lstStyle/>
          <a:p>
            <a:pPr indent="0" marL="0">
              <a:buNone/>
            </a:pPr>
            <a:r>
              <a:rPr lang="en-US" sz="900" b="1" spc="150" kern="0" dirty="0">
                <a:solidFill>
                  <a:srgbClr val="6C3FC5"/>
                </a:solidFill>
                <a:latin typeface="Calibri" pitchFamily="34" charset="0"/>
                <a:ea typeface="Calibri" pitchFamily="34" charset="-122"/>
                <a:cs typeface="Calibri" pitchFamily="34" charset="-120"/>
              </a:rPr>
              <a:t>STEP 2</a:t>
            </a:r>
            <a:endParaRPr lang="en-US" sz="900" dirty="0"/>
          </a:p>
        </p:txBody>
      </p:sp>
      <p:sp>
        <p:nvSpPr>
          <p:cNvPr id="18" name="Text 16"/>
          <p:cNvSpPr/>
          <p:nvPr/>
        </p:nvSpPr>
        <p:spPr>
          <a:xfrm>
            <a:off x="4983480" y="3959352"/>
            <a:ext cx="6492240" cy="457200"/>
          </a:xfrm>
          <a:prstGeom prst="rect">
            <a:avLst/>
          </a:prstGeom>
          <a:noFill/>
          <a:ln/>
        </p:spPr>
        <p:txBody>
          <a:bodyPr wrap="square" lIns="0" tIns="0" rIns="0" bIns="0" rtlCol="0" anchor="ctr"/>
          <a:lstStyle/>
          <a:p>
            <a:pPr indent="0" marL="0">
              <a:buNone/>
            </a:pPr>
            <a:r>
              <a:rPr lang="en-US" sz="1100" b="1" dirty="0">
                <a:solidFill>
                  <a:srgbClr val="5B6480"/>
                </a:solidFill>
                <a:latin typeface="Calibri" pitchFamily="34" charset="0"/>
                <a:ea typeface="Calibri" pitchFamily="34" charset="-122"/>
                <a:cs typeface="Calibri" pitchFamily="34" charset="-120"/>
              </a:rPr>
              <a:t>Input/Process:  </a:t>
            </a:r>
            <a:pPr indent="0" marL="0">
              <a:buNone/>
            </a:pPr>
            <a:r>
              <a:rPr lang="en-US" sz="1100" dirty="0">
                <a:solidFill>
                  <a:srgbClr val="121A3A"/>
                </a:solidFill>
                <a:latin typeface="Calibri" pitchFamily="34" charset="0"/>
                <a:ea typeface="Calibri" pitchFamily="34" charset="-122"/>
                <a:cs typeface="Calibri" pitchFamily="34" charset="-120"/>
              </a:rPr>
              <a:t>Each token ID → dense vector</a:t>
            </a:r>
            <a:endParaRPr lang="en-US" sz="1100" dirty="0"/>
          </a:p>
        </p:txBody>
      </p:sp>
      <p:sp>
        <p:nvSpPr>
          <p:cNvPr id="19" name="Text 17"/>
          <p:cNvSpPr/>
          <p:nvPr/>
        </p:nvSpPr>
        <p:spPr>
          <a:xfrm>
            <a:off x="4983480" y="4416552"/>
            <a:ext cx="6492240" cy="502920"/>
          </a:xfrm>
          <a:prstGeom prst="rect">
            <a:avLst/>
          </a:prstGeom>
          <a:noFill/>
          <a:ln/>
        </p:spPr>
        <p:txBody>
          <a:bodyPr wrap="square" lIns="0" tIns="0" rIns="0" bIns="0" rtlCol="0" anchor="ctr"/>
          <a:lstStyle/>
          <a:p>
            <a:pPr indent="0" marL="0">
              <a:buNone/>
            </a:pPr>
            <a:r>
              <a:rPr lang="en-US" sz="1100" b="1" dirty="0">
                <a:solidFill>
                  <a:srgbClr val="0E93A6"/>
                </a:solidFill>
                <a:latin typeface="Calibri" pitchFamily="34" charset="0"/>
                <a:ea typeface="Calibri" pitchFamily="34" charset="-122"/>
                <a:cs typeface="Calibri" pitchFamily="34" charset="-120"/>
              </a:rPr>
              <a:t>Output:  </a:t>
            </a:r>
            <a:pPr indent="0" marL="0">
              <a:buNone/>
            </a:pPr>
            <a:r>
              <a:rPr lang="en-US" sz="1100" dirty="0">
                <a:solidFill>
                  <a:srgbClr val="121A3A"/>
                </a:solidFill>
                <a:latin typeface="Calibri" pitchFamily="34" charset="0"/>
                <a:ea typeface="Calibri" pitchFamily="34" charset="-122"/>
                <a:cs typeface="Calibri" pitchFamily="34" charset="-120"/>
              </a:rPr>
              <a:t>6 vectors, each of length 7168</a:t>
            </a:r>
            <a:endParaRPr lang="en-US" sz="1100" dirty="0"/>
          </a:p>
        </p:txBody>
      </p:sp>
      <p:sp>
        <p:nvSpPr>
          <p:cNvPr id="20" name="Shape 18"/>
          <p:cNvSpPr/>
          <p:nvPr/>
        </p:nvSpPr>
        <p:spPr>
          <a:xfrm>
            <a:off x="502920" y="5257800"/>
            <a:ext cx="11155680" cy="1280160"/>
          </a:xfrm>
          <a:prstGeom prst="roundRect">
            <a:avLst>
              <a:gd name="adj" fmla="val 6429"/>
            </a:avLst>
          </a:prstGeom>
          <a:solidFill>
            <a:srgbClr val="FFFFFF"/>
          </a:solidFill>
          <a:ln/>
        </p:spPr>
      </p:sp>
      <p:sp>
        <p:nvSpPr>
          <p:cNvPr id="21" name="Shape 19"/>
          <p:cNvSpPr/>
          <p:nvPr/>
        </p:nvSpPr>
        <p:spPr>
          <a:xfrm>
            <a:off x="731520" y="5605272"/>
            <a:ext cx="585216" cy="585216"/>
          </a:xfrm>
          <a:prstGeom prst="ellipse">
            <a:avLst/>
          </a:prstGeom>
          <a:solidFill>
            <a:srgbClr val="0E93A6"/>
          </a:solidFill>
          <a:ln/>
        </p:spPr>
      </p:sp>
      <p:sp>
        <p:nvSpPr>
          <p:cNvPr id="22" name="Text 20"/>
          <p:cNvSpPr/>
          <p:nvPr/>
        </p:nvSpPr>
        <p:spPr>
          <a:xfrm>
            <a:off x="731520" y="5605272"/>
            <a:ext cx="585216" cy="585216"/>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3" name="Text 21"/>
          <p:cNvSpPr/>
          <p:nvPr/>
        </p:nvSpPr>
        <p:spPr>
          <a:xfrm>
            <a:off x="1554480" y="5394960"/>
            <a:ext cx="3291840" cy="365760"/>
          </a:xfrm>
          <a:prstGeom prst="rect">
            <a:avLst/>
          </a:prstGeom>
          <a:noFill/>
          <a:ln/>
        </p:spPr>
        <p:txBody>
          <a:bodyPr wrap="square" lIns="0" tIns="0" rIns="0" bIns="0" rtlCol="0" anchor="ctr"/>
          <a:lstStyle/>
          <a:p>
            <a:pPr indent="0" marL="0">
              <a:buNone/>
            </a:pPr>
            <a:r>
              <a:rPr lang="en-US" sz="1400" b="1" dirty="0">
                <a:solidFill>
                  <a:srgbClr val="121A3A"/>
                </a:solidFill>
                <a:latin typeface="Calibri" pitchFamily="34" charset="0"/>
                <a:ea typeface="Calibri" pitchFamily="34" charset="-122"/>
                <a:cs typeface="Calibri" pitchFamily="34" charset="-120"/>
              </a:rPr>
              <a:t>Positional Encoding</a:t>
            </a:r>
            <a:endParaRPr lang="en-US" sz="1400" dirty="0"/>
          </a:p>
        </p:txBody>
      </p:sp>
      <p:sp>
        <p:nvSpPr>
          <p:cNvPr id="24" name="Text 22"/>
          <p:cNvSpPr/>
          <p:nvPr/>
        </p:nvSpPr>
        <p:spPr>
          <a:xfrm>
            <a:off x="1554480" y="5760720"/>
            <a:ext cx="3291840" cy="274320"/>
          </a:xfrm>
          <a:prstGeom prst="rect">
            <a:avLst/>
          </a:prstGeom>
          <a:noFill/>
          <a:ln/>
        </p:spPr>
        <p:txBody>
          <a:bodyPr wrap="square" lIns="0" tIns="0" rIns="0" bIns="0" rtlCol="0" anchor="ctr"/>
          <a:lstStyle/>
          <a:p>
            <a:pPr indent="0" marL="0">
              <a:buNone/>
            </a:pPr>
            <a:r>
              <a:rPr lang="en-US" sz="900" b="1" spc="150" kern="0" dirty="0">
                <a:solidFill>
                  <a:srgbClr val="6C3FC5"/>
                </a:solidFill>
                <a:latin typeface="Calibri" pitchFamily="34" charset="0"/>
                <a:ea typeface="Calibri" pitchFamily="34" charset="-122"/>
                <a:cs typeface="Calibri" pitchFamily="34" charset="-120"/>
              </a:rPr>
              <a:t>STEP 3</a:t>
            </a:r>
            <a:endParaRPr lang="en-US" sz="900" dirty="0"/>
          </a:p>
        </p:txBody>
      </p:sp>
      <p:sp>
        <p:nvSpPr>
          <p:cNvPr id="25" name="Text 23"/>
          <p:cNvSpPr/>
          <p:nvPr/>
        </p:nvSpPr>
        <p:spPr>
          <a:xfrm>
            <a:off x="4983480" y="5422392"/>
            <a:ext cx="6492240" cy="457200"/>
          </a:xfrm>
          <a:prstGeom prst="rect">
            <a:avLst/>
          </a:prstGeom>
          <a:noFill/>
          <a:ln/>
        </p:spPr>
        <p:txBody>
          <a:bodyPr wrap="square" lIns="0" tIns="0" rIns="0" bIns="0" rtlCol="0" anchor="ctr"/>
          <a:lstStyle/>
          <a:p>
            <a:pPr indent="0" marL="0">
              <a:buNone/>
            </a:pPr>
            <a:r>
              <a:rPr lang="en-US" sz="1100" b="1" dirty="0">
                <a:solidFill>
                  <a:srgbClr val="5B6480"/>
                </a:solidFill>
                <a:latin typeface="Calibri" pitchFamily="34" charset="0"/>
                <a:ea typeface="Calibri" pitchFamily="34" charset="-122"/>
                <a:cs typeface="Calibri" pitchFamily="34" charset="-120"/>
              </a:rPr>
              <a:t>Input/Process:  </a:t>
            </a:r>
            <a:pPr indent="0" marL="0">
              <a:buNone/>
            </a:pPr>
            <a:r>
              <a:rPr lang="en-US" sz="1100" dirty="0">
                <a:solidFill>
                  <a:srgbClr val="121A3A"/>
                </a:solidFill>
                <a:latin typeface="Calibri" pitchFamily="34" charset="0"/>
                <a:ea typeface="Calibri" pitchFamily="34" charset="-122"/>
                <a:cs typeface="Calibri" pitchFamily="34" charset="-120"/>
              </a:rPr>
              <a:t>RoPE rotates each vector by its position angle</a:t>
            </a:r>
            <a:endParaRPr lang="en-US" sz="1100" dirty="0"/>
          </a:p>
        </p:txBody>
      </p:sp>
      <p:sp>
        <p:nvSpPr>
          <p:cNvPr id="26" name="Text 24"/>
          <p:cNvSpPr/>
          <p:nvPr/>
        </p:nvSpPr>
        <p:spPr>
          <a:xfrm>
            <a:off x="4983480" y="5879592"/>
            <a:ext cx="6492240" cy="502920"/>
          </a:xfrm>
          <a:prstGeom prst="rect">
            <a:avLst/>
          </a:prstGeom>
          <a:noFill/>
          <a:ln/>
        </p:spPr>
        <p:txBody>
          <a:bodyPr wrap="square" lIns="0" tIns="0" rIns="0" bIns="0" rtlCol="0" anchor="ctr"/>
          <a:lstStyle/>
          <a:p>
            <a:pPr indent="0" marL="0">
              <a:buNone/>
            </a:pPr>
            <a:r>
              <a:rPr lang="en-US" sz="1100" b="1" dirty="0">
                <a:solidFill>
                  <a:srgbClr val="0E93A6"/>
                </a:solidFill>
                <a:latin typeface="Calibri" pitchFamily="34" charset="0"/>
                <a:ea typeface="Calibri" pitchFamily="34" charset="-122"/>
                <a:cs typeface="Calibri" pitchFamily="34" charset="-120"/>
              </a:rPr>
              <a:t>Output:  </a:t>
            </a:r>
            <a:pPr indent="0" marL="0">
              <a:buNone/>
            </a:pPr>
            <a:r>
              <a:rPr lang="en-US" sz="1100" dirty="0">
                <a:solidFill>
                  <a:srgbClr val="121A3A"/>
                </a:solidFill>
                <a:latin typeface="Calibri" pitchFamily="34" charset="0"/>
                <a:ea typeface="Calibri" pitchFamily="34" charset="-122"/>
                <a:cs typeface="Calibri" pitchFamily="34" charset="-120"/>
              </a:rPr>
              <a:t>6 position-aware vectors ready for the decoder</a:t>
            </a:r>
            <a:endParaRPr lang="en-US" sz="1100" dirty="0"/>
          </a:p>
        </p:txBody>
      </p:sp>
      <p:sp>
        <p:nvSpPr>
          <p:cNvPr id="27" name="Text 25"/>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8891C4"/>
                </a:solidFill>
                <a:latin typeface="Calibri" pitchFamily="34" charset="0"/>
                <a:ea typeface="Calibri" pitchFamily="34" charset="-122"/>
                <a:cs typeface="Calibri" pitchFamily="34" charset="-120"/>
              </a:rPr>
              <a:t>DEEPSEEK AI MODEL  |  AI ENGINEERING SEMINAR</a:t>
            </a:r>
            <a:endParaRPr lang="en-US" sz="900" dirty="0"/>
          </a:p>
        </p:txBody>
      </p:sp>
      <p:sp>
        <p:nvSpPr>
          <p:cNvPr id="28" name="Text 26"/>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8891C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442"/>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4FD8EB"/>
                </a:solidFill>
                <a:latin typeface="Calibri" pitchFamily="34" charset="0"/>
                <a:ea typeface="Calibri" pitchFamily="34" charset="-122"/>
                <a:cs typeface="Calibri" pitchFamily="34" charset="-120"/>
              </a:rPr>
              <a:t>EXECUTION DEMONSTRATION</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Live Trace: Steps 4–6</a:t>
            </a:r>
            <a:endParaRPr lang="en-US" sz="3000" dirty="0"/>
          </a:p>
        </p:txBody>
      </p:sp>
      <p:sp>
        <p:nvSpPr>
          <p:cNvPr id="4" name="Shape 2"/>
          <p:cNvSpPr/>
          <p:nvPr/>
        </p:nvSpPr>
        <p:spPr>
          <a:xfrm>
            <a:off x="502920" y="1508760"/>
            <a:ext cx="11155680" cy="1417320"/>
          </a:xfrm>
          <a:prstGeom prst="roundRect">
            <a:avLst>
              <a:gd name="adj" fmla="val 5806"/>
            </a:avLst>
          </a:prstGeom>
          <a:solidFill>
            <a:srgbClr val="16215C"/>
          </a:solidFill>
          <a:ln/>
        </p:spPr>
      </p:sp>
      <p:sp>
        <p:nvSpPr>
          <p:cNvPr id="5" name="Shape 3"/>
          <p:cNvSpPr/>
          <p:nvPr/>
        </p:nvSpPr>
        <p:spPr>
          <a:xfrm>
            <a:off x="731520" y="1924812"/>
            <a:ext cx="585216" cy="585216"/>
          </a:xfrm>
          <a:prstGeom prst="ellipse">
            <a:avLst/>
          </a:prstGeom>
          <a:solidFill>
            <a:srgbClr val="4FD8EB"/>
          </a:solidFill>
          <a:ln/>
        </p:spPr>
      </p:sp>
      <p:sp>
        <p:nvSpPr>
          <p:cNvPr id="6" name="Text 4"/>
          <p:cNvSpPr/>
          <p:nvPr/>
        </p:nvSpPr>
        <p:spPr>
          <a:xfrm>
            <a:off x="731520" y="1924812"/>
            <a:ext cx="585216" cy="585216"/>
          </a:xfrm>
          <a:prstGeom prst="rect">
            <a:avLst/>
          </a:prstGeom>
          <a:noFill/>
          <a:ln/>
        </p:spPr>
        <p:txBody>
          <a:bodyPr wrap="square" rtlCol="0" anchor="ctr"/>
          <a:lstStyle/>
          <a:p>
            <a:pPr algn="ctr" indent="0" marL="0">
              <a:buNone/>
            </a:pPr>
            <a:r>
              <a:rPr lang="en-US" sz="2200" b="1" dirty="0">
                <a:solidFill>
                  <a:srgbClr val="0B1442"/>
                </a:solidFill>
                <a:latin typeface="Calibri" pitchFamily="34" charset="0"/>
                <a:ea typeface="Calibri" pitchFamily="34" charset="-122"/>
                <a:cs typeface="Calibri" pitchFamily="34" charset="-120"/>
              </a:rPr>
              <a:t>4</a:t>
            </a:r>
            <a:endParaRPr lang="en-US" sz="2200" dirty="0"/>
          </a:p>
        </p:txBody>
      </p:sp>
      <p:sp>
        <p:nvSpPr>
          <p:cNvPr id="7" name="Text 5"/>
          <p:cNvSpPr/>
          <p:nvPr/>
        </p:nvSpPr>
        <p:spPr>
          <a:xfrm>
            <a:off x="1554480" y="1645920"/>
            <a:ext cx="3291840" cy="256032"/>
          </a:xfrm>
          <a:prstGeom prst="rect">
            <a:avLst/>
          </a:prstGeom>
          <a:noFill/>
          <a:ln/>
        </p:spPr>
        <p:txBody>
          <a:bodyPr wrap="square" lIns="0" tIns="0" rIns="0" bIns="0" rtlCol="0" anchor="ctr"/>
          <a:lstStyle/>
          <a:p>
            <a:pPr indent="0" marL="0">
              <a:buNone/>
            </a:pPr>
            <a:r>
              <a:rPr lang="en-US" sz="900" b="1" spc="150" kern="0" dirty="0">
                <a:solidFill>
                  <a:srgbClr val="4FD8EB"/>
                </a:solidFill>
                <a:latin typeface="Calibri" pitchFamily="34" charset="0"/>
                <a:ea typeface="Calibri" pitchFamily="34" charset="-122"/>
                <a:cs typeface="Calibri" pitchFamily="34" charset="-120"/>
              </a:rPr>
              <a:t>STEP 4</a:t>
            </a:r>
            <a:endParaRPr lang="en-US" sz="900" dirty="0"/>
          </a:p>
        </p:txBody>
      </p:sp>
      <p:sp>
        <p:nvSpPr>
          <p:cNvPr id="8" name="Text 6"/>
          <p:cNvSpPr/>
          <p:nvPr/>
        </p:nvSpPr>
        <p:spPr>
          <a:xfrm>
            <a:off x="1554480" y="1892808"/>
            <a:ext cx="329184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Transformer Decoder</a:t>
            </a:r>
            <a:endParaRPr lang="en-US" sz="1450" dirty="0"/>
          </a:p>
        </p:txBody>
      </p:sp>
      <p:sp>
        <p:nvSpPr>
          <p:cNvPr id="9" name="Text 7"/>
          <p:cNvSpPr/>
          <p:nvPr/>
        </p:nvSpPr>
        <p:spPr>
          <a:xfrm>
            <a:off x="4983480" y="1709928"/>
            <a:ext cx="6492240" cy="502920"/>
          </a:xfrm>
          <a:prstGeom prst="rect">
            <a:avLst/>
          </a:prstGeom>
          <a:noFill/>
          <a:ln/>
        </p:spPr>
        <p:txBody>
          <a:bodyPr wrap="square" lIns="0" tIns="0" rIns="0" bIns="0" rtlCol="0" anchor="ctr"/>
          <a:lstStyle/>
          <a:p>
            <a:pPr indent="0" marL="0">
              <a:buNone/>
            </a:pPr>
            <a:r>
              <a:rPr lang="en-US" sz="1100" b="1" dirty="0">
                <a:solidFill>
                  <a:srgbClr val="8891C4"/>
                </a:solidFill>
                <a:latin typeface="Calibri" pitchFamily="34" charset="0"/>
                <a:ea typeface="Calibri" pitchFamily="34" charset="-122"/>
                <a:cs typeface="Calibri" pitchFamily="34" charset="-120"/>
              </a:rPr>
              <a:t>Process:  </a:t>
            </a:r>
            <a:pPr indent="0" marL="0">
              <a:buNone/>
            </a:pPr>
            <a:r>
              <a:rPr lang="en-US" sz="1100" dirty="0">
                <a:solidFill>
                  <a:srgbClr val="D8DCF4"/>
                </a:solidFill>
                <a:latin typeface="Calibri" pitchFamily="34" charset="0"/>
                <a:ea typeface="Calibri" pitchFamily="34" charset="-122"/>
                <a:cs typeface="Calibri" pitchFamily="34" charset="-120"/>
              </a:rPr>
              <a:t>Position-aware vectors pass through 61 decoder layers</a:t>
            </a:r>
            <a:endParaRPr lang="en-US" sz="1100" dirty="0"/>
          </a:p>
        </p:txBody>
      </p:sp>
      <p:sp>
        <p:nvSpPr>
          <p:cNvPr id="10" name="Text 8"/>
          <p:cNvSpPr/>
          <p:nvPr/>
        </p:nvSpPr>
        <p:spPr>
          <a:xfrm>
            <a:off x="4983480" y="2240280"/>
            <a:ext cx="6492240" cy="548640"/>
          </a:xfrm>
          <a:prstGeom prst="rect">
            <a:avLst/>
          </a:prstGeom>
          <a:noFill/>
          <a:ln/>
        </p:spPr>
        <p:txBody>
          <a:bodyPr wrap="square" lIns="0" tIns="0" rIns="0" bIns="0" rtlCol="0" anchor="ctr"/>
          <a:lstStyle/>
          <a:p>
            <a:pPr indent="0" marL="0">
              <a:buNone/>
            </a:pPr>
            <a:r>
              <a:rPr lang="en-US" sz="1100" b="1" dirty="0">
                <a:solidFill>
                  <a:srgbClr val="4FD8EB"/>
                </a:solidFill>
                <a:latin typeface="Calibri" pitchFamily="34" charset="0"/>
                <a:ea typeface="Calibri" pitchFamily="34" charset="-122"/>
                <a:cs typeface="Calibri" pitchFamily="34" charset="-120"/>
              </a:rPr>
              <a:t>Output:  </a:t>
            </a:r>
            <a:pPr indent="0" marL="0">
              <a:buNone/>
            </a:pPr>
            <a:r>
              <a:rPr lang="en-US" sz="1100" dirty="0">
                <a:solidFill>
                  <a:srgbClr val="D8DCF4"/>
                </a:solidFill>
                <a:latin typeface="Calibri" pitchFamily="34" charset="0"/>
                <a:ea typeface="Calibri" pitchFamily="34" charset="-122"/>
                <a:cs typeface="Calibri" pitchFamily="34" charset="-120"/>
              </a:rPr>
              <a:t>Contextualized vectors — each token now “knows” about the others</a:t>
            </a:r>
            <a:endParaRPr lang="en-US" sz="1100" dirty="0"/>
          </a:p>
        </p:txBody>
      </p:sp>
      <p:sp>
        <p:nvSpPr>
          <p:cNvPr id="11" name="Shape 9"/>
          <p:cNvSpPr/>
          <p:nvPr/>
        </p:nvSpPr>
        <p:spPr>
          <a:xfrm>
            <a:off x="502920" y="3090672"/>
            <a:ext cx="11155680" cy="1417320"/>
          </a:xfrm>
          <a:prstGeom prst="roundRect">
            <a:avLst>
              <a:gd name="adj" fmla="val 5806"/>
            </a:avLst>
          </a:prstGeom>
          <a:solidFill>
            <a:srgbClr val="16215C"/>
          </a:solidFill>
          <a:ln/>
        </p:spPr>
      </p:sp>
      <p:sp>
        <p:nvSpPr>
          <p:cNvPr id="12" name="Shape 10"/>
          <p:cNvSpPr/>
          <p:nvPr/>
        </p:nvSpPr>
        <p:spPr>
          <a:xfrm>
            <a:off x="731520" y="3506724"/>
            <a:ext cx="585216" cy="585216"/>
          </a:xfrm>
          <a:prstGeom prst="ellipse">
            <a:avLst/>
          </a:prstGeom>
          <a:solidFill>
            <a:srgbClr val="4FD8EB"/>
          </a:solidFill>
          <a:ln/>
        </p:spPr>
      </p:sp>
      <p:sp>
        <p:nvSpPr>
          <p:cNvPr id="13" name="Text 11"/>
          <p:cNvSpPr/>
          <p:nvPr/>
        </p:nvSpPr>
        <p:spPr>
          <a:xfrm>
            <a:off x="731520" y="3506724"/>
            <a:ext cx="585216" cy="585216"/>
          </a:xfrm>
          <a:prstGeom prst="rect">
            <a:avLst/>
          </a:prstGeom>
          <a:noFill/>
          <a:ln/>
        </p:spPr>
        <p:txBody>
          <a:bodyPr wrap="square" rtlCol="0" anchor="ctr"/>
          <a:lstStyle/>
          <a:p>
            <a:pPr algn="ctr" indent="0" marL="0">
              <a:buNone/>
            </a:pPr>
            <a:r>
              <a:rPr lang="en-US" sz="2200" b="1" dirty="0">
                <a:solidFill>
                  <a:srgbClr val="0B1442"/>
                </a:solidFill>
                <a:latin typeface="Calibri" pitchFamily="34" charset="0"/>
                <a:ea typeface="Calibri" pitchFamily="34" charset="-122"/>
                <a:cs typeface="Calibri" pitchFamily="34" charset="-120"/>
              </a:rPr>
              <a:t>5</a:t>
            </a:r>
            <a:endParaRPr lang="en-US" sz="2200" dirty="0"/>
          </a:p>
        </p:txBody>
      </p:sp>
      <p:sp>
        <p:nvSpPr>
          <p:cNvPr id="14" name="Text 12"/>
          <p:cNvSpPr/>
          <p:nvPr/>
        </p:nvSpPr>
        <p:spPr>
          <a:xfrm>
            <a:off x="1554480" y="3227832"/>
            <a:ext cx="3291840" cy="256032"/>
          </a:xfrm>
          <a:prstGeom prst="rect">
            <a:avLst/>
          </a:prstGeom>
          <a:noFill/>
          <a:ln/>
        </p:spPr>
        <p:txBody>
          <a:bodyPr wrap="square" lIns="0" tIns="0" rIns="0" bIns="0" rtlCol="0" anchor="ctr"/>
          <a:lstStyle/>
          <a:p>
            <a:pPr indent="0" marL="0">
              <a:buNone/>
            </a:pPr>
            <a:r>
              <a:rPr lang="en-US" sz="900" b="1" spc="150" kern="0" dirty="0">
                <a:solidFill>
                  <a:srgbClr val="4FD8EB"/>
                </a:solidFill>
                <a:latin typeface="Calibri" pitchFamily="34" charset="0"/>
                <a:ea typeface="Calibri" pitchFamily="34" charset="-122"/>
                <a:cs typeface="Calibri" pitchFamily="34" charset="-120"/>
              </a:rPr>
              <a:t>STEP 5</a:t>
            </a:r>
            <a:endParaRPr lang="en-US" sz="900" dirty="0"/>
          </a:p>
        </p:txBody>
      </p:sp>
      <p:sp>
        <p:nvSpPr>
          <p:cNvPr id="15" name="Text 13"/>
          <p:cNvSpPr/>
          <p:nvPr/>
        </p:nvSpPr>
        <p:spPr>
          <a:xfrm>
            <a:off x="1554480" y="3474720"/>
            <a:ext cx="329184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Self-Attention (MLA)</a:t>
            </a:r>
            <a:endParaRPr lang="en-US" sz="1450" dirty="0"/>
          </a:p>
        </p:txBody>
      </p:sp>
      <p:sp>
        <p:nvSpPr>
          <p:cNvPr id="16" name="Text 14"/>
          <p:cNvSpPr/>
          <p:nvPr/>
        </p:nvSpPr>
        <p:spPr>
          <a:xfrm>
            <a:off x="4983480" y="3291840"/>
            <a:ext cx="6492240" cy="502920"/>
          </a:xfrm>
          <a:prstGeom prst="rect">
            <a:avLst/>
          </a:prstGeom>
          <a:noFill/>
          <a:ln/>
        </p:spPr>
        <p:txBody>
          <a:bodyPr wrap="square" lIns="0" tIns="0" rIns="0" bIns="0" rtlCol="0" anchor="ctr"/>
          <a:lstStyle/>
          <a:p>
            <a:pPr indent="0" marL="0">
              <a:buNone/>
            </a:pPr>
            <a:r>
              <a:rPr lang="en-US" sz="1100" b="1" dirty="0">
                <a:solidFill>
                  <a:srgbClr val="8891C4"/>
                </a:solidFill>
                <a:latin typeface="Calibri" pitchFamily="34" charset="0"/>
                <a:ea typeface="Calibri" pitchFamily="34" charset="-122"/>
                <a:cs typeface="Calibri" pitchFamily="34" charset="-120"/>
              </a:rPr>
              <a:t>Process:  </a:t>
            </a:r>
            <a:pPr indent="0" marL="0">
              <a:buNone/>
            </a:pPr>
            <a:r>
              <a:rPr lang="en-US" sz="1100" dirty="0">
                <a:solidFill>
                  <a:srgbClr val="D8DCF4"/>
                </a:solidFill>
                <a:latin typeface="Calibri" pitchFamily="34" charset="0"/>
                <a:ea typeface="Calibri" pitchFamily="34" charset="-122"/>
                <a:cs typeface="Calibri" pitchFamily="34" charset="-120"/>
              </a:rPr>
              <a:t>"Intelligence" attends strongly to "Artificial" (weight ≈ 0.50)</a:t>
            </a:r>
            <a:endParaRPr lang="en-US" sz="1100" dirty="0"/>
          </a:p>
        </p:txBody>
      </p:sp>
      <p:sp>
        <p:nvSpPr>
          <p:cNvPr id="17" name="Text 15"/>
          <p:cNvSpPr/>
          <p:nvPr/>
        </p:nvSpPr>
        <p:spPr>
          <a:xfrm>
            <a:off x="4983480" y="3822192"/>
            <a:ext cx="6492240" cy="548640"/>
          </a:xfrm>
          <a:prstGeom prst="rect">
            <a:avLst/>
          </a:prstGeom>
          <a:noFill/>
          <a:ln/>
        </p:spPr>
        <p:txBody>
          <a:bodyPr wrap="square" lIns="0" tIns="0" rIns="0" bIns="0" rtlCol="0" anchor="ctr"/>
          <a:lstStyle/>
          <a:p>
            <a:pPr indent="0" marL="0">
              <a:buNone/>
            </a:pPr>
            <a:r>
              <a:rPr lang="en-US" sz="1100" b="1" dirty="0">
                <a:solidFill>
                  <a:srgbClr val="4FD8EB"/>
                </a:solidFill>
                <a:latin typeface="Calibri" pitchFamily="34" charset="0"/>
                <a:ea typeface="Calibri" pitchFamily="34" charset="-122"/>
                <a:cs typeface="Calibri" pitchFamily="34" charset="-120"/>
              </a:rPr>
              <a:t>Output:  </a:t>
            </a:r>
            <a:pPr indent="0" marL="0">
              <a:buNone/>
            </a:pPr>
            <a:r>
              <a:rPr lang="en-US" sz="1100" dirty="0">
                <a:solidFill>
                  <a:srgbClr val="D8DCF4"/>
                </a:solidFill>
                <a:latin typeface="Calibri" pitchFamily="34" charset="0"/>
                <a:ea typeface="Calibri" pitchFamily="34" charset="-122"/>
                <a:cs typeface="Calibri" pitchFamily="34" charset="-120"/>
              </a:rPr>
              <a:t>Attention-weighted context vector per token</a:t>
            </a:r>
            <a:endParaRPr lang="en-US" sz="1100" dirty="0"/>
          </a:p>
        </p:txBody>
      </p:sp>
      <p:sp>
        <p:nvSpPr>
          <p:cNvPr id="18" name="Shape 16"/>
          <p:cNvSpPr/>
          <p:nvPr/>
        </p:nvSpPr>
        <p:spPr>
          <a:xfrm>
            <a:off x="502920" y="4672584"/>
            <a:ext cx="11155680" cy="1417320"/>
          </a:xfrm>
          <a:prstGeom prst="roundRect">
            <a:avLst>
              <a:gd name="adj" fmla="val 5806"/>
            </a:avLst>
          </a:prstGeom>
          <a:solidFill>
            <a:srgbClr val="16215C"/>
          </a:solidFill>
          <a:ln/>
        </p:spPr>
      </p:sp>
      <p:sp>
        <p:nvSpPr>
          <p:cNvPr id="19" name="Shape 17"/>
          <p:cNvSpPr/>
          <p:nvPr/>
        </p:nvSpPr>
        <p:spPr>
          <a:xfrm>
            <a:off x="731520" y="5088636"/>
            <a:ext cx="585216" cy="585216"/>
          </a:xfrm>
          <a:prstGeom prst="ellipse">
            <a:avLst/>
          </a:prstGeom>
          <a:solidFill>
            <a:srgbClr val="4FD8EB"/>
          </a:solidFill>
          <a:ln/>
        </p:spPr>
      </p:sp>
      <p:sp>
        <p:nvSpPr>
          <p:cNvPr id="20" name="Text 18"/>
          <p:cNvSpPr/>
          <p:nvPr/>
        </p:nvSpPr>
        <p:spPr>
          <a:xfrm>
            <a:off x="731520" y="5088636"/>
            <a:ext cx="585216" cy="585216"/>
          </a:xfrm>
          <a:prstGeom prst="rect">
            <a:avLst/>
          </a:prstGeom>
          <a:noFill/>
          <a:ln/>
        </p:spPr>
        <p:txBody>
          <a:bodyPr wrap="square" rtlCol="0" anchor="ctr"/>
          <a:lstStyle/>
          <a:p>
            <a:pPr algn="ctr" indent="0" marL="0">
              <a:buNone/>
            </a:pPr>
            <a:r>
              <a:rPr lang="en-US" sz="2200" b="1" dirty="0">
                <a:solidFill>
                  <a:srgbClr val="0B1442"/>
                </a:solidFill>
                <a:latin typeface="Calibri" pitchFamily="34" charset="0"/>
                <a:ea typeface="Calibri" pitchFamily="34" charset="-122"/>
                <a:cs typeface="Calibri" pitchFamily="34" charset="-120"/>
              </a:rPr>
              <a:t>6</a:t>
            </a:r>
            <a:endParaRPr lang="en-US" sz="2200" dirty="0"/>
          </a:p>
        </p:txBody>
      </p:sp>
      <p:sp>
        <p:nvSpPr>
          <p:cNvPr id="21" name="Text 19"/>
          <p:cNvSpPr/>
          <p:nvPr/>
        </p:nvSpPr>
        <p:spPr>
          <a:xfrm>
            <a:off x="1554480" y="4809744"/>
            <a:ext cx="3291840" cy="256032"/>
          </a:xfrm>
          <a:prstGeom prst="rect">
            <a:avLst/>
          </a:prstGeom>
          <a:noFill/>
          <a:ln/>
        </p:spPr>
        <p:txBody>
          <a:bodyPr wrap="square" lIns="0" tIns="0" rIns="0" bIns="0" rtlCol="0" anchor="ctr"/>
          <a:lstStyle/>
          <a:p>
            <a:pPr indent="0" marL="0">
              <a:buNone/>
            </a:pPr>
            <a:r>
              <a:rPr lang="en-US" sz="900" b="1" spc="150" kern="0" dirty="0">
                <a:solidFill>
                  <a:srgbClr val="4FD8EB"/>
                </a:solidFill>
                <a:latin typeface="Calibri" pitchFamily="34" charset="0"/>
                <a:ea typeface="Calibri" pitchFamily="34" charset="-122"/>
                <a:cs typeface="Calibri" pitchFamily="34" charset="-120"/>
              </a:rPr>
              <a:t>STEP 6</a:t>
            </a:r>
            <a:endParaRPr lang="en-US" sz="900" dirty="0"/>
          </a:p>
        </p:txBody>
      </p:sp>
      <p:sp>
        <p:nvSpPr>
          <p:cNvPr id="22" name="Text 20"/>
          <p:cNvSpPr/>
          <p:nvPr/>
        </p:nvSpPr>
        <p:spPr>
          <a:xfrm>
            <a:off x="1554480" y="5056632"/>
            <a:ext cx="329184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DeepSeekMoE</a:t>
            </a:r>
            <a:endParaRPr lang="en-US" sz="1450" dirty="0"/>
          </a:p>
        </p:txBody>
      </p:sp>
      <p:sp>
        <p:nvSpPr>
          <p:cNvPr id="23" name="Text 21"/>
          <p:cNvSpPr/>
          <p:nvPr/>
        </p:nvSpPr>
        <p:spPr>
          <a:xfrm>
            <a:off x="4983480" y="4873752"/>
            <a:ext cx="6492240" cy="502920"/>
          </a:xfrm>
          <a:prstGeom prst="rect">
            <a:avLst/>
          </a:prstGeom>
          <a:noFill/>
          <a:ln/>
        </p:spPr>
        <p:txBody>
          <a:bodyPr wrap="square" lIns="0" tIns="0" rIns="0" bIns="0" rtlCol="0" anchor="ctr"/>
          <a:lstStyle/>
          <a:p>
            <a:pPr indent="0" marL="0">
              <a:buNone/>
            </a:pPr>
            <a:r>
              <a:rPr lang="en-US" sz="1100" b="1" dirty="0">
                <a:solidFill>
                  <a:srgbClr val="8891C4"/>
                </a:solidFill>
                <a:latin typeface="Calibri" pitchFamily="34" charset="0"/>
                <a:ea typeface="Calibri" pitchFamily="34" charset="-122"/>
                <a:cs typeface="Calibri" pitchFamily="34" charset="-120"/>
              </a:rPr>
              <a:t>Process:  </a:t>
            </a:r>
            <a:pPr indent="0" marL="0">
              <a:buNone/>
            </a:pPr>
            <a:r>
              <a:rPr lang="en-US" sz="1100" dirty="0">
                <a:solidFill>
                  <a:srgbClr val="D8DCF4"/>
                </a:solidFill>
                <a:latin typeface="Calibri" pitchFamily="34" charset="0"/>
                <a:ea typeface="Calibri" pitchFamily="34" charset="-122"/>
                <a:cs typeface="Calibri" pitchFamily="34" charset="-120"/>
              </a:rPr>
              <a:t>Router scores 5 candidate experts for this context</a:t>
            </a:r>
            <a:endParaRPr lang="en-US" sz="1100" dirty="0"/>
          </a:p>
        </p:txBody>
      </p:sp>
      <p:sp>
        <p:nvSpPr>
          <p:cNvPr id="24" name="Text 22"/>
          <p:cNvSpPr/>
          <p:nvPr/>
        </p:nvSpPr>
        <p:spPr>
          <a:xfrm>
            <a:off x="4983480" y="5404104"/>
            <a:ext cx="6492240" cy="548640"/>
          </a:xfrm>
          <a:prstGeom prst="rect">
            <a:avLst/>
          </a:prstGeom>
          <a:noFill/>
          <a:ln/>
        </p:spPr>
        <p:txBody>
          <a:bodyPr wrap="square" lIns="0" tIns="0" rIns="0" bIns="0" rtlCol="0" anchor="ctr"/>
          <a:lstStyle/>
          <a:p>
            <a:pPr indent="0" marL="0">
              <a:buNone/>
            </a:pPr>
            <a:r>
              <a:rPr lang="en-US" sz="1100" b="1" dirty="0">
                <a:solidFill>
                  <a:srgbClr val="4FD8EB"/>
                </a:solidFill>
                <a:latin typeface="Calibri" pitchFamily="34" charset="0"/>
                <a:ea typeface="Calibri" pitchFamily="34" charset="-122"/>
                <a:cs typeface="Calibri" pitchFamily="34" charset="-120"/>
              </a:rPr>
              <a:t>Output:  </a:t>
            </a:r>
            <a:pPr indent="0" marL="0">
              <a:buNone/>
            </a:pPr>
            <a:r>
              <a:rPr lang="en-US" sz="1100" dirty="0">
                <a:solidFill>
                  <a:srgbClr val="D8DCF4"/>
                </a:solidFill>
                <a:latin typeface="Calibri" pitchFamily="34" charset="0"/>
                <a:ea typeface="Calibri" pitchFamily="34" charset="-122"/>
                <a:cs typeface="Calibri" pitchFamily="34" charset="-120"/>
              </a:rPr>
              <a:t>Expert 2 &amp; Expert 4 activated; others stay idle</a:t>
            </a:r>
            <a:endParaRPr lang="en-US" sz="1100" dirty="0"/>
          </a:p>
        </p:txBody>
      </p:sp>
      <p:sp>
        <p:nvSpPr>
          <p:cNvPr id="25" name="Text 23"/>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8891C4"/>
                </a:solidFill>
                <a:latin typeface="Calibri" pitchFamily="34" charset="0"/>
                <a:ea typeface="Calibri" pitchFamily="34" charset="-122"/>
                <a:cs typeface="Calibri" pitchFamily="34" charset="-120"/>
              </a:rPr>
              <a:t>DEEPSEEK AI MODEL  |  AI ENGINEERING SEMINAR</a:t>
            </a:r>
            <a:endParaRPr lang="en-US" sz="900" dirty="0"/>
          </a:p>
        </p:txBody>
      </p:sp>
      <p:sp>
        <p:nvSpPr>
          <p:cNvPr id="26" name="Text 24"/>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8891C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EXECUTION DEMONSTRATION</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Live Trace: Steps 7–10 — Final Output</a:t>
            </a:r>
            <a:endParaRPr lang="en-US" sz="3000" dirty="0"/>
          </a:p>
        </p:txBody>
      </p:sp>
      <p:sp>
        <p:nvSpPr>
          <p:cNvPr id="4" name="Shape 2"/>
          <p:cNvSpPr/>
          <p:nvPr/>
        </p:nvSpPr>
        <p:spPr>
          <a:xfrm>
            <a:off x="502920" y="1508760"/>
            <a:ext cx="5440680" cy="1371600"/>
          </a:xfrm>
          <a:prstGeom prst="roundRect">
            <a:avLst>
              <a:gd name="adj" fmla="val 600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5" name="Shape 3"/>
          <p:cNvSpPr/>
          <p:nvPr/>
        </p:nvSpPr>
        <p:spPr>
          <a:xfrm>
            <a:off x="685800" y="1691640"/>
            <a:ext cx="502920" cy="502920"/>
          </a:xfrm>
          <a:prstGeom prst="ellipse">
            <a:avLst/>
          </a:prstGeom>
          <a:solidFill>
            <a:srgbClr val="6C3FC5"/>
          </a:solidFill>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7" name="Text 5"/>
          <p:cNvSpPr/>
          <p:nvPr/>
        </p:nvSpPr>
        <p:spPr>
          <a:xfrm>
            <a:off x="1325880" y="1673352"/>
            <a:ext cx="4434840" cy="237744"/>
          </a:xfrm>
          <a:prstGeom prst="rect">
            <a:avLst/>
          </a:prstGeom>
          <a:noFill/>
          <a:ln/>
        </p:spPr>
        <p:txBody>
          <a:bodyPr wrap="square" lIns="0" tIns="0" rIns="0" bIns="0" rtlCol="0" anchor="ctr"/>
          <a:lstStyle/>
          <a:p>
            <a:pPr indent="0" marL="0">
              <a:buNone/>
            </a:pPr>
            <a:r>
              <a:rPr lang="en-US" sz="900" b="1" spc="120" kern="0" dirty="0">
                <a:solidFill>
                  <a:srgbClr val="6C3FC5"/>
                </a:solidFill>
                <a:latin typeface="Calibri" pitchFamily="34" charset="0"/>
                <a:ea typeface="Calibri" pitchFamily="34" charset="-122"/>
                <a:cs typeface="Calibri" pitchFamily="34" charset="-120"/>
              </a:rPr>
              <a:t>STEP 7</a:t>
            </a:r>
            <a:endParaRPr lang="en-US" sz="900" dirty="0"/>
          </a:p>
        </p:txBody>
      </p:sp>
      <p:sp>
        <p:nvSpPr>
          <p:cNvPr id="8" name="Text 6"/>
          <p:cNvSpPr/>
          <p:nvPr/>
        </p:nvSpPr>
        <p:spPr>
          <a:xfrm>
            <a:off x="1325880" y="1892808"/>
            <a:ext cx="4434840" cy="320040"/>
          </a:xfrm>
          <a:prstGeom prst="rect">
            <a:avLst/>
          </a:prstGeom>
          <a:noFill/>
          <a:ln/>
        </p:spPr>
        <p:txBody>
          <a:bodyPr wrap="square" lIns="0" tIns="0" rIns="0" bIns="0" rtlCol="0" anchor="ctr"/>
          <a:lstStyle/>
          <a:p>
            <a:pPr indent="0" marL="0">
              <a:buNone/>
            </a:pPr>
            <a:r>
              <a:rPr lang="en-US" sz="1350" b="1" dirty="0">
                <a:solidFill>
                  <a:srgbClr val="121A3A"/>
                </a:solidFill>
                <a:latin typeface="Calibri" pitchFamily="34" charset="0"/>
                <a:ea typeface="Calibri" pitchFamily="34" charset="-122"/>
                <a:cs typeface="Calibri" pitchFamily="34" charset="-120"/>
              </a:rPr>
              <a:t>Feed-Forward Network</a:t>
            </a:r>
            <a:endParaRPr lang="en-US" sz="1350" dirty="0"/>
          </a:p>
        </p:txBody>
      </p:sp>
      <p:sp>
        <p:nvSpPr>
          <p:cNvPr id="9" name="Text 7"/>
          <p:cNvSpPr/>
          <p:nvPr/>
        </p:nvSpPr>
        <p:spPr>
          <a:xfrm>
            <a:off x="731520" y="2377440"/>
            <a:ext cx="4983480" cy="457200"/>
          </a:xfrm>
          <a:prstGeom prst="rect">
            <a:avLst/>
          </a:prstGeom>
          <a:noFill/>
          <a:ln/>
        </p:spPr>
        <p:txBody>
          <a:bodyPr wrap="square" lIns="0" tIns="0" rIns="0" bIns="0" rtlCol="0" anchor="ctr"/>
          <a:lstStyle/>
          <a:p>
            <a:pPr indent="0" marL="0">
              <a:lnSpc>
                <a:spcPct val="115000"/>
              </a:lnSpc>
              <a:buNone/>
            </a:pPr>
            <a:r>
              <a:rPr lang="en-US" sz="1050" dirty="0">
                <a:solidFill>
                  <a:srgbClr val="5B6480"/>
                </a:solidFill>
                <a:latin typeface="Calibri" pitchFamily="34" charset="0"/>
                <a:ea typeface="Calibri" pitchFamily="34" charset="-122"/>
                <a:cs typeface="Calibri" pitchFamily="34" charset="-120"/>
              </a:rPr>
              <a:t>Selected experts transform the attended vector</a:t>
            </a:r>
            <a:endParaRPr lang="en-US" sz="1050" dirty="0"/>
          </a:p>
        </p:txBody>
      </p:sp>
      <p:sp>
        <p:nvSpPr>
          <p:cNvPr id="10" name="Shape 8"/>
          <p:cNvSpPr/>
          <p:nvPr/>
        </p:nvSpPr>
        <p:spPr>
          <a:xfrm>
            <a:off x="6217920" y="1508760"/>
            <a:ext cx="5440680" cy="1371600"/>
          </a:xfrm>
          <a:prstGeom prst="roundRect">
            <a:avLst>
              <a:gd name="adj" fmla="val 600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11" name="Shape 9"/>
          <p:cNvSpPr/>
          <p:nvPr/>
        </p:nvSpPr>
        <p:spPr>
          <a:xfrm>
            <a:off x="6400800" y="1691640"/>
            <a:ext cx="502920" cy="502920"/>
          </a:xfrm>
          <a:prstGeom prst="ellipse">
            <a:avLst/>
          </a:prstGeom>
          <a:solidFill>
            <a:srgbClr val="6C3FC5"/>
          </a:solidFill>
          <a:ln/>
        </p:spPr>
      </p:sp>
      <p:sp>
        <p:nvSpPr>
          <p:cNvPr id="12" name="Text 10"/>
          <p:cNvSpPr/>
          <p:nvPr/>
        </p:nvSpPr>
        <p:spPr>
          <a:xfrm>
            <a:off x="6400800" y="16916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13" name="Text 11"/>
          <p:cNvSpPr/>
          <p:nvPr/>
        </p:nvSpPr>
        <p:spPr>
          <a:xfrm>
            <a:off x="7040880" y="1673352"/>
            <a:ext cx="4434840" cy="237744"/>
          </a:xfrm>
          <a:prstGeom prst="rect">
            <a:avLst/>
          </a:prstGeom>
          <a:noFill/>
          <a:ln/>
        </p:spPr>
        <p:txBody>
          <a:bodyPr wrap="square" lIns="0" tIns="0" rIns="0" bIns="0" rtlCol="0" anchor="ctr"/>
          <a:lstStyle/>
          <a:p>
            <a:pPr indent="0" marL="0">
              <a:buNone/>
            </a:pPr>
            <a:r>
              <a:rPr lang="en-US" sz="900" b="1" spc="120" kern="0" dirty="0">
                <a:solidFill>
                  <a:srgbClr val="6C3FC5"/>
                </a:solidFill>
                <a:latin typeface="Calibri" pitchFamily="34" charset="0"/>
                <a:ea typeface="Calibri" pitchFamily="34" charset="-122"/>
                <a:cs typeface="Calibri" pitchFamily="34" charset="-120"/>
              </a:rPr>
              <a:t>STEP 8</a:t>
            </a:r>
            <a:endParaRPr lang="en-US" sz="900" dirty="0"/>
          </a:p>
        </p:txBody>
      </p:sp>
      <p:sp>
        <p:nvSpPr>
          <p:cNvPr id="14" name="Text 12"/>
          <p:cNvSpPr/>
          <p:nvPr/>
        </p:nvSpPr>
        <p:spPr>
          <a:xfrm>
            <a:off x="7040880" y="1892808"/>
            <a:ext cx="4434840" cy="320040"/>
          </a:xfrm>
          <a:prstGeom prst="rect">
            <a:avLst/>
          </a:prstGeom>
          <a:noFill/>
          <a:ln/>
        </p:spPr>
        <p:txBody>
          <a:bodyPr wrap="square" lIns="0" tIns="0" rIns="0" bIns="0" rtlCol="0" anchor="ctr"/>
          <a:lstStyle/>
          <a:p>
            <a:pPr indent="0" marL="0">
              <a:buNone/>
            </a:pPr>
            <a:r>
              <a:rPr lang="en-US" sz="1350" b="1" dirty="0">
                <a:solidFill>
                  <a:srgbClr val="121A3A"/>
                </a:solidFill>
                <a:latin typeface="Calibri" pitchFamily="34" charset="0"/>
                <a:ea typeface="Calibri" pitchFamily="34" charset="-122"/>
                <a:cs typeface="Calibri" pitchFamily="34" charset="-120"/>
              </a:rPr>
              <a:t>Softmax</a:t>
            </a:r>
            <a:endParaRPr lang="en-US" sz="1350" dirty="0"/>
          </a:p>
        </p:txBody>
      </p:sp>
      <p:sp>
        <p:nvSpPr>
          <p:cNvPr id="15" name="Text 13"/>
          <p:cNvSpPr/>
          <p:nvPr/>
        </p:nvSpPr>
        <p:spPr>
          <a:xfrm>
            <a:off x="6446520" y="2377440"/>
            <a:ext cx="4983480" cy="457200"/>
          </a:xfrm>
          <a:prstGeom prst="rect">
            <a:avLst/>
          </a:prstGeom>
          <a:noFill/>
          <a:ln/>
        </p:spPr>
        <p:txBody>
          <a:bodyPr wrap="square" lIns="0" tIns="0" rIns="0" bIns="0" rtlCol="0" anchor="ctr"/>
          <a:lstStyle/>
          <a:p>
            <a:pPr indent="0" marL="0">
              <a:lnSpc>
                <a:spcPct val="115000"/>
              </a:lnSpc>
              <a:buNone/>
            </a:pPr>
            <a:r>
              <a:rPr lang="en-US" sz="1050" dirty="0">
                <a:solidFill>
                  <a:srgbClr val="5B6480"/>
                </a:solidFill>
                <a:latin typeface="Calibri" pitchFamily="34" charset="0"/>
                <a:ea typeface="Calibri" pitchFamily="34" charset="-122"/>
                <a:cs typeface="Calibri" pitchFamily="34" charset="-120"/>
              </a:rPr>
              <a:t>"Artificial" 78% • "AI" 12% • "The" 6% • other 4%</a:t>
            </a:r>
            <a:endParaRPr lang="en-US" sz="1050" dirty="0"/>
          </a:p>
        </p:txBody>
      </p:sp>
      <p:sp>
        <p:nvSpPr>
          <p:cNvPr id="16" name="Shape 14"/>
          <p:cNvSpPr/>
          <p:nvPr/>
        </p:nvSpPr>
        <p:spPr>
          <a:xfrm>
            <a:off x="502920" y="3108960"/>
            <a:ext cx="5440680" cy="1371600"/>
          </a:xfrm>
          <a:prstGeom prst="roundRect">
            <a:avLst>
              <a:gd name="adj" fmla="val 600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17" name="Shape 15"/>
          <p:cNvSpPr/>
          <p:nvPr/>
        </p:nvSpPr>
        <p:spPr>
          <a:xfrm>
            <a:off x="685800" y="3291840"/>
            <a:ext cx="502920" cy="502920"/>
          </a:xfrm>
          <a:prstGeom prst="ellipse">
            <a:avLst/>
          </a:prstGeom>
          <a:solidFill>
            <a:srgbClr val="6C3FC5"/>
          </a:solidFill>
          <a:ln/>
        </p:spPr>
      </p:sp>
      <p:sp>
        <p:nvSpPr>
          <p:cNvPr id="18" name="Text 16"/>
          <p:cNvSpPr/>
          <p:nvPr/>
        </p:nvSpPr>
        <p:spPr>
          <a:xfrm>
            <a:off x="685800" y="32918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19" name="Text 17"/>
          <p:cNvSpPr/>
          <p:nvPr/>
        </p:nvSpPr>
        <p:spPr>
          <a:xfrm>
            <a:off x="1325880" y="3273552"/>
            <a:ext cx="4434840" cy="237744"/>
          </a:xfrm>
          <a:prstGeom prst="rect">
            <a:avLst/>
          </a:prstGeom>
          <a:noFill/>
          <a:ln/>
        </p:spPr>
        <p:txBody>
          <a:bodyPr wrap="square" lIns="0" tIns="0" rIns="0" bIns="0" rtlCol="0" anchor="ctr"/>
          <a:lstStyle/>
          <a:p>
            <a:pPr indent="0" marL="0">
              <a:buNone/>
            </a:pPr>
            <a:r>
              <a:rPr lang="en-US" sz="900" b="1" spc="120" kern="0" dirty="0">
                <a:solidFill>
                  <a:srgbClr val="6C3FC5"/>
                </a:solidFill>
                <a:latin typeface="Calibri" pitchFamily="34" charset="0"/>
                <a:ea typeface="Calibri" pitchFamily="34" charset="-122"/>
                <a:cs typeface="Calibri" pitchFamily="34" charset="-120"/>
              </a:rPr>
              <a:t>STEP 9</a:t>
            </a:r>
            <a:endParaRPr lang="en-US" sz="900" dirty="0"/>
          </a:p>
        </p:txBody>
      </p:sp>
      <p:sp>
        <p:nvSpPr>
          <p:cNvPr id="20" name="Text 18"/>
          <p:cNvSpPr/>
          <p:nvPr/>
        </p:nvSpPr>
        <p:spPr>
          <a:xfrm>
            <a:off x="1325880" y="3493008"/>
            <a:ext cx="4434840" cy="320040"/>
          </a:xfrm>
          <a:prstGeom prst="rect">
            <a:avLst/>
          </a:prstGeom>
          <a:noFill/>
          <a:ln/>
        </p:spPr>
        <p:txBody>
          <a:bodyPr wrap="square" lIns="0" tIns="0" rIns="0" bIns="0" rtlCol="0" anchor="ctr"/>
          <a:lstStyle/>
          <a:p>
            <a:pPr indent="0" marL="0">
              <a:buNone/>
            </a:pPr>
            <a:r>
              <a:rPr lang="en-US" sz="1350" b="1" dirty="0">
                <a:solidFill>
                  <a:srgbClr val="121A3A"/>
                </a:solidFill>
                <a:latin typeface="Calibri" pitchFamily="34" charset="0"/>
                <a:ea typeface="Calibri" pitchFamily="34" charset="-122"/>
                <a:cs typeface="Calibri" pitchFamily="34" charset="-120"/>
              </a:rPr>
              <a:t>Next-Token Prediction</a:t>
            </a:r>
            <a:endParaRPr lang="en-US" sz="1350" dirty="0"/>
          </a:p>
        </p:txBody>
      </p:sp>
      <p:sp>
        <p:nvSpPr>
          <p:cNvPr id="21" name="Text 19"/>
          <p:cNvSpPr/>
          <p:nvPr/>
        </p:nvSpPr>
        <p:spPr>
          <a:xfrm>
            <a:off x="731520" y="3977640"/>
            <a:ext cx="4983480" cy="457200"/>
          </a:xfrm>
          <a:prstGeom prst="rect">
            <a:avLst/>
          </a:prstGeom>
          <a:noFill/>
          <a:ln/>
        </p:spPr>
        <p:txBody>
          <a:bodyPr wrap="square" lIns="0" tIns="0" rIns="0" bIns="0" rtlCol="0" anchor="ctr"/>
          <a:lstStyle/>
          <a:p>
            <a:pPr indent="0" marL="0">
              <a:lnSpc>
                <a:spcPct val="115000"/>
              </a:lnSpc>
              <a:buNone/>
            </a:pPr>
            <a:r>
              <a:rPr lang="en-US" sz="1050" dirty="0">
                <a:solidFill>
                  <a:srgbClr val="5B6480"/>
                </a:solidFill>
                <a:latin typeface="Calibri" pitchFamily="34" charset="0"/>
                <a:ea typeface="Calibri" pitchFamily="34" charset="-122"/>
                <a:cs typeface="Calibri" pitchFamily="34" charset="-120"/>
              </a:rPr>
              <a:t>Highest probability token selected → "Artificial"</a:t>
            </a:r>
            <a:endParaRPr lang="en-US" sz="1050" dirty="0"/>
          </a:p>
        </p:txBody>
      </p:sp>
      <p:sp>
        <p:nvSpPr>
          <p:cNvPr id="22" name="Shape 20"/>
          <p:cNvSpPr/>
          <p:nvPr/>
        </p:nvSpPr>
        <p:spPr>
          <a:xfrm>
            <a:off x="6217920" y="3108960"/>
            <a:ext cx="5440680" cy="1371600"/>
          </a:xfrm>
          <a:prstGeom prst="roundRect">
            <a:avLst>
              <a:gd name="adj" fmla="val 6000"/>
            </a:avLst>
          </a:prstGeom>
          <a:solidFill>
            <a:srgbClr val="FFFFFF"/>
          </a:solidFill>
          <a:ln w="12700">
            <a:solidFill>
              <a:srgbClr val="E1E5F5"/>
            </a:solidFill>
            <a:prstDash val="solid"/>
          </a:ln>
          <a:effectLst>
            <a:outerShdw sx="100000" sy="100000" kx="0" ky="0" algn="bl" rotWithShape="0" blurRad="50800" dist="25400" dir="5400000">
              <a:srgbClr val="0B1442">
                <a:alpha val="10000"/>
              </a:srgbClr>
            </a:outerShdw>
          </a:effectLst>
        </p:spPr>
      </p:sp>
      <p:sp>
        <p:nvSpPr>
          <p:cNvPr id="23" name="Shape 21"/>
          <p:cNvSpPr/>
          <p:nvPr/>
        </p:nvSpPr>
        <p:spPr>
          <a:xfrm>
            <a:off x="6400800" y="3291840"/>
            <a:ext cx="502920" cy="502920"/>
          </a:xfrm>
          <a:prstGeom prst="ellipse">
            <a:avLst/>
          </a:prstGeom>
          <a:solidFill>
            <a:srgbClr val="6C3FC5"/>
          </a:solidFill>
          <a:ln/>
        </p:spPr>
      </p:sp>
      <p:sp>
        <p:nvSpPr>
          <p:cNvPr id="24" name="Text 22"/>
          <p:cNvSpPr/>
          <p:nvPr/>
        </p:nvSpPr>
        <p:spPr>
          <a:xfrm>
            <a:off x="6400800" y="32918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25" name="Text 23"/>
          <p:cNvSpPr/>
          <p:nvPr/>
        </p:nvSpPr>
        <p:spPr>
          <a:xfrm>
            <a:off x="7040880" y="3273552"/>
            <a:ext cx="4434840" cy="237744"/>
          </a:xfrm>
          <a:prstGeom prst="rect">
            <a:avLst/>
          </a:prstGeom>
          <a:noFill/>
          <a:ln/>
        </p:spPr>
        <p:txBody>
          <a:bodyPr wrap="square" lIns="0" tIns="0" rIns="0" bIns="0" rtlCol="0" anchor="ctr"/>
          <a:lstStyle/>
          <a:p>
            <a:pPr indent="0" marL="0">
              <a:buNone/>
            </a:pPr>
            <a:r>
              <a:rPr lang="en-US" sz="900" b="1" spc="120" kern="0" dirty="0">
                <a:solidFill>
                  <a:srgbClr val="6C3FC5"/>
                </a:solidFill>
                <a:latin typeface="Calibri" pitchFamily="34" charset="0"/>
                <a:ea typeface="Calibri" pitchFamily="34" charset="-122"/>
                <a:cs typeface="Calibri" pitchFamily="34" charset="-120"/>
              </a:rPr>
              <a:t>STEP 10</a:t>
            </a:r>
            <a:endParaRPr lang="en-US" sz="900" dirty="0"/>
          </a:p>
        </p:txBody>
      </p:sp>
      <p:sp>
        <p:nvSpPr>
          <p:cNvPr id="26" name="Text 24"/>
          <p:cNvSpPr/>
          <p:nvPr/>
        </p:nvSpPr>
        <p:spPr>
          <a:xfrm>
            <a:off x="7040880" y="3493008"/>
            <a:ext cx="4434840" cy="320040"/>
          </a:xfrm>
          <a:prstGeom prst="rect">
            <a:avLst/>
          </a:prstGeom>
          <a:noFill/>
          <a:ln/>
        </p:spPr>
        <p:txBody>
          <a:bodyPr wrap="square" lIns="0" tIns="0" rIns="0" bIns="0" rtlCol="0" anchor="ctr"/>
          <a:lstStyle/>
          <a:p>
            <a:pPr indent="0" marL="0">
              <a:buNone/>
            </a:pPr>
            <a:r>
              <a:rPr lang="en-US" sz="1350" b="1" dirty="0">
                <a:solidFill>
                  <a:srgbClr val="121A3A"/>
                </a:solidFill>
                <a:latin typeface="Calibri" pitchFamily="34" charset="0"/>
                <a:ea typeface="Calibri" pitchFamily="34" charset="-122"/>
                <a:cs typeface="Calibri" pitchFamily="34" charset="-120"/>
              </a:rPr>
              <a:t>Generated Response</a:t>
            </a:r>
            <a:endParaRPr lang="en-US" sz="1350" dirty="0"/>
          </a:p>
        </p:txBody>
      </p:sp>
      <p:sp>
        <p:nvSpPr>
          <p:cNvPr id="27" name="Text 25"/>
          <p:cNvSpPr/>
          <p:nvPr/>
        </p:nvSpPr>
        <p:spPr>
          <a:xfrm>
            <a:off x="6446520" y="3977640"/>
            <a:ext cx="4983480" cy="457200"/>
          </a:xfrm>
          <a:prstGeom prst="rect">
            <a:avLst/>
          </a:prstGeom>
          <a:noFill/>
          <a:ln/>
        </p:spPr>
        <p:txBody>
          <a:bodyPr wrap="square" lIns="0" tIns="0" rIns="0" bIns="0" rtlCol="0" anchor="ctr"/>
          <a:lstStyle/>
          <a:p>
            <a:pPr indent="0" marL="0">
              <a:lnSpc>
                <a:spcPct val="115000"/>
              </a:lnSpc>
              <a:buNone/>
            </a:pPr>
            <a:r>
              <a:rPr lang="en-US" sz="1050" dirty="0">
                <a:solidFill>
                  <a:srgbClr val="5B6480"/>
                </a:solidFill>
                <a:latin typeface="Calibri" pitchFamily="34" charset="0"/>
                <a:ea typeface="Calibri" pitchFamily="34" charset="-122"/>
                <a:cs typeface="Calibri" pitchFamily="34" charset="-120"/>
              </a:rPr>
              <a:t>Loop repeats per token until the answer is complete</a:t>
            </a:r>
            <a:endParaRPr lang="en-US" sz="1050" dirty="0"/>
          </a:p>
        </p:txBody>
      </p:sp>
      <p:sp>
        <p:nvSpPr>
          <p:cNvPr id="28" name="Shape 26"/>
          <p:cNvSpPr/>
          <p:nvPr/>
        </p:nvSpPr>
        <p:spPr>
          <a:xfrm>
            <a:off x="502920" y="4754880"/>
            <a:ext cx="11155680" cy="1417320"/>
          </a:xfrm>
          <a:prstGeom prst="roundRect">
            <a:avLst>
              <a:gd name="adj" fmla="val 6452"/>
            </a:avLst>
          </a:prstGeom>
          <a:solidFill>
            <a:srgbClr val="0B1442"/>
          </a:solidFill>
          <a:ln/>
        </p:spPr>
      </p:sp>
      <p:sp>
        <p:nvSpPr>
          <p:cNvPr id="29" name="Text 27"/>
          <p:cNvSpPr/>
          <p:nvPr/>
        </p:nvSpPr>
        <p:spPr>
          <a:xfrm>
            <a:off x="777240" y="4892040"/>
            <a:ext cx="7315200" cy="256032"/>
          </a:xfrm>
          <a:prstGeom prst="rect">
            <a:avLst/>
          </a:prstGeom>
          <a:noFill/>
          <a:ln/>
        </p:spPr>
        <p:txBody>
          <a:bodyPr wrap="square" rtlCol="0" anchor="ctr"/>
          <a:lstStyle/>
          <a:p>
            <a:pPr indent="0" marL="0">
              <a:buNone/>
            </a:pPr>
            <a:r>
              <a:rPr lang="en-US" sz="1000" b="1" spc="150" kern="0" dirty="0">
                <a:solidFill>
                  <a:srgbClr val="4FD8EB"/>
                </a:solidFill>
                <a:latin typeface="Calibri" pitchFamily="34" charset="0"/>
                <a:ea typeface="Calibri" pitchFamily="34" charset="-122"/>
                <a:cs typeface="Calibri" pitchFamily="34" charset="-120"/>
              </a:rPr>
              <a:t>FINAL GENERATED RESPONSE (illustrative)</a:t>
            </a:r>
            <a:endParaRPr lang="en-US" sz="1000" dirty="0"/>
          </a:p>
        </p:txBody>
      </p:sp>
      <p:sp>
        <p:nvSpPr>
          <p:cNvPr id="30" name="Text 28"/>
          <p:cNvSpPr/>
          <p:nvPr/>
        </p:nvSpPr>
        <p:spPr>
          <a:xfrm>
            <a:off x="777240" y="5193792"/>
            <a:ext cx="10607040" cy="868680"/>
          </a:xfrm>
          <a:prstGeom prst="rect">
            <a:avLst/>
          </a:prstGeom>
          <a:noFill/>
          <a:ln/>
        </p:spPr>
        <p:txBody>
          <a:bodyPr wrap="square" lIns="0" tIns="0" rIns="0" bIns="0" rtlCol="0" anchor="ctr"/>
          <a:lstStyle/>
          <a:p>
            <a:pPr indent="0" marL="0">
              <a:lnSpc>
                <a:spcPct val="120000"/>
              </a:lnSpc>
              <a:buNone/>
            </a:pPr>
            <a:r>
              <a:rPr lang="en-US" sz="1250" i="1" dirty="0">
                <a:solidFill>
                  <a:srgbClr val="FFFFFF"/>
                </a:solidFill>
                <a:latin typeface="Calibri" pitchFamily="34" charset="0"/>
                <a:ea typeface="Calibri" pitchFamily="34" charset="-122"/>
                <a:cs typeface="Calibri" pitchFamily="34" charset="-120"/>
              </a:rPr>
              <a:t>"Artificial Intelligence (AI) is the field of computer science focused on building systems that can perform tasks requiring human-like intelligence, such as learning, reasoning, and decision-making."</a:t>
            </a:r>
            <a:endParaRPr lang="en-US" sz="1250" dirty="0"/>
          </a:p>
        </p:txBody>
      </p:sp>
      <p:sp>
        <p:nvSpPr>
          <p:cNvPr id="31" name="Text 29"/>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32" name="Text 30"/>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REAL-WORLD IMPACT</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Applications</a:t>
            </a:r>
            <a:endParaRPr lang="en-US" sz="3000" dirty="0"/>
          </a:p>
        </p:txBody>
      </p:sp>
      <p:sp>
        <p:nvSpPr>
          <p:cNvPr id="4" name="Shape 2"/>
          <p:cNvSpPr/>
          <p:nvPr/>
        </p:nvSpPr>
        <p:spPr>
          <a:xfrm>
            <a:off x="502920" y="1554480"/>
            <a:ext cx="2070202" cy="1783080"/>
          </a:xfrm>
          <a:prstGeom prst="roundRect">
            <a:avLst>
              <a:gd name="adj" fmla="val 4103"/>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5" name="Shape 3"/>
          <p:cNvSpPr/>
          <p:nvPr/>
        </p:nvSpPr>
        <p:spPr>
          <a:xfrm>
            <a:off x="667512" y="1700784"/>
            <a:ext cx="457200" cy="457200"/>
          </a:xfrm>
          <a:prstGeom prst="ellipse">
            <a:avLst/>
          </a:prstGeom>
          <a:solidFill>
            <a:srgbClr val="6C3FC5"/>
          </a:solidFill>
          <a:ln/>
        </p:spPr>
      </p:sp>
      <p:sp>
        <p:nvSpPr>
          <p:cNvPr id="6" name="Text 4"/>
          <p:cNvSpPr/>
          <p:nvPr/>
        </p:nvSpPr>
        <p:spPr>
          <a:xfrm>
            <a:off x="667512" y="170078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667512" y="2212848"/>
            <a:ext cx="1741018"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Education</a:t>
            </a:r>
            <a:endParaRPr lang="en-US" sz="1250" dirty="0"/>
          </a:p>
        </p:txBody>
      </p:sp>
      <p:sp>
        <p:nvSpPr>
          <p:cNvPr id="8" name="Text 6"/>
          <p:cNvSpPr/>
          <p:nvPr/>
        </p:nvSpPr>
        <p:spPr>
          <a:xfrm>
            <a:off x="667512" y="2505456"/>
            <a:ext cx="1741018" cy="74066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Tutoring, concept explanation, study aids</a:t>
            </a:r>
            <a:endParaRPr lang="en-US" sz="950" dirty="0"/>
          </a:p>
        </p:txBody>
      </p:sp>
      <p:sp>
        <p:nvSpPr>
          <p:cNvPr id="9" name="Shape 7"/>
          <p:cNvSpPr/>
          <p:nvPr/>
        </p:nvSpPr>
        <p:spPr>
          <a:xfrm>
            <a:off x="2774290" y="1554480"/>
            <a:ext cx="2070202" cy="1783080"/>
          </a:xfrm>
          <a:prstGeom prst="roundRect">
            <a:avLst>
              <a:gd name="adj" fmla="val 4103"/>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10" name="Shape 8"/>
          <p:cNvSpPr/>
          <p:nvPr/>
        </p:nvSpPr>
        <p:spPr>
          <a:xfrm>
            <a:off x="2938882" y="1700784"/>
            <a:ext cx="457200" cy="457200"/>
          </a:xfrm>
          <a:prstGeom prst="ellipse">
            <a:avLst/>
          </a:prstGeom>
          <a:solidFill>
            <a:srgbClr val="0E93A6"/>
          </a:solidFill>
          <a:ln/>
        </p:spPr>
      </p:sp>
      <p:sp>
        <p:nvSpPr>
          <p:cNvPr id="11" name="Text 9"/>
          <p:cNvSpPr/>
          <p:nvPr/>
        </p:nvSpPr>
        <p:spPr>
          <a:xfrm>
            <a:off x="2938882" y="170078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2938882" y="2212848"/>
            <a:ext cx="1741018"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Healthcare</a:t>
            </a:r>
            <a:endParaRPr lang="en-US" sz="1250" dirty="0"/>
          </a:p>
        </p:txBody>
      </p:sp>
      <p:sp>
        <p:nvSpPr>
          <p:cNvPr id="13" name="Text 11"/>
          <p:cNvSpPr/>
          <p:nvPr/>
        </p:nvSpPr>
        <p:spPr>
          <a:xfrm>
            <a:off x="2938882" y="2505456"/>
            <a:ext cx="1741018" cy="74066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Clinical note summarization, literature search</a:t>
            </a:r>
            <a:endParaRPr lang="en-US" sz="950" dirty="0"/>
          </a:p>
        </p:txBody>
      </p:sp>
      <p:sp>
        <p:nvSpPr>
          <p:cNvPr id="14" name="Shape 12"/>
          <p:cNvSpPr/>
          <p:nvPr/>
        </p:nvSpPr>
        <p:spPr>
          <a:xfrm>
            <a:off x="5045659" y="1554480"/>
            <a:ext cx="2070202" cy="1783080"/>
          </a:xfrm>
          <a:prstGeom prst="roundRect">
            <a:avLst>
              <a:gd name="adj" fmla="val 4103"/>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15" name="Shape 13"/>
          <p:cNvSpPr/>
          <p:nvPr/>
        </p:nvSpPr>
        <p:spPr>
          <a:xfrm>
            <a:off x="5210251" y="1700784"/>
            <a:ext cx="457200" cy="457200"/>
          </a:xfrm>
          <a:prstGeom prst="ellipse">
            <a:avLst/>
          </a:prstGeom>
          <a:solidFill>
            <a:srgbClr val="6C3FC5"/>
          </a:solidFill>
          <a:ln/>
        </p:spPr>
      </p:sp>
      <p:sp>
        <p:nvSpPr>
          <p:cNvPr id="16" name="Text 14"/>
          <p:cNvSpPr/>
          <p:nvPr/>
        </p:nvSpPr>
        <p:spPr>
          <a:xfrm>
            <a:off x="5210251" y="170078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5210251" y="2212848"/>
            <a:ext cx="1741018"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Finance</a:t>
            </a:r>
            <a:endParaRPr lang="en-US" sz="1250" dirty="0"/>
          </a:p>
        </p:txBody>
      </p:sp>
      <p:sp>
        <p:nvSpPr>
          <p:cNvPr id="18" name="Text 16"/>
          <p:cNvSpPr/>
          <p:nvPr/>
        </p:nvSpPr>
        <p:spPr>
          <a:xfrm>
            <a:off x="5210251" y="2505456"/>
            <a:ext cx="1741018" cy="74066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Report analysis, risk summarization</a:t>
            </a:r>
            <a:endParaRPr lang="en-US" sz="950" dirty="0"/>
          </a:p>
        </p:txBody>
      </p:sp>
      <p:sp>
        <p:nvSpPr>
          <p:cNvPr id="19" name="Shape 17"/>
          <p:cNvSpPr/>
          <p:nvPr/>
        </p:nvSpPr>
        <p:spPr>
          <a:xfrm>
            <a:off x="7317029" y="1554480"/>
            <a:ext cx="2070202" cy="1783080"/>
          </a:xfrm>
          <a:prstGeom prst="roundRect">
            <a:avLst>
              <a:gd name="adj" fmla="val 4103"/>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20" name="Shape 18"/>
          <p:cNvSpPr/>
          <p:nvPr/>
        </p:nvSpPr>
        <p:spPr>
          <a:xfrm>
            <a:off x="7481621" y="1700784"/>
            <a:ext cx="457200" cy="457200"/>
          </a:xfrm>
          <a:prstGeom prst="ellipse">
            <a:avLst/>
          </a:prstGeom>
          <a:solidFill>
            <a:srgbClr val="0E93A6"/>
          </a:solidFill>
          <a:ln/>
        </p:spPr>
      </p:sp>
      <p:sp>
        <p:nvSpPr>
          <p:cNvPr id="21" name="Text 19"/>
          <p:cNvSpPr/>
          <p:nvPr/>
        </p:nvSpPr>
        <p:spPr>
          <a:xfrm>
            <a:off x="7481621" y="170078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7481621" y="2212848"/>
            <a:ext cx="1741018"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Coding</a:t>
            </a:r>
            <a:endParaRPr lang="en-US" sz="1250" dirty="0"/>
          </a:p>
        </p:txBody>
      </p:sp>
      <p:sp>
        <p:nvSpPr>
          <p:cNvPr id="23" name="Text 21"/>
          <p:cNvSpPr/>
          <p:nvPr/>
        </p:nvSpPr>
        <p:spPr>
          <a:xfrm>
            <a:off x="7481621" y="2505456"/>
            <a:ext cx="1741018" cy="74066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Code generation, debugging, refactoring</a:t>
            </a:r>
            <a:endParaRPr lang="en-US" sz="950" dirty="0"/>
          </a:p>
        </p:txBody>
      </p:sp>
      <p:sp>
        <p:nvSpPr>
          <p:cNvPr id="24" name="Shape 22"/>
          <p:cNvSpPr/>
          <p:nvPr/>
        </p:nvSpPr>
        <p:spPr>
          <a:xfrm>
            <a:off x="9588398" y="1554480"/>
            <a:ext cx="2070202" cy="1783080"/>
          </a:xfrm>
          <a:prstGeom prst="roundRect">
            <a:avLst>
              <a:gd name="adj" fmla="val 4103"/>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25" name="Shape 23"/>
          <p:cNvSpPr/>
          <p:nvPr/>
        </p:nvSpPr>
        <p:spPr>
          <a:xfrm>
            <a:off x="9752990" y="1700784"/>
            <a:ext cx="457200" cy="457200"/>
          </a:xfrm>
          <a:prstGeom prst="ellipse">
            <a:avLst/>
          </a:prstGeom>
          <a:solidFill>
            <a:srgbClr val="6C3FC5"/>
          </a:solidFill>
          <a:ln/>
        </p:spPr>
      </p:sp>
      <p:sp>
        <p:nvSpPr>
          <p:cNvPr id="26" name="Text 24"/>
          <p:cNvSpPr/>
          <p:nvPr/>
        </p:nvSpPr>
        <p:spPr>
          <a:xfrm>
            <a:off x="9752990" y="170078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9752990" y="2212848"/>
            <a:ext cx="1741018"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Research</a:t>
            </a:r>
            <a:endParaRPr lang="en-US" sz="1250" dirty="0"/>
          </a:p>
        </p:txBody>
      </p:sp>
      <p:sp>
        <p:nvSpPr>
          <p:cNvPr id="28" name="Text 26"/>
          <p:cNvSpPr/>
          <p:nvPr/>
        </p:nvSpPr>
        <p:spPr>
          <a:xfrm>
            <a:off x="9752990" y="2505456"/>
            <a:ext cx="1741018" cy="74066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Literature review, hypothesis drafting</a:t>
            </a:r>
            <a:endParaRPr lang="en-US" sz="950" dirty="0"/>
          </a:p>
        </p:txBody>
      </p:sp>
      <p:sp>
        <p:nvSpPr>
          <p:cNvPr id="29" name="Shape 27"/>
          <p:cNvSpPr/>
          <p:nvPr/>
        </p:nvSpPr>
        <p:spPr>
          <a:xfrm>
            <a:off x="502920" y="3538728"/>
            <a:ext cx="2070202" cy="1783080"/>
          </a:xfrm>
          <a:prstGeom prst="roundRect">
            <a:avLst>
              <a:gd name="adj" fmla="val 4103"/>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30" name="Shape 28"/>
          <p:cNvSpPr/>
          <p:nvPr/>
        </p:nvSpPr>
        <p:spPr>
          <a:xfrm>
            <a:off x="667512" y="3685032"/>
            <a:ext cx="457200" cy="457200"/>
          </a:xfrm>
          <a:prstGeom prst="ellipse">
            <a:avLst/>
          </a:prstGeom>
          <a:solidFill>
            <a:srgbClr val="0E93A6"/>
          </a:solidFill>
          <a:ln/>
        </p:spPr>
      </p:sp>
      <p:sp>
        <p:nvSpPr>
          <p:cNvPr id="31" name="Text 29"/>
          <p:cNvSpPr/>
          <p:nvPr/>
        </p:nvSpPr>
        <p:spPr>
          <a:xfrm>
            <a:off x="667512" y="368503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2" name="Text 30"/>
          <p:cNvSpPr/>
          <p:nvPr/>
        </p:nvSpPr>
        <p:spPr>
          <a:xfrm>
            <a:off x="667512" y="4197096"/>
            <a:ext cx="1741018"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Customer Support</a:t>
            </a:r>
            <a:endParaRPr lang="en-US" sz="1250" dirty="0"/>
          </a:p>
        </p:txBody>
      </p:sp>
      <p:sp>
        <p:nvSpPr>
          <p:cNvPr id="33" name="Text 31"/>
          <p:cNvSpPr/>
          <p:nvPr/>
        </p:nvSpPr>
        <p:spPr>
          <a:xfrm>
            <a:off x="667512" y="4489704"/>
            <a:ext cx="1741018" cy="74066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Automated, context-aware responses</a:t>
            </a:r>
            <a:endParaRPr lang="en-US" sz="950" dirty="0"/>
          </a:p>
        </p:txBody>
      </p:sp>
      <p:sp>
        <p:nvSpPr>
          <p:cNvPr id="34" name="Shape 32"/>
          <p:cNvSpPr/>
          <p:nvPr/>
        </p:nvSpPr>
        <p:spPr>
          <a:xfrm>
            <a:off x="2774290" y="3538728"/>
            <a:ext cx="2070202" cy="1783080"/>
          </a:xfrm>
          <a:prstGeom prst="roundRect">
            <a:avLst>
              <a:gd name="adj" fmla="val 4103"/>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35" name="Shape 33"/>
          <p:cNvSpPr/>
          <p:nvPr/>
        </p:nvSpPr>
        <p:spPr>
          <a:xfrm>
            <a:off x="2938882" y="3685032"/>
            <a:ext cx="457200" cy="457200"/>
          </a:xfrm>
          <a:prstGeom prst="ellipse">
            <a:avLst/>
          </a:prstGeom>
          <a:solidFill>
            <a:srgbClr val="6C3FC5"/>
          </a:solidFill>
          <a:ln/>
        </p:spPr>
      </p:sp>
      <p:sp>
        <p:nvSpPr>
          <p:cNvPr id="36" name="Text 34"/>
          <p:cNvSpPr/>
          <p:nvPr/>
        </p:nvSpPr>
        <p:spPr>
          <a:xfrm>
            <a:off x="2938882" y="368503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7" name="Text 35"/>
          <p:cNvSpPr/>
          <p:nvPr/>
        </p:nvSpPr>
        <p:spPr>
          <a:xfrm>
            <a:off x="2938882" y="4197096"/>
            <a:ext cx="1741018"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Automation</a:t>
            </a:r>
            <a:endParaRPr lang="en-US" sz="1250" dirty="0"/>
          </a:p>
        </p:txBody>
      </p:sp>
      <p:sp>
        <p:nvSpPr>
          <p:cNvPr id="38" name="Text 36"/>
          <p:cNvSpPr/>
          <p:nvPr/>
        </p:nvSpPr>
        <p:spPr>
          <a:xfrm>
            <a:off x="2938882" y="4489704"/>
            <a:ext cx="1741018" cy="74066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Workflow &amp; document processing agents</a:t>
            </a:r>
            <a:endParaRPr lang="en-US" sz="950" dirty="0"/>
          </a:p>
        </p:txBody>
      </p:sp>
      <p:sp>
        <p:nvSpPr>
          <p:cNvPr id="39" name="Shape 37"/>
          <p:cNvSpPr/>
          <p:nvPr/>
        </p:nvSpPr>
        <p:spPr>
          <a:xfrm>
            <a:off x="5045659" y="3538728"/>
            <a:ext cx="2070202" cy="1783080"/>
          </a:xfrm>
          <a:prstGeom prst="roundRect">
            <a:avLst>
              <a:gd name="adj" fmla="val 4103"/>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40" name="Shape 38"/>
          <p:cNvSpPr/>
          <p:nvPr/>
        </p:nvSpPr>
        <p:spPr>
          <a:xfrm>
            <a:off x="5210251" y="3685032"/>
            <a:ext cx="457200" cy="457200"/>
          </a:xfrm>
          <a:prstGeom prst="ellipse">
            <a:avLst/>
          </a:prstGeom>
          <a:solidFill>
            <a:srgbClr val="0E93A6"/>
          </a:solidFill>
          <a:ln/>
        </p:spPr>
      </p:sp>
      <p:sp>
        <p:nvSpPr>
          <p:cNvPr id="41" name="Text 39"/>
          <p:cNvSpPr/>
          <p:nvPr/>
        </p:nvSpPr>
        <p:spPr>
          <a:xfrm>
            <a:off x="5210251" y="368503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2" name="Text 40"/>
          <p:cNvSpPr/>
          <p:nvPr/>
        </p:nvSpPr>
        <p:spPr>
          <a:xfrm>
            <a:off x="5210251" y="4197096"/>
            <a:ext cx="1741018"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Cybersecurity</a:t>
            </a:r>
            <a:endParaRPr lang="en-US" sz="1250" dirty="0"/>
          </a:p>
        </p:txBody>
      </p:sp>
      <p:sp>
        <p:nvSpPr>
          <p:cNvPr id="43" name="Text 41"/>
          <p:cNvSpPr/>
          <p:nvPr/>
        </p:nvSpPr>
        <p:spPr>
          <a:xfrm>
            <a:off x="5210251" y="4489704"/>
            <a:ext cx="1741018" cy="74066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Log analysis, threat-report summarization</a:t>
            </a:r>
            <a:endParaRPr lang="en-US" sz="950" dirty="0"/>
          </a:p>
        </p:txBody>
      </p:sp>
      <p:sp>
        <p:nvSpPr>
          <p:cNvPr id="44" name="Shape 42"/>
          <p:cNvSpPr/>
          <p:nvPr/>
        </p:nvSpPr>
        <p:spPr>
          <a:xfrm>
            <a:off x="7317029" y="3538728"/>
            <a:ext cx="2070202" cy="1783080"/>
          </a:xfrm>
          <a:prstGeom prst="roundRect">
            <a:avLst>
              <a:gd name="adj" fmla="val 4103"/>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45" name="Shape 43"/>
          <p:cNvSpPr/>
          <p:nvPr/>
        </p:nvSpPr>
        <p:spPr>
          <a:xfrm>
            <a:off x="7481621" y="3685032"/>
            <a:ext cx="457200" cy="457200"/>
          </a:xfrm>
          <a:prstGeom prst="ellipse">
            <a:avLst/>
          </a:prstGeom>
          <a:solidFill>
            <a:srgbClr val="6C3FC5"/>
          </a:solidFill>
          <a:ln/>
        </p:spPr>
      </p:sp>
      <p:sp>
        <p:nvSpPr>
          <p:cNvPr id="46" name="Text 44"/>
          <p:cNvSpPr/>
          <p:nvPr/>
        </p:nvSpPr>
        <p:spPr>
          <a:xfrm>
            <a:off x="7481621" y="368503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7" name="Text 45"/>
          <p:cNvSpPr/>
          <p:nvPr/>
        </p:nvSpPr>
        <p:spPr>
          <a:xfrm>
            <a:off x="7481621" y="4197096"/>
            <a:ext cx="1741018"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Content Generation</a:t>
            </a:r>
            <a:endParaRPr lang="en-US" sz="1250" dirty="0"/>
          </a:p>
        </p:txBody>
      </p:sp>
      <p:sp>
        <p:nvSpPr>
          <p:cNvPr id="48" name="Text 46"/>
          <p:cNvSpPr/>
          <p:nvPr/>
        </p:nvSpPr>
        <p:spPr>
          <a:xfrm>
            <a:off x="7481621" y="4489704"/>
            <a:ext cx="1741018" cy="74066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Drafting articles, marketing copy</a:t>
            </a:r>
            <a:endParaRPr lang="en-US" sz="950" dirty="0"/>
          </a:p>
        </p:txBody>
      </p:sp>
      <p:sp>
        <p:nvSpPr>
          <p:cNvPr id="49" name="Shape 47"/>
          <p:cNvSpPr/>
          <p:nvPr/>
        </p:nvSpPr>
        <p:spPr>
          <a:xfrm>
            <a:off x="9588398" y="3538728"/>
            <a:ext cx="2070202" cy="1783080"/>
          </a:xfrm>
          <a:prstGeom prst="roundRect">
            <a:avLst>
              <a:gd name="adj" fmla="val 4103"/>
            </a:avLst>
          </a:prstGeom>
          <a:solidFill>
            <a:srgbClr val="FFFFFF"/>
          </a:solidFill>
          <a:ln w="12700">
            <a:solidFill>
              <a:srgbClr val="E1E5F5"/>
            </a:solidFill>
            <a:prstDash val="solid"/>
          </a:ln>
          <a:effectLst>
            <a:outerShdw sx="100000" sy="100000" kx="0" ky="0" algn="bl" rotWithShape="0" blurRad="63500" dist="25400" dir="5400000">
              <a:srgbClr val="0B1442">
                <a:alpha val="12000"/>
              </a:srgbClr>
            </a:outerShdw>
          </a:effectLst>
        </p:spPr>
      </p:sp>
      <p:sp>
        <p:nvSpPr>
          <p:cNvPr id="50" name="Shape 48"/>
          <p:cNvSpPr/>
          <p:nvPr/>
        </p:nvSpPr>
        <p:spPr>
          <a:xfrm>
            <a:off x="9752990" y="3685032"/>
            <a:ext cx="457200" cy="457200"/>
          </a:xfrm>
          <a:prstGeom prst="ellipse">
            <a:avLst/>
          </a:prstGeom>
          <a:solidFill>
            <a:srgbClr val="0E93A6"/>
          </a:solidFill>
          <a:ln/>
        </p:spPr>
      </p:sp>
      <p:sp>
        <p:nvSpPr>
          <p:cNvPr id="51" name="Text 49"/>
          <p:cNvSpPr/>
          <p:nvPr/>
        </p:nvSpPr>
        <p:spPr>
          <a:xfrm>
            <a:off x="9752990" y="368503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52" name="Text 50"/>
          <p:cNvSpPr/>
          <p:nvPr/>
        </p:nvSpPr>
        <p:spPr>
          <a:xfrm>
            <a:off x="9752990" y="4197096"/>
            <a:ext cx="1741018" cy="310896"/>
          </a:xfrm>
          <a:prstGeom prst="rect">
            <a:avLst/>
          </a:prstGeom>
          <a:noFill/>
          <a:ln/>
        </p:spPr>
        <p:txBody>
          <a:bodyPr wrap="square" lIns="0" tIns="0" rIns="0" bIns="0" rtlCol="0" anchor="ctr"/>
          <a:lstStyle/>
          <a:p>
            <a:pPr indent="0" marL="0">
              <a:buNone/>
            </a:pPr>
            <a:r>
              <a:rPr lang="en-US" sz="1250" b="1" dirty="0">
                <a:solidFill>
                  <a:srgbClr val="121A3A"/>
                </a:solidFill>
                <a:latin typeface="Calibri" pitchFamily="34" charset="0"/>
                <a:ea typeface="Calibri" pitchFamily="34" charset="-122"/>
                <a:cs typeface="Calibri" pitchFamily="34" charset="-120"/>
              </a:rPr>
              <a:t>Robotics</a:t>
            </a:r>
            <a:endParaRPr lang="en-US" sz="1250" dirty="0"/>
          </a:p>
        </p:txBody>
      </p:sp>
      <p:sp>
        <p:nvSpPr>
          <p:cNvPr id="53" name="Text 51"/>
          <p:cNvSpPr/>
          <p:nvPr/>
        </p:nvSpPr>
        <p:spPr>
          <a:xfrm>
            <a:off x="9752990" y="4489704"/>
            <a:ext cx="1741018" cy="740664"/>
          </a:xfrm>
          <a:prstGeom prst="rect">
            <a:avLst/>
          </a:prstGeom>
          <a:noFill/>
          <a:ln/>
        </p:spPr>
        <p:txBody>
          <a:bodyPr wrap="square" lIns="0" tIns="0" rIns="0" bIns="0" rtlCol="0" anchor="t"/>
          <a:lstStyle/>
          <a:p>
            <a:pPr indent="0" marL="0">
              <a:buNone/>
            </a:pPr>
            <a:r>
              <a:rPr lang="en-US" sz="950" dirty="0">
                <a:solidFill>
                  <a:srgbClr val="5B6480"/>
                </a:solidFill>
                <a:latin typeface="Calibri" pitchFamily="34" charset="0"/>
                <a:ea typeface="Calibri" pitchFamily="34" charset="-122"/>
                <a:cs typeface="Calibri" pitchFamily="34" charset="-120"/>
              </a:rPr>
              <a:t>Language-guided planning &amp; control</a:t>
            </a:r>
            <a:endParaRPr lang="en-US" sz="950" dirty="0"/>
          </a:p>
        </p:txBody>
      </p:sp>
      <p:sp>
        <p:nvSpPr>
          <p:cNvPr id="54" name="Text 52"/>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55" name="Text 53"/>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Advantages &amp; Limitations</a:t>
            </a:r>
            <a:endParaRPr lang="en-US" sz="3000" dirty="0"/>
          </a:p>
        </p:txBody>
      </p:sp>
      <p:sp>
        <p:nvSpPr>
          <p:cNvPr id="4" name="Shape 2"/>
          <p:cNvSpPr/>
          <p:nvPr/>
        </p:nvSpPr>
        <p:spPr>
          <a:xfrm>
            <a:off x="502920" y="1508760"/>
            <a:ext cx="5486400" cy="4663440"/>
          </a:xfrm>
          <a:prstGeom prst="roundRect">
            <a:avLst>
              <a:gd name="adj" fmla="val 1961"/>
            </a:avLst>
          </a:prstGeom>
          <a:solidFill>
            <a:srgbClr val="EEFAF7"/>
          </a:solidFill>
          <a:ln w="12700">
            <a:solidFill>
              <a:srgbClr val="BFE8DA"/>
            </a:solidFill>
            <a:prstDash val="solid"/>
          </a:ln>
        </p:spPr>
      </p:sp>
      <p:sp>
        <p:nvSpPr>
          <p:cNvPr id="5" name="Shape 3"/>
          <p:cNvSpPr/>
          <p:nvPr/>
        </p:nvSpPr>
        <p:spPr>
          <a:xfrm>
            <a:off x="731520" y="1737360"/>
            <a:ext cx="457200" cy="457200"/>
          </a:xfrm>
          <a:prstGeom prst="ellipse">
            <a:avLst/>
          </a:prstGeom>
          <a:solidFill>
            <a:srgbClr val="2E9E5B"/>
          </a:solidFill>
          <a:ln/>
        </p:spPr>
      </p:sp>
      <p:sp>
        <p:nvSpPr>
          <p:cNvPr id="6" name="Text 4"/>
          <p:cNvSpPr/>
          <p:nvPr/>
        </p:nvSpPr>
        <p:spPr>
          <a:xfrm>
            <a:off x="731520" y="1737360"/>
            <a:ext cx="457200" cy="45720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7" name="Text 5"/>
          <p:cNvSpPr/>
          <p:nvPr/>
        </p:nvSpPr>
        <p:spPr>
          <a:xfrm>
            <a:off x="1325880" y="1783080"/>
            <a:ext cx="4480560" cy="365760"/>
          </a:xfrm>
          <a:prstGeom prst="rect">
            <a:avLst/>
          </a:prstGeom>
          <a:noFill/>
          <a:ln/>
        </p:spPr>
        <p:txBody>
          <a:bodyPr wrap="square" rtlCol="0" anchor="ctr"/>
          <a:lstStyle/>
          <a:p>
            <a:pPr indent="0" marL="0">
              <a:buNone/>
            </a:pPr>
            <a:r>
              <a:rPr lang="en-US" sz="1500" b="1" dirty="0">
                <a:solidFill>
                  <a:srgbClr val="2E9E5B"/>
                </a:solidFill>
                <a:latin typeface="Calibri" pitchFamily="34" charset="0"/>
                <a:ea typeface="Calibri" pitchFamily="34" charset="-122"/>
                <a:cs typeface="Calibri" pitchFamily="34" charset="-120"/>
              </a:rPr>
              <a:t>ADVANTAGES</a:t>
            </a:r>
            <a:endParaRPr lang="en-US" sz="1500" dirty="0"/>
          </a:p>
        </p:txBody>
      </p:sp>
      <p:sp>
        <p:nvSpPr>
          <p:cNvPr id="8" name="Text 6"/>
          <p:cNvSpPr/>
          <p:nvPr/>
        </p:nvSpPr>
        <p:spPr>
          <a:xfrm>
            <a:off x="822960" y="2377440"/>
            <a:ext cx="4846320" cy="365760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180" dirty="0">
                <a:solidFill>
                  <a:srgbClr val="121A3A"/>
                </a:solidFill>
                <a:latin typeface="Calibri" pitchFamily="34" charset="0"/>
                <a:ea typeface="Calibri" pitchFamily="34" charset="-122"/>
                <a:cs typeface="Calibri" pitchFamily="34" charset="-120"/>
              </a:rPr>
              <a:t>Sparse MoE activates ~37B of 671B parameters per token — large capacity, lower inference cost.</a:t>
            </a:r>
            <a:endParaRPr lang="en-US" sz="1180" dirty="0"/>
          </a:p>
          <a:p>
            <a:pPr marL="177800" indent="-177800">
              <a:lnSpc>
                <a:spcPct val="108000"/>
              </a:lnSpc>
              <a:spcAft>
                <a:spcPts val="1000"/>
              </a:spcAft>
              <a:buSzPct val="100000"/>
              <a:buChar char="●"/>
            </a:pPr>
            <a:r>
              <a:rPr lang="en-US" sz="1180" dirty="0">
                <a:solidFill>
                  <a:srgbClr val="121A3A"/>
                </a:solidFill>
                <a:latin typeface="Calibri" pitchFamily="34" charset="0"/>
                <a:ea typeface="Calibri" pitchFamily="34" charset="-122"/>
                <a:cs typeface="Calibri" pitchFamily="34" charset="-120"/>
              </a:rPr>
              <a:t>MLA compresses the KV-cache, enabling efficient long-context inference.</a:t>
            </a:r>
            <a:endParaRPr lang="en-US" sz="1180" dirty="0"/>
          </a:p>
          <a:p>
            <a:pPr marL="177800" indent="-177800">
              <a:lnSpc>
                <a:spcPct val="108000"/>
              </a:lnSpc>
              <a:spcAft>
                <a:spcPts val="1000"/>
              </a:spcAft>
              <a:buSzPct val="100000"/>
              <a:buChar char="●"/>
            </a:pPr>
            <a:r>
              <a:rPr lang="en-US" sz="1180" dirty="0">
                <a:solidFill>
                  <a:srgbClr val="121A3A"/>
                </a:solidFill>
                <a:latin typeface="Calibri" pitchFamily="34" charset="0"/>
                <a:ea typeface="Calibri" pitchFamily="34" charset="-122"/>
                <a:cs typeface="Calibri" pitchFamily="34" charset="-120"/>
              </a:rPr>
              <a:t>Open-weight releases give transparency, auditability, and self-hosting freedom.</a:t>
            </a:r>
            <a:endParaRPr lang="en-US" sz="1180" dirty="0"/>
          </a:p>
          <a:p>
            <a:pPr marL="177800" indent="-177800">
              <a:lnSpc>
                <a:spcPct val="108000"/>
              </a:lnSpc>
              <a:spcAft>
                <a:spcPts val="1000"/>
              </a:spcAft>
              <a:buSzPct val="100000"/>
              <a:buChar char="●"/>
            </a:pPr>
            <a:r>
              <a:rPr lang="en-US" sz="1180" dirty="0">
                <a:solidFill>
                  <a:srgbClr val="121A3A"/>
                </a:solidFill>
                <a:latin typeface="Calibri" pitchFamily="34" charset="0"/>
                <a:ea typeface="Calibri" pitchFamily="34" charset="-122"/>
                <a:cs typeface="Calibri" pitchFamily="34" charset="-120"/>
              </a:rPr>
              <a:t>R1's RL-based reasoning delivers strong step-by-step problem solving.</a:t>
            </a:r>
            <a:endParaRPr lang="en-US" sz="1180" dirty="0"/>
          </a:p>
          <a:p>
            <a:pPr marL="177800" indent="-177800">
              <a:lnSpc>
                <a:spcPct val="108000"/>
              </a:lnSpc>
              <a:spcAft>
                <a:spcPts val="1000"/>
              </a:spcAft>
              <a:buSzPct val="100000"/>
              <a:buChar char="●"/>
            </a:pPr>
            <a:r>
              <a:rPr lang="en-US" sz="1180" dirty="0">
                <a:solidFill>
                  <a:srgbClr val="121A3A"/>
                </a:solidFill>
                <a:latin typeface="Calibri" pitchFamily="34" charset="0"/>
                <a:ea typeface="Calibri" pitchFamily="34" charset="-122"/>
                <a:cs typeface="Calibri" pitchFamily="34" charset="-120"/>
              </a:rPr>
              <a:t>Competitive with leading closed models at a fraction of reported training cost.</a:t>
            </a:r>
            <a:endParaRPr lang="en-US" sz="1180" dirty="0"/>
          </a:p>
        </p:txBody>
      </p:sp>
      <p:sp>
        <p:nvSpPr>
          <p:cNvPr id="9" name="Shape 7"/>
          <p:cNvSpPr/>
          <p:nvPr/>
        </p:nvSpPr>
        <p:spPr>
          <a:xfrm>
            <a:off x="6263640" y="1508760"/>
            <a:ext cx="5486400" cy="4663440"/>
          </a:xfrm>
          <a:prstGeom prst="roundRect">
            <a:avLst>
              <a:gd name="adj" fmla="val 1961"/>
            </a:avLst>
          </a:prstGeom>
          <a:solidFill>
            <a:srgbClr val="FDF1F0"/>
          </a:solidFill>
          <a:ln w="12700">
            <a:solidFill>
              <a:srgbClr val="F3C9C4"/>
            </a:solidFill>
            <a:prstDash val="solid"/>
          </a:ln>
        </p:spPr>
      </p:sp>
      <p:sp>
        <p:nvSpPr>
          <p:cNvPr id="10" name="Shape 8"/>
          <p:cNvSpPr/>
          <p:nvPr/>
        </p:nvSpPr>
        <p:spPr>
          <a:xfrm>
            <a:off x="6492240" y="1737360"/>
            <a:ext cx="457200" cy="457200"/>
          </a:xfrm>
          <a:prstGeom prst="ellipse">
            <a:avLst/>
          </a:prstGeom>
          <a:solidFill>
            <a:srgbClr val="C0392B"/>
          </a:solidFill>
          <a:ln/>
        </p:spPr>
      </p:sp>
      <p:sp>
        <p:nvSpPr>
          <p:cNvPr id="11" name="Text 9"/>
          <p:cNvSpPr/>
          <p:nvPr/>
        </p:nvSpPr>
        <p:spPr>
          <a:xfrm>
            <a:off x="6492240" y="1737360"/>
            <a:ext cx="457200" cy="45720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2" name="Text 10"/>
          <p:cNvSpPr/>
          <p:nvPr/>
        </p:nvSpPr>
        <p:spPr>
          <a:xfrm>
            <a:off x="7086600" y="1783080"/>
            <a:ext cx="4480560" cy="365760"/>
          </a:xfrm>
          <a:prstGeom prst="rect">
            <a:avLst/>
          </a:prstGeom>
          <a:noFill/>
          <a:ln/>
        </p:spPr>
        <p:txBody>
          <a:bodyPr wrap="square"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LIMITATIONS</a:t>
            </a:r>
            <a:endParaRPr lang="en-US" sz="1500" dirty="0"/>
          </a:p>
        </p:txBody>
      </p:sp>
      <p:sp>
        <p:nvSpPr>
          <p:cNvPr id="13" name="Text 11"/>
          <p:cNvSpPr/>
          <p:nvPr/>
        </p:nvSpPr>
        <p:spPr>
          <a:xfrm>
            <a:off x="6583680" y="2377440"/>
            <a:ext cx="4846320" cy="365760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180" dirty="0">
                <a:solidFill>
                  <a:srgbClr val="121A3A"/>
                </a:solidFill>
                <a:latin typeface="Calibri" pitchFamily="34" charset="0"/>
                <a:ea typeface="Calibri" pitchFamily="34" charset="-122"/>
                <a:cs typeface="Calibri" pitchFamily="34" charset="-120"/>
              </a:rPr>
              <a:t>671B total parameters still require substantial GPU infrastructure to host, even if sparsely activated.</a:t>
            </a:r>
            <a:endParaRPr lang="en-US" sz="1180" dirty="0"/>
          </a:p>
          <a:p>
            <a:pPr marL="177800" indent="-177800">
              <a:lnSpc>
                <a:spcPct val="108000"/>
              </a:lnSpc>
              <a:spcAft>
                <a:spcPts val="1000"/>
              </a:spcAft>
              <a:buSzPct val="100000"/>
              <a:buChar char="●"/>
            </a:pPr>
            <a:r>
              <a:rPr lang="en-US" sz="1180" dirty="0">
                <a:solidFill>
                  <a:srgbClr val="121A3A"/>
                </a:solidFill>
                <a:latin typeface="Calibri" pitchFamily="34" charset="0"/>
                <a:ea typeface="Calibri" pitchFamily="34" charset="-122"/>
                <a:cs typeface="Calibri" pitchFamily="34" charset="-120"/>
              </a:rPr>
              <a:t>Sparse routing can cause uneven expert utilization if not carefully balanced.</a:t>
            </a:r>
            <a:endParaRPr lang="en-US" sz="1180" dirty="0"/>
          </a:p>
          <a:p>
            <a:pPr marL="177800" indent="-177800">
              <a:lnSpc>
                <a:spcPct val="108000"/>
              </a:lnSpc>
              <a:spcAft>
                <a:spcPts val="1000"/>
              </a:spcAft>
              <a:buSzPct val="100000"/>
              <a:buChar char="●"/>
            </a:pPr>
            <a:r>
              <a:rPr lang="en-US" sz="1180" dirty="0">
                <a:solidFill>
                  <a:srgbClr val="121A3A"/>
                </a:solidFill>
                <a:latin typeface="Calibri" pitchFamily="34" charset="0"/>
                <a:ea typeface="Calibri" pitchFamily="34" charset="-122"/>
                <a:cs typeface="Calibri" pitchFamily="34" charset="-120"/>
              </a:rPr>
              <a:t>Training-data composition and multilingual balance are not fully disclosed.</a:t>
            </a:r>
            <a:endParaRPr lang="en-US" sz="1180" dirty="0"/>
          </a:p>
          <a:p>
            <a:pPr marL="177800" indent="-177800">
              <a:lnSpc>
                <a:spcPct val="108000"/>
              </a:lnSpc>
              <a:spcAft>
                <a:spcPts val="1000"/>
              </a:spcAft>
              <a:buSzPct val="100000"/>
              <a:buChar char="●"/>
            </a:pPr>
            <a:r>
              <a:rPr lang="en-US" sz="1180" dirty="0">
                <a:solidFill>
                  <a:srgbClr val="121A3A"/>
                </a:solidFill>
                <a:latin typeface="Calibri" pitchFamily="34" charset="0"/>
                <a:ea typeface="Calibri" pitchFamily="34" charset="-122"/>
                <a:cs typeface="Calibri" pitchFamily="34" charset="-120"/>
              </a:rPr>
              <a:t>Long chain-of-thought reasoning (R1) increases response latency and token cost.</a:t>
            </a:r>
            <a:endParaRPr lang="en-US" sz="1180" dirty="0"/>
          </a:p>
          <a:p>
            <a:pPr marL="177800" indent="-177800">
              <a:lnSpc>
                <a:spcPct val="108000"/>
              </a:lnSpc>
              <a:spcAft>
                <a:spcPts val="1000"/>
              </a:spcAft>
              <a:buSzPct val="100000"/>
              <a:buChar char="●"/>
            </a:pPr>
            <a:r>
              <a:rPr lang="en-US" sz="1180" dirty="0">
                <a:solidFill>
                  <a:srgbClr val="121A3A"/>
                </a:solidFill>
                <a:latin typeface="Calibri" pitchFamily="34" charset="0"/>
                <a:ea typeface="Calibri" pitchFamily="34" charset="-122"/>
                <a:cs typeface="Calibri" pitchFamily="34" charset="-120"/>
              </a:rPr>
              <a:t>As with all LLMs, outputs can still be factually incorrect or biased.</a:t>
            </a:r>
            <a:endParaRPr lang="en-US" sz="1180" dirty="0"/>
          </a:p>
        </p:txBody>
      </p:sp>
      <p:sp>
        <p:nvSpPr>
          <p:cNvPr id="14" name="Text 12"/>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15" name="Text 13"/>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442"/>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4FD8EB"/>
                </a:solidFill>
                <a:latin typeface="Calibri" pitchFamily="34" charset="0"/>
                <a:ea typeface="Calibri" pitchFamily="34" charset="-122"/>
                <a:cs typeface="Calibri" pitchFamily="34" charset="-120"/>
              </a:rPr>
              <a:t>LOOKING AHEAD</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Future Scope</a:t>
            </a:r>
            <a:endParaRPr lang="en-US" sz="3000" dirty="0"/>
          </a:p>
        </p:txBody>
      </p:sp>
      <p:sp>
        <p:nvSpPr>
          <p:cNvPr id="4" name="Shape 2"/>
          <p:cNvSpPr/>
          <p:nvPr/>
        </p:nvSpPr>
        <p:spPr>
          <a:xfrm>
            <a:off x="502920" y="1600200"/>
            <a:ext cx="3535680" cy="1965960"/>
          </a:xfrm>
          <a:prstGeom prst="roundRect">
            <a:avLst>
              <a:gd name="adj" fmla="val 4651"/>
            </a:avLst>
          </a:prstGeom>
          <a:solidFill>
            <a:srgbClr val="16215C"/>
          </a:solidFill>
          <a:ln/>
        </p:spPr>
      </p:sp>
      <p:sp>
        <p:nvSpPr>
          <p:cNvPr id="5" name="Shape 3"/>
          <p:cNvSpPr/>
          <p:nvPr/>
        </p:nvSpPr>
        <p:spPr>
          <a:xfrm>
            <a:off x="704088" y="1801368"/>
            <a:ext cx="502920" cy="502920"/>
          </a:xfrm>
          <a:prstGeom prst="ellipse">
            <a:avLst/>
          </a:prstGeom>
          <a:solidFill>
            <a:srgbClr val="4FD8EB"/>
          </a:solidFill>
          <a:ln/>
        </p:spPr>
      </p:sp>
      <p:sp>
        <p:nvSpPr>
          <p:cNvPr id="6" name="Text 4"/>
          <p:cNvSpPr/>
          <p:nvPr/>
        </p:nvSpPr>
        <p:spPr>
          <a:xfrm>
            <a:off x="704088" y="1801368"/>
            <a:ext cx="502920" cy="502920"/>
          </a:xfrm>
          <a:prstGeom prst="rect">
            <a:avLst/>
          </a:prstGeom>
          <a:noFill/>
          <a:ln/>
        </p:spPr>
        <p:txBody>
          <a:bodyPr wrap="square" rtlCol="0" anchor="ctr"/>
          <a:lstStyle/>
          <a:p>
            <a:pPr algn="ctr" indent="0" marL="0">
              <a:buNone/>
            </a:pPr>
            <a:r>
              <a:rPr lang="en-US" sz="1800" b="1" dirty="0">
                <a:solidFill>
                  <a:srgbClr val="0B1442"/>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704088" y="2423160"/>
            <a:ext cx="313334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Longer Context</a:t>
            </a:r>
            <a:endParaRPr lang="en-US" sz="1300" dirty="0"/>
          </a:p>
        </p:txBody>
      </p:sp>
      <p:sp>
        <p:nvSpPr>
          <p:cNvPr id="8" name="Text 6"/>
          <p:cNvSpPr/>
          <p:nvPr/>
        </p:nvSpPr>
        <p:spPr>
          <a:xfrm>
            <a:off x="704088" y="2807208"/>
            <a:ext cx="3133344" cy="685800"/>
          </a:xfrm>
          <a:prstGeom prst="rect">
            <a:avLst/>
          </a:prstGeom>
          <a:noFill/>
          <a:ln/>
        </p:spPr>
        <p:txBody>
          <a:bodyPr wrap="square" lIns="0" tIns="0" rIns="0" bIns="0" rtlCol="0" anchor="ctr"/>
          <a:lstStyle/>
          <a:p>
            <a:pPr indent="0" marL="0">
              <a:lnSpc>
                <a:spcPct val="115000"/>
              </a:lnSpc>
              <a:buNone/>
            </a:pPr>
            <a:r>
              <a:rPr lang="en-US" sz="1000" dirty="0">
                <a:solidFill>
                  <a:srgbClr val="AEB8E8"/>
                </a:solidFill>
                <a:latin typeface="Calibri" pitchFamily="34" charset="0"/>
                <a:ea typeface="Calibri" pitchFamily="34" charset="-122"/>
                <a:cs typeface="Calibri" pitchFamily="34" charset="-120"/>
              </a:rPr>
              <a:t>More efficient long-context MLA / sparse-attention variants</a:t>
            </a:r>
            <a:endParaRPr lang="en-US" sz="1000" dirty="0"/>
          </a:p>
        </p:txBody>
      </p:sp>
      <p:sp>
        <p:nvSpPr>
          <p:cNvPr id="9" name="Shape 7"/>
          <p:cNvSpPr/>
          <p:nvPr/>
        </p:nvSpPr>
        <p:spPr>
          <a:xfrm>
            <a:off x="4312920" y="1600200"/>
            <a:ext cx="3535680" cy="1965960"/>
          </a:xfrm>
          <a:prstGeom prst="roundRect">
            <a:avLst>
              <a:gd name="adj" fmla="val 4651"/>
            </a:avLst>
          </a:prstGeom>
          <a:solidFill>
            <a:srgbClr val="16215C"/>
          </a:solidFill>
          <a:ln/>
        </p:spPr>
      </p:sp>
      <p:sp>
        <p:nvSpPr>
          <p:cNvPr id="10" name="Shape 8"/>
          <p:cNvSpPr/>
          <p:nvPr/>
        </p:nvSpPr>
        <p:spPr>
          <a:xfrm>
            <a:off x="4514088" y="1801368"/>
            <a:ext cx="502920" cy="502920"/>
          </a:xfrm>
          <a:prstGeom prst="ellipse">
            <a:avLst/>
          </a:prstGeom>
          <a:solidFill>
            <a:srgbClr val="4FD8EB"/>
          </a:solidFill>
          <a:ln/>
        </p:spPr>
      </p:sp>
      <p:sp>
        <p:nvSpPr>
          <p:cNvPr id="11" name="Text 9"/>
          <p:cNvSpPr/>
          <p:nvPr/>
        </p:nvSpPr>
        <p:spPr>
          <a:xfrm>
            <a:off x="4514088" y="1801368"/>
            <a:ext cx="502920" cy="502920"/>
          </a:xfrm>
          <a:prstGeom prst="rect">
            <a:avLst/>
          </a:prstGeom>
          <a:noFill/>
          <a:ln/>
        </p:spPr>
        <p:txBody>
          <a:bodyPr wrap="square" rtlCol="0" anchor="ctr"/>
          <a:lstStyle/>
          <a:p>
            <a:pPr algn="ctr" indent="0" marL="0">
              <a:buNone/>
            </a:pPr>
            <a:r>
              <a:rPr lang="en-US" sz="1800" b="1" dirty="0">
                <a:solidFill>
                  <a:srgbClr val="0B1442"/>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4514088" y="2423160"/>
            <a:ext cx="313334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Multimodality</a:t>
            </a:r>
            <a:endParaRPr lang="en-US" sz="1300" dirty="0"/>
          </a:p>
        </p:txBody>
      </p:sp>
      <p:sp>
        <p:nvSpPr>
          <p:cNvPr id="13" name="Text 11"/>
          <p:cNvSpPr/>
          <p:nvPr/>
        </p:nvSpPr>
        <p:spPr>
          <a:xfrm>
            <a:off x="4514088" y="2807208"/>
            <a:ext cx="3133344" cy="685800"/>
          </a:xfrm>
          <a:prstGeom prst="rect">
            <a:avLst/>
          </a:prstGeom>
          <a:noFill/>
          <a:ln/>
        </p:spPr>
        <p:txBody>
          <a:bodyPr wrap="square" lIns="0" tIns="0" rIns="0" bIns="0" rtlCol="0" anchor="ctr"/>
          <a:lstStyle/>
          <a:p>
            <a:pPr indent="0" marL="0">
              <a:lnSpc>
                <a:spcPct val="115000"/>
              </a:lnSpc>
              <a:buNone/>
            </a:pPr>
            <a:r>
              <a:rPr lang="en-US" sz="1000" dirty="0">
                <a:solidFill>
                  <a:srgbClr val="AEB8E8"/>
                </a:solidFill>
                <a:latin typeface="Calibri" pitchFamily="34" charset="0"/>
                <a:ea typeface="Calibri" pitchFamily="34" charset="-122"/>
                <a:cs typeface="Calibri" pitchFamily="34" charset="-120"/>
              </a:rPr>
              <a:t>Expanding beyond text into vision and audio understanding</a:t>
            </a:r>
            <a:endParaRPr lang="en-US" sz="1000" dirty="0"/>
          </a:p>
        </p:txBody>
      </p:sp>
      <p:sp>
        <p:nvSpPr>
          <p:cNvPr id="14" name="Shape 12"/>
          <p:cNvSpPr/>
          <p:nvPr/>
        </p:nvSpPr>
        <p:spPr>
          <a:xfrm>
            <a:off x="8122920" y="1600200"/>
            <a:ext cx="3535680" cy="1965960"/>
          </a:xfrm>
          <a:prstGeom prst="roundRect">
            <a:avLst>
              <a:gd name="adj" fmla="val 4651"/>
            </a:avLst>
          </a:prstGeom>
          <a:solidFill>
            <a:srgbClr val="16215C"/>
          </a:solidFill>
          <a:ln/>
        </p:spPr>
      </p:sp>
      <p:sp>
        <p:nvSpPr>
          <p:cNvPr id="15" name="Shape 13"/>
          <p:cNvSpPr/>
          <p:nvPr/>
        </p:nvSpPr>
        <p:spPr>
          <a:xfrm>
            <a:off x="8324088" y="1801368"/>
            <a:ext cx="502920" cy="502920"/>
          </a:xfrm>
          <a:prstGeom prst="ellipse">
            <a:avLst/>
          </a:prstGeom>
          <a:solidFill>
            <a:srgbClr val="4FD8EB"/>
          </a:solidFill>
          <a:ln/>
        </p:spPr>
      </p:sp>
      <p:sp>
        <p:nvSpPr>
          <p:cNvPr id="16" name="Text 14"/>
          <p:cNvSpPr/>
          <p:nvPr/>
        </p:nvSpPr>
        <p:spPr>
          <a:xfrm>
            <a:off x="8324088" y="1801368"/>
            <a:ext cx="502920" cy="502920"/>
          </a:xfrm>
          <a:prstGeom prst="rect">
            <a:avLst/>
          </a:prstGeom>
          <a:noFill/>
          <a:ln/>
        </p:spPr>
        <p:txBody>
          <a:bodyPr wrap="square" rtlCol="0" anchor="ctr"/>
          <a:lstStyle/>
          <a:p>
            <a:pPr algn="ctr" indent="0" marL="0">
              <a:buNone/>
            </a:pPr>
            <a:r>
              <a:rPr lang="en-US" sz="1800" b="1" dirty="0">
                <a:solidFill>
                  <a:srgbClr val="0B1442"/>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8324088" y="2423160"/>
            <a:ext cx="313334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Sparser Attention</a:t>
            </a:r>
            <a:endParaRPr lang="en-US" sz="1300" dirty="0"/>
          </a:p>
        </p:txBody>
      </p:sp>
      <p:sp>
        <p:nvSpPr>
          <p:cNvPr id="18" name="Text 16"/>
          <p:cNvSpPr/>
          <p:nvPr/>
        </p:nvSpPr>
        <p:spPr>
          <a:xfrm>
            <a:off x="8324088" y="2807208"/>
            <a:ext cx="3133344" cy="685800"/>
          </a:xfrm>
          <a:prstGeom prst="rect">
            <a:avLst/>
          </a:prstGeom>
          <a:noFill/>
          <a:ln/>
        </p:spPr>
        <p:txBody>
          <a:bodyPr wrap="square" lIns="0" tIns="0" rIns="0" bIns="0" rtlCol="0" anchor="ctr"/>
          <a:lstStyle/>
          <a:p>
            <a:pPr indent="0" marL="0">
              <a:lnSpc>
                <a:spcPct val="115000"/>
              </a:lnSpc>
              <a:buNone/>
            </a:pPr>
            <a:r>
              <a:rPr lang="en-US" sz="1000" dirty="0">
                <a:solidFill>
                  <a:srgbClr val="AEB8E8"/>
                </a:solidFill>
                <a:latin typeface="Calibri" pitchFamily="34" charset="0"/>
                <a:ea typeface="Calibri" pitchFamily="34" charset="-122"/>
                <a:cs typeface="Calibri" pitchFamily="34" charset="-120"/>
              </a:rPr>
              <a:t>Emerging DeepSeek Sparse Attention for faster long-sequence decoding</a:t>
            </a:r>
            <a:endParaRPr lang="en-US" sz="1000" dirty="0"/>
          </a:p>
        </p:txBody>
      </p:sp>
      <p:sp>
        <p:nvSpPr>
          <p:cNvPr id="19" name="Shape 17"/>
          <p:cNvSpPr/>
          <p:nvPr/>
        </p:nvSpPr>
        <p:spPr>
          <a:xfrm>
            <a:off x="502920" y="3840480"/>
            <a:ext cx="3535680" cy="1965960"/>
          </a:xfrm>
          <a:prstGeom prst="roundRect">
            <a:avLst>
              <a:gd name="adj" fmla="val 4651"/>
            </a:avLst>
          </a:prstGeom>
          <a:solidFill>
            <a:srgbClr val="16215C"/>
          </a:solidFill>
          <a:ln/>
        </p:spPr>
      </p:sp>
      <p:sp>
        <p:nvSpPr>
          <p:cNvPr id="20" name="Shape 18"/>
          <p:cNvSpPr/>
          <p:nvPr/>
        </p:nvSpPr>
        <p:spPr>
          <a:xfrm>
            <a:off x="704088" y="4041648"/>
            <a:ext cx="502920" cy="502920"/>
          </a:xfrm>
          <a:prstGeom prst="ellipse">
            <a:avLst/>
          </a:prstGeom>
          <a:solidFill>
            <a:srgbClr val="4FD8EB"/>
          </a:solidFill>
          <a:ln/>
        </p:spPr>
      </p:sp>
      <p:sp>
        <p:nvSpPr>
          <p:cNvPr id="21" name="Text 19"/>
          <p:cNvSpPr/>
          <p:nvPr/>
        </p:nvSpPr>
        <p:spPr>
          <a:xfrm>
            <a:off x="704088" y="4041648"/>
            <a:ext cx="502920" cy="502920"/>
          </a:xfrm>
          <a:prstGeom prst="rect">
            <a:avLst/>
          </a:prstGeom>
          <a:noFill/>
          <a:ln/>
        </p:spPr>
        <p:txBody>
          <a:bodyPr wrap="square" rtlCol="0" anchor="ctr"/>
          <a:lstStyle/>
          <a:p>
            <a:pPr algn="ctr" indent="0" marL="0">
              <a:buNone/>
            </a:pPr>
            <a:r>
              <a:rPr lang="en-US" sz="1800" b="1" dirty="0">
                <a:solidFill>
                  <a:srgbClr val="0B1442"/>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704088" y="4663440"/>
            <a:ext cx="313334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Better Reasoning</a:t>
            </a:r>
            <a:endParaRPr lang="en-US" sz="1300" dirty="0"/>
          </a:p>
        </p:txBody>
      </p:sp>
      <p:sp>
        <p:nvSpPr>
          <p:cNvPr id="23" name="Text 21"/>
          <p:cNvSpPr/>
          <p:nvPr/>
        </p:nvSpPr>
        <p:spPr>
          <a:xfrm>
            <a:off x="704088" y="5047488"/>
            <a:ext cx="3133344" cy="685800"/>
          </a:xfrm>
          <a:prstGeom prst="rect">
            <a:avLst/>
          </a:prstGeom>
          <a:noFill/>
          <a:ln/>
        </p:spPr>
        <p:txBody>
          <a:bodyPr wrap="square" lIns="0" tIns="0" rIns="0" bIns="0" rtlCol="0" anchor="ctr"/>
          <a:lstStyle/>
          <a:p>
            <a:pPr indent="0" marL="0">
              <a:lnSpc>
                <a:spcPct val="115000"/>
              </a:lnSpc>
              <a:buNone/>
            </a:pPr>
            <a:r>
              <a:rPr lang="en-US" sz="1000" dirty="0">
                <a:solidFill>
                  <a:srgbClr val="AEB8E8"/>
                </a:solidFill>
                <a:latin typeface="Calibri" pitchFamily="34" charset="0"/>
                <a:ea typeface="Calibri" pitchFamily="34" charset="-122"/>
                <a:cs typeface="Calibri" pitchFamily="34" charset="-120"/>
              </a:rPr>
              <a:t>Next-generation RL training beyond GRPO for deeper chain-of-thought</a:t>
            </a:r>
            <a:endParaRPr lang="en-US" sz="1000" dirty="0"/>
          </a:p>
        </p:txBody>
      </p:sp>
      <p:sp>
        <p:nvSpPr>
          <p:cNvPr id="24" name="Shape 22"/>
          <p:cNvSpPr/>
          <p:nvPr/>
        </p:nvSpPr>
        <p:spPr>
          <a:xfrm>
            <a:off x="4312920" y="3840480"/>
            <a:ext cx="3535680" cy="1965960"/>
          </a:xfrm>
          <a:prstGeom prst="roundRect">
            <a:avLst>
              <a:gd name="adj" fmla="val 4651"/>
            </a:avLst>
          </a:prstGeom>
          <a:solidFill>
            <a:srgbClr val="16215C"/>
          </a:solidFill>
          <a:ln/>
        </p:spPr>
      </p:sp>
      <p:sp>
        <p:nvSpPr>
          <p:cNvPr id="25" name="Shape 23"/>
          <p:cNvSpPr/>
          <p:nvPr/>
        </p:nvSpPr>
        <p:spPr>
          <a:xfrm>
            <a:off x="4514088" y="4041648"/>
            <a:ext cx="502920" cy="502920"/>
          </a:xfrm>
          <a:prstGeom prst="ellipse">
            <a:avLst/>
          </a:prstGeom>
          <a:solidFill>
            <a:srgbClr val="4FD8EB"/>
          </a:solidFill>
          <a:ln/>
        </p:spPr>
      </p:sp>
      <p:sp>
        <p:nvSpPr>
          <p:cNvPr id="26" name="Text 24"/>
          <p:cNvSpPr/>
          <p:nvPr/>
        </p:nvSpPr>
        <p:spPr>
          <a:xfrm>
            <a:off x="4514088" y="4041648"/>
            <a:ext cx="502920" cy="502920"/>
          </a:xfrm>
          <a:prstGeom prst="rect">
            <a:avLst/>
          </a:prstGeom>
          <a:noFill/>
          <a:ln/>
        </p:spPr>
        <p:txBody>
          <a:bodyPr wrap="square" rtlCol="0" anchor="ctr"/>
          <a:lstStyle/>
          <a:p>
            <a:pPr algn="ctr" indent="0" marL="0">
              <a:buNone/>
            </a:pPr>
            <a:r>
              <a:rPr lang="en-US" sz="1800" b="1" dirty="0">
                <a:solidFill>
                  <a:srgbClr val="0B1442"/>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4514088" y="4663440"/>
            <a:ext cx="313334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Edge Deployment</a:t>
            </a:r>
            <a:endParaRPr lang="en-US" sz="1300" dirty="0"/>
          </a:p>
        </p:txBody>
      </p:sp>
      <p:sp>
        <p:nvSpPr>
          <p:cNvPr id="28" name="Text 26"/>
          <p:cNvSpPr/>
          <p:nvPr/>
        </p:nvSpPr>
        <p:spPr>
          <a:xfrm>
            <a:off x="4514088" y="5047488"/>
            <a:ext cx="3133344" cy="685800"/>
          </a:xfrm>
          <a:prstGeom prst="rect">
            <a:avLst/>
          </a:prstGeom>
          <a:noFill/>
          <a:ln/>
        </p:spPr>
        <p:txBody>
          <a:bodyPr wrap="square" lIns="0" tIns="0" rIns="0" bIns="0" rtlCol="0" anchor="ctr"/>
          <a:lstStyle/>
          <a:p>
            <a:pPr indent="0" marL="0">
              <a:lnSpc>
                <a:spcPct val="115000"/>
              </a:lnSpc>
              <a:buNone/>
            </a:pPr>
            <a:r>
              <a:rPr lang="en-US" sz="1000" dirty="0">
                <a:solidFill>
                  <a:srgbClr val="AEB8E8"/>
                </a:solidFill>
                <a:latin typeface="Calibri" pitchFamily="34" charset="0"/>
                <a:ea typeface="Calibri" pitchFamily="34" charset="-122"/>
                <a:cs typeface="Calibri" pitchFamily="34" charset="-120"/>
              </a:rPr>
              <a:t>Distilled, on-device model variants for local inference</a:t>
            </a:r>
            <a:endParaRPr lang="en-US" sz="1000" dirty="0"/>
          </a:p>
        </p:txBody>
      </p:sp>
      <p:sp>
        <p:nvSpPr>
          <p:cNvPr id="29" name="Shape 27"/>
          <p:cNvSpPr/>
          <p:nvPr/>
        </p:nvSpPr>
        <p:spPr>
          <a:xfrm>
            <a:off x="8122920" y="3840480"/>
            <a:ext cx="3535680" cy="1965960"/>
          </a:xfrm>
          <a:prstGeom prst="roundRect">
            <a:avLst>
              <a:gd name="adj" fmla="val 4651"/>
            </a:avLst>
          </a:prstGeom>
          <a:solidFill>
            <a:srgbClr val="16215C"/>
          </a:solidFill>
          <a:ln/>
        </p:spPr>
      </p:sp>
      <p:sp>
        <p:nvSpPr>
          <p:cNvPr id="30" name="Shape 28"/>
          <p:cNvSpPr/>
          <p:nvPr/>
        </p:nvSpPr>
        <p:spPr>
          <a:xfrm>
            <a:off x="8324088" y="4041648"/>
            <a:ext cx="502920" cy="502920"/>
          </a:xfrm>
          <a:prstGeom prst="ellipse">
            <a:avLst/>
          </a:prstGeom>
          <a:solidFill>
            <a:srgbClr val="4FD8EB"/>
          </a:solidFill>
          <a:ln/>
        </p:spPr>
      </p:sp>
      <p:sp>
        <p:nvSpPr>
          <p:cNvPr id="31" name="Text 29"/>
          <p:cNvSpPr/>
          <p:nvPr/>
        </p:nvSpPr>
        <p:spPr>
          <a:xfrm>
            <a:off x="8324088" y="4041648"/>
            <a:ext cx="502920" cy="502920"/>
          </a:xfrm>
          <a:prstGeom prst="rect">
            <a:avLst/>
          </a:prstGeom>
          <a:noFill/>
          <a:ln/>
        </p:spPr>
        <p:txBody>
          <a:bodyPr wrap="square" rtlCol="0" anchor="ctr"/>
          <a:lstStyle/>
          <a:p>
            <a:pPr algn="ctr" indent="0" marL="0">
              <a:buNone/>
            </a:pPr>
            <a:r>
              <a:rPr lang="en-US" sz="1800" b="1" dirty="0">
                <a:solidFill>
                  <a:srgbClr val="0B1442"/>
                </a:solidFill>
                <a:latin typeface="Calibri" pitchFamily="34" charset="0"/>
                <a:ea typeface="Calibri" pitchFamily="34" charset="-122"/>
                <a:cs typeface="Calibri" pitchFamily="34" charset="-120"/>
              </a:rPr>
              <a:t>🌐</a:t>
            </a:r>
            <a:endParaRPr lang="en-US" sz="1800" dirty="0"/>
          </a:p>
        </p:txBody>
      </p:sp>
      <p:sp>
        <p:nvSpPr>
          <p:cNvPr id="32" name="Text 30"/>
          <p:cNvSpPr/>
          <p:nvPr/>
        </p:nvSpPr>
        <p:spPr>
          <a:xfrm>
            <a:off x="8324088" y="4663440"/>
            <a:ext cx="313334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Agentic Tool-Use</a:t>
            </a:r>
            <a:endParaRPr lang="en-US" sz="1300" dirty="0"/>
          </a:p>
        </p:txBody>
      </p:sp>
      <p:sp>
        <p:nvSpPr>
          <p:cNvPr id="33" name="Text 31"/>
          <p:cNvSpPr/>
          <p:nvPr/>
        </p:nvSpPr>
        <p:spPr>
          <a:xfrm>
            <a:off x="8324088" y="5047488"/>
            <a:ext cx="3133344" cy="685800"/>
          </a:xfrm>
          <a:prstGeom prst="rect">
            <a:avLst/>
          </a:prstGeom>
          <a:noFill/>
          <a:ln/>
        </p:spPr>
        <p:txBody>
          <a:bodyPr wrap="square" lIns="0" tIns="0" rIns="0" bIns="0" rtlCol="0" anchor="ctr"/>
          <a:lstStyle/>
          <a:p>
            <a:pPr indent="0" marL="0">
              <a:lnSpc>
                <a:spcPct val="115000"/>
              </a:lnSpc>
              <a:buNone/>
            </a:pPr>
            <a:r>
              <a:rPr lang="en-US" sz="1000" dirty="0">
                <a:solidFill>
                  <a:srgbClr val="AEB8E8"/>
                </a:solidFill>
                <a:latin typeface="Calibri" pitchFamily="34" charset="0"/>
                <a:ea typeface="Calibri" pitchFamily="34" charset="-122"/>
                <a:cs typeface="Calibri" pitchFamily="34" charset="-120"/>
              </a:rPr>
              <a:t>Stronger multilingual ability and autonomous tool-calling agents</a:t>
            </a:r>
            <a:endParaRPr lang="en-US" sz="1000" dirty="0"/>
          </a:p>
        </p:txBody>
      </p:sp>
      <p:sp>
        <p:nvSpPr>
          <p:cNvPr id="34" name="Text 32"/>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8891C4"/>
                </a:solidFill>
                <a:latin typeface="Calibri" pitchFamily="34" charset="0"/>
                <a:ea typeface="Calibri" pitchFamily="34" charset="-122"/>
                <a:cs typeface="Calibri" pitchFamily="34" charset="-120"/>
              </a:rPr>
              <a:t>DEEPSEEK AI MODEL  |  AI ENGINEERING SEMINAR</a:t>
            </a:r>
            <a:endParaRPr lang="en-US" sz="900" dirty="0"/>
          </a:p>
        </p:txBody>
      </p:sp>
      <p:sp>
        <p:nvSpPr>
          <p:cNvPr id="35" name="Text 33"/>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8891C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442"/>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4FD8EB"/>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Text 2"/>
          <p:cNvSpPr/>
          <p:nvPr/>
        </p:nvSpPr>
        <p:spPr>
          <a:xfrm>
            <a:off x="502920" y="1691640"/>
            <a:ext cx="6949440" cy="4206240"/>
          </a:xfrm>
          <a:prstGeom prst="rect">
            <a:avLst/>
          </a:prstGeom>
          <a:noFill/>
          <a:ln/>
        </p:spPr>
        <p:txBody>
          <a:bodyPr wrap="square" lIns="0" tIns="0" rIns="0" bIns="0" rtlCol="0" anchor="t"/>
          <a:lstStyle/>
          <a:p>
            <a:pPr marL="177800" indent="-177800">
              <a:lnSpc>
                <a:spcPct val="108000"/>
              </a:lnSpc>
              <a:spcAft>
                <a:spcPts val="1400"/>
              </a:spcAft>
              <a:buSzPct val="100000"/>
              <a:buChar char="●"/>
            </a:pPr>
            <a:r>
              <a:rPr lang="en-US" sz="1400" dirty="0">
                <a:solidFill>
                  <a:srgbClr val="D8DCF4"/>
                </a:solidFill>
                <a:latin typeface="Calibri" pitchFamily="34" charset="0"/>
                <a:ea typeface="Calibri" pitchFamily="34" charset="-122"/>
                <a:cs typeface="Calibri" pitchFamily="34" charset="-120"/>
              </a:rPr>
              <a:t>DeepSeek demonstrates modern efficient LLM engineering: a sparse Mixture-of-Experts Transformer paired with compressed Multi-head Latent Attention.</a:t>
            </a:r>
            <a:endParaRPr lang="en-US" sz="1400" dirty="0"/>
          </a:p>
          <a:p>
            <a:pPr marL="177800" indent="-177800">
              <a:lnSpc>
                <a:spcPct val="108000"/>
              </a:lnSpc>
              <a:spcAft>
                <a:spcPts val="1400"/>
              </a:spcAft>
              <a:buSzPct val="100000"/>
              <a:buChar char="●"/>
            </a:pPr>
            <a:r>
              <a:rPr lang="en-US" sz="1400" dirty="0">
                <a:solidFill>
                  <a:srgbClr val="D8DCF4"/>
                </a:solidFill>
                <a:latin typeface="Calibri" pitchFamily="34" charset="0"/>
                <a:ea typeface="Calibri" pitchFamily="34" charset="-122"/>
                <a:cs typeface="Calibri" pitchFamily="34" charset="-120"/>
              </a:rPr>
              <a:t>It achieves frontier-level performance while activating only a fraction of its total parameters per token — a direct answer to the cost problem facing large-scale AI.</a:t>
            </a:r>
            <a:endParaRPr lang="en-US" sz="1400" dirty="0"/>
          </a:p>
          <a:p>
            <a:pPr marL="177800" indent="-177800">
              <a:lnSpc>
                <a:spcPct val="108000"/>
              </a:lnSpc>
              <a:spcAft>
                <a:spcPts val="1400"/>
              </a:spcAft>
              <a:buSzPct val="100000"/>
              <a:buChar char="●"/>
            </a:pPr>
            <a:r>
              <a:rPr lang="en-US" sz="1400" dirty="0">
                <a:solidFill>
                  <a:srgbClr val="D8DCF4"/>
                </a:solidFill>
                <a:latin typeface="Calibri" pitchFamily="34" charset="0"/>
                <a:ea typeface="Calibri" pitchFamily="34" charset="-122"/>
                <a:cs typeface="Calibri" pitchFamily="34" charset="-120"/>
              </a:rPr>
              <a:t>Studying its frontend-to-backend pipeline, and every algorithm from tokenization to next-token prediction, illustrates practical AI engineering principles used across the LLM industry.</a:t>
            </a:r>
            <a:endParaRPr lang="en-US" sz="1400" dirty="0"/>
          </a:p>
          <a:p>
            <a:pPr marL="177800" indent="-177800">
              <a:lnSpc>
                <a:spcPct val="108000"/>
              </a:lnSpc>
              <a:spcAft>
                <a:spcPts val="1400"/>
              </a:spcAft>
              <a:buSzPct val="100000"/>
              <a:buChar char="●"/>
            </a:pPr>
            <a:r>
              <a:rPr lang="en-US" sz="1400" dirty="0">
                <a:solidFill>
                  <a:srgbClr val="D8DCF4"/>
                </a:solidFill>
                <a:latin typeface="Calibri" pitchFamily="34" charset="0"/>
                <a:ea typeface="Calibri" pitchFamily="34" charset="-122"/>
                <a:cs typeface="Calibri" pitchFamily="34" charset="-120"/>
              </a:rPr>
              <a:t>The R1 reasoning line further shows that reinforcement learning can meaningfully improve step-by-step problem solving beyond pre-training alone.</a:t>
            </a:r>
            <a:endParaRPr lang="en-US" sz="1400" dirty="0"/>
          </a:p>
        </p:txBody>
      </p:sp>
      <p:sp>
        <p:nvSpPr>
          <p:cNvPr id="5" name="Shape 3"/>
          <p:cNvSpPr/>
          <p:nvPr/>
        </p:nvSpPr>
        <p:spPr>
          <a:xfrm>
            <a:off x="8229600" y="1691640"/>
            <a:ext cx="3429000" cy="4206240"/>
          </a:xfrm>
          <a:prstGeom prst="roundRect">
            <a:avLst>
              <a:gd name="adj" fmla="val 2667"/>
            </a:avLst>
          </a:prstGeom>
          <a:solidFill>
            <a:srgbClr val="16215C"/>
          </a:solidFill>
          <a:ln/>
        </p:spPr>
      </p:sp>
      <p:sp>
        <p:nvSpPr>
          <p:cNvPr id="6" name="Text 4"/>
          <p:cNvSpPr/>
          <p:nvPr/>
        </p:nvSpPr>
        <p:spPr>
          <a:xfrm>
            <a:off x="8458200" y="1920240"/>
            <a:ext cx="2971800" cy="274320"/>
          </a:xfrm>
          <a:prstGeom prst="rect">
            <a:avLst/>
          </a:prstGeom>
          <a:noFill/>
          <a:ln/>
        </p:spPr>
        <p:txBody>
          <a:bodyPr wrap="square" rtlCol="0" anchor="ctr"/>
          <a:lstStyle/>
          <a:p>
            <a:pPr indent="0" marL="0">
              <a:buNone/>
            </a:pPr>
            <a:r>
              <a:rPr lang="en-US" sz="1100" b="1" spc="150" kern="0" dirty="0">
                <a:solidFill>
                  <a:srgbClr val="4FD8EB"/>
                </a:solidFill>
                <a:latin typeface="Calibri" pitchFamily="34" charset="0"/>
                <a:ea typeface="Calibri" pitchFamily="34" charset="-122"/>
                <a:cs typeface="Calibri" pitchFamily="34" charset="-120"/>
              </a:rPr>
              <a:t>KEY TAKEAWAYS</a:t>
            </a:r>
            <a:endParaRPr lang="en-US" sz="1100" dirty="0"/>
          </a:p>
        </p:txBody>
      </p:sp>
      <p:sp>
        <p:nvSpPr>
          <p:cNvPr id="7" name="Text 5"/>
          <p:cNvSpPr/>
          <p:nvPr/>
        </p:nvSpPr>
        <p:spPr>
          <a:xfrm>
            <a:off x="8458200" y="2331720"/>
            <a:ext cx="2971800" cy="502920"/>
          </a:xfrm>
          <a:prstGeom prst="rect">
            <a:avLst/>
          </a:prstGeom>
          <a:noFill/>
          <a:ln/>
        </p:spPr>
        <p:txBody>
          <a:bodyPr wrap="square" lIns="0" tIns="0" rIns="0" bIns="0" rtlCol="0" anchor="ctr"/>
          <a:lstStyle/>
          <a:p>
            <a:pPr indent="0" marL="0">
              <a:buNone/>
            </a:pPr>
            <a:r>
              <a:rPr lang="en-US" sz="1150" dirty="0">
                <a:solidFill>
                  <a:srgbClr val="D8DCF4"/>
                </a:solidFill>
                <a:latin typeface="Calibri" pitchFamily="34" charset="0"/>
                <a:ea typeface="Calibri" pitchFamily="34" charset="-122"/>
                <a:cs typeface="Calibri" pitchFamily="34" charset="-120"/>
              </a:rPr>
              <a:t>•  MoE = capacity without full cost</a:t>
            </a:r>
            <a:endParaRPr lang="en-US" sz="1150" dirty="0"/>
          </a:p>
        </p:txBody>
      </p:sp>
      <p:sp>
        <p:nvSpPr>
          <p:cNvPr id="8" name="Text 6"/>
          <p:cNvSpPr/>
          <p:nvPr/>
        </p:nvSpPr>
        <p:spPr>
          <a:xfrm>
            <a:off x="8458200" y="2898648"/>
            <a:ext cx="2971800" cy="502920"/>
          </a:xfrm>
          <a:prstGeom prst="rect">
            <a:avLst/>
          </a:prstGeom>
          <a:noFill/>
          <a:ln/>
        </p:spPr>
        <p:txBody>
          <a:bodyPr wrap="square" lIns="0" tIns="0" rIns="0" bIns="0" rtlCol="0" anchor="ctr"/>
          <a:lstStyle/>
          <a:p>
            <a:pPr indent="0" marL="0">
              <a:buNone/>
            </a:pPr>
            <a:r>
              <a:rPr lang="en-US" sz="1150" dirty="0">
                <a:solidFill>
                  <a:srgbClr val="D8DCF4"/>
                </a:solidFill>
                <a:latin typeface="Calibri" pitchFamily="34" charset="0"/>
                <a:ea typeface="Calibri" pitchFamily="34" charset="-122"/>
                <a:cs typeface="Calibri" pitchFamily="34" charset="-120"/>
              </a:rPr>
              <a:t>•  MLA = compact KV-cache</a:t>
            </a:r>
            <a:endParaRPr lang="en-US" sz="1150" dirty="0"/>
          </a:p>
        </p:txBody>
      </p:sp>
      <p:sp>
        <p:nvSpPr>
          <p:cNvPr id="9" name="Text 7"/>
          <p:cNvSpPr/>
          <p:nvPr/>
        </p:nvSpPr>
        <p:spPr>
          <a:xfrm>
            <a:off x="8458200" y="3465576"/>
            <a:ext cx="2971800" cy="502920"/>
          </a:xfrm>
          <a:prstGeom prst="rect">
            <a:avLst/>
          </a:prstGeom>
          <a:noFill/>
          <a:ln/>
        </p:spPr>
        <p:txBody>
          <a:bodyPr wrap="square" lIns="0" tIns="0" rIns="0" bIns="0" rtlCol="0" anchor="ctr"/>
          <a:lstStyle/>
          <a:p>
            <a:pPr indent="0" marL="0">
              <a:buNone/>
            </a:pPr>
            <a:r>
              <a:rPr lang="en-US" sz="1150" dirty="0">
                <a:solidFill>
                  <a:srgbClr val="D8DCF4"/>
                </a:solidFill>
                <a:latin typeface="Calibri" pitchFamily="34" charset="0"/>
                <a:ea typeface="Calibri" pitchFamily="34" charset="-122"/>
                <a:cs typeface="Calibri" pitchFamily="34" charset="-120"/>
              </a:rPr>
              <a:t>•  RoPE = order-awareness</a:t>
            </a:r>
            <a:endParaRPr lang="en-US" sz="1150" dirty="0"/>
          </a:p>
        </p:txBody>
      </p:sp>
      <p:sp>
        <p:nvSpPr>
          <p:cNvPr id="10" name="Text 8"/>
          <p:cNvSpPr/>
          <p:nvPr/>
        </p:nvSpPr>
        <p:spPr>
          <a:xfrm>
            <a:off x="8458200" y="4032504"/>
            <a:ext cx="2971800" cy="502920"/>
          </a:xfrm>
          <a:prstGeom prst="rect">
            <a:avLst/>
          </a:prstGeom>
          <a:noFill/>
          <a:ln/>
        </p:spPr>
        <p:txBody>
          <a:bodyPr wrap="square" lIns="0" tIns="0" rIns="0" bIns="0" rtlCol="0" anchor="ctr"/>
          <a:lstStyle/>
          <a:p>
            <a:pPr indent="0" marL="0">
              <a:buNone/>
            </a:pPr>
            <a:r>
              <a:rPr lang="en-US" sz="1150" dirty="0">
                <a:solidFill>
                  <a:srgbClr val="D8DCF4"/>
                </a:solidFill>
                <a:latin typeface="Calibri" pitchFamily="34" charset="0"/>
                <a:ea typeface="Calibri" pitchFamily="34" charset="-122"/>
                <a:cs typeface="Calibri" pitchFamily="34" charset="-120"/>
              </a:rPr>
              <a:t>•  Softmax = final decision</a:t>
            </a:r>
            <a:endParaRPr lang="en-US" sz="1150" dirty="0"/>
          </a:p>
        </p:txBody>
      </p:sp>
      <p:sp>
        <p:nvSpPr>
          <p:cNvPr id="11" name="Text 9"/>
          <p:cNvSpPr/>
          <p:nvPr/>
        </p:nvSpPr>
        <p:spPr>
          <a:xfrm>
            <a:off x="8458200" y="4599432"/>
            <a:ext cx="2971800" cy="502920"/>
          </a:xfrm>
          <a:prstGeom prst="rect">
            <a:avLst/>
          </a:prstGeom>
          <a:noFill/>
          <a:ln/>
        </p:spPr>
        <p:txBody>
          <a:bodyPr wrap="square" lIns="0" tIns="0" rIns="0" bIns="0" rtlCol="0" anchor="ctr"/>
          <a:lstStyle/>
          <a:p>
            <a:pPr indent="0" marL="0">
              <a:buNone/>
            </a:pPr>
            <a:r>
              <a:rPr lang="en-US" sz="1150" dirty="0">
                <a:solidFill>
                  <a:srgbClr val="D8DCF4"/>
                </a:solidFill>
                <a:latin typeface="Calibri" pitchFamily="34" charset="0"/>
                <a:ea typeface="Calibri" pitchFamily="34" charset="-122"/>
                <a:cs typeface="Calibri" pitchFamily="34" charset="-120"/>
              </a:rPr>
              <a:t>•  RL (R1) = better reasoning</a:t>
            </a:r>
            <a:endParaRPr lang="en-US" sz="1150" dirty="0"/>
          </a:p>
        </p:txBody>
      </p:sp>
      <p:sp>
        <p:nvSpPr>
          <p:cNvPr id="12" name="Text 10"/>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8891C4"/>
                </a:solidFill>
                <a:latin typeface="Calibri" pitchFamily="34" charset="0"/>
                <a:ea typeface="Calibri" pitchFamily="34" charset="-122"/>
                <a:cs typeface="Calibri" pitchFamily="34" charset="-120"/>
              </a:rPr>
              <a:t>DEEPSEEK AI MODEL  |  AI ENGINEERING SEMINAR</a:t>
            </a:r>
            <a:endParaRPr lang="en-US" sz="900" dirty="0"/>
          </a:p>
        </p:txBody>
      </p:sp>
      <p:sp>
        <p:nvSpPr>
          <p:cNvPr id="13" name="Text 11"/>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8891C4"/>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D"/>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0E93A6"/>
                </a:solidFill>
                <a:latin typeface="Calibri" pitchFamily="34" charset="0"/>
                <a:ea typeface="Calibri" pitchFamily="34" charset="-122"/>
                <a:cs typeface="Calibri" pitchFamily="34" charset="-120"/>
              </a:rPr>
              <a:t>SOURCES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indent="0" marL="0">
              <a:buNone/>
            </a:pPr>
            <a:r>
              <a:rPr lang="en-US" sz="3000" b="1" dirty="0">
                <a:solidFill>
                  <a:srgbClr val="121A3A"/>
                </a:solidFill>
                <a:latin typeface="Cambria" pitchFamily="34" charset="0"/>
                <a:ea typeface="Cambria" pitchFamily="34" charset="-122"/>
                <a:cs typeface="Cambria" pitchFamily="34" charset="-120"/>
              </a:rPr>
              <a:t>References</a:t>
            </a:r>
            <a:endParaRPr lang="en-US" sz="3000" dirty="0"/>
          </a:p>
        </p:txBody>
      </p:sp>
      <p:sp>
        <p:nvSpPr>
          <p:cNvPr id="4" name="Shape 2"/>
          <p:cNvSpPr/>
          <p:nvPr/>
        </p:nvSpPr>
        <p:spPr>
          <a:xfrm>
            <a:off x="502920" y="1645920"/>
            <a:ext cx="11155680" cy="658368"/>
          </a:xfrm>
          <a:prstGeom prst="roundRect">
            <a:avLst>
              <a:gd name="adj" fmla="val 8333"/>
            </a:avLst>
          </a:prstGeom>
          <a:solidFill>
            <a:srgbClr val="FFFFFF"/>
          </a:solidFill>
          <a:ln w="12700">
            <a:solidFill>
              <a:srgbClr val="E1E5F5"/>
            </a:solidFill>
            <a:prstDash val="solid"/>
          </a:ln>
        </p:spPr>
      </p:sp>
      <p:sp>
        <p:nvSpPr>
          <p:cNvPr id="5" name="Shape 3"/>
          <p:cNvSpPr/>
          <p:nvPr/>
        </p:nvSpPr>
        <p:spPr>
          <a:xfrm>
            <a:off x="667512" y="1792224"/>
            <a:ext cx="365760" cy="365760"/>
          </a:xfrm>
          <a:prstGeom prst="ellipse">
            <a:avLst/>
          </a:prstGeom>
          <a:solidFill>
            <a:srgbClr val="0E93A6"/>
          </a:solidFill>
          <a:ln/>
        </p:spPr>
      </p:sp>
      <p:sp>
        <p:nvSpPr>
          <p:cNvPr id="6" name="Text 4"/>
          <p:cNvSpPr/>
          <p:nvPr/>
        </p:nvSpPr>
        <p:spPr>
          <a:xfrm>
            <a:off x="667512" y="179222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645920"/>
            <a:ext cx="10241280" cy="658368"/>
          </a:xfrm>
          <a:prstGeom prst="rect">
            <a:avLst/>
          </a:prstGeom>
          <a:noFill/>
          <a:ln/>
        </p:spPr>
        <p:txBody>
          <a:bodyPr wrap="square" lIns="0" tIns="0" rIns="0" bIns="0" rtlCol="0" anchor="ctr"/>
          <a:lstStyle/>
          <a:p>
            <a:pPr indent="0" marL="0">
              <a:buNone/>
            </a:pPr>
            <a:r>
              <a:rPr lang="en-US" sz="1150" dirty="0">
                <a:solidFill>
                  <a:srgbClr val="121A3A"/>
                </a:solidFill>
                <a:latin typeface="Calibri" pitchFamily="34" charset="0"/>
                <a:ea typeface="Calibri" pitchFamily="34" charset="-122"/>
                <a:cs typeface="Calibri" pitchFamily="34" charset="-120"/>
              </a:rPr>
              <a:t>DeepSeek-AI. “DeepSeek-V3 Technical Report.” arXiv:2412.19437, 2024.</a:t>
            </a:r>
            <a:endParaRPr lang="en-US" sz="1150" dirty="0"/>
          </a:p>
        </p:txBody>
      </p:sp>
      <p:sp>
        <p:nvSpPr>
          <p:cNvPr id="8" name="Shape 6"/>
          <p:cNvSpPr/>
          <p:nvPr/>
        </p:nvSpPr>
        <p:spPr>
          <a:xfrm>
            <a:off x="502920" y="2423160"/>
            <a:ext cx="11155680" cy="658368"/>
          </a:xfrm>
          <a:prstGeom prst="roundRect">
            <a:avLst>
              <a:gd name="adj" fmla="val 8333"/>
            </a:avLst>
          </a:prstGeom>
          <a:solidFill>
            <a:srgbClr val="FFFFFF"/>
          </a:solidFill>
          <a:ln w="12700">
            <a:solidFill>
              <a:srgbClr val="E1E5F5"/>
            </a:solidFill>
            <a:prstDash val="solid"/>
          </a:ln>
        </p:spPr>
      </p:sp>
      <p:sp>
        <p:nvSpPr>
          <p:cNvPr id="9" name="Shape 7"/>
          <p:cNvSpPr/>
          <p:nvPr/>
        </p:nvSpPr>
        <p:spPr>
          <a:xfrm>
            <a:off x="667512" y="2569464"/>
            <a:ext cx="365760" cy="365760"/>
          </a:xfrm>
          <a:prstGeom prst="ellipse">
            <a:avLst/>
          </a:prstGeom>
          <a:solidFill>
            <a:srgbClr val="0E93A6"/>
          </a:solidFill>
          <a:ln/>
        </p:spPr>
      </p:sp>
      <p:sp>
        <p:nvSpPr>
          <p:cNvPr id="10" name="Text 8"/>
          <p:cNvSpPr/>
          <p:nvPr/>
        </p:nvSpPr>
        <p:spPr>
          <a:xfrm>
            <a:off x="667512" y="256946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423160"/>
            <a:ext cx="10241280" cy="658368"/>
          </a:xfrm>
          <a:prstGeom prst="rect">
            <a:avLst/>
          </a:prstGeom>
          <a:noFill/>
          <a:ln/>
        </p:spPr>
        <p:txBody>
          <a:bodyPr wrap="square" lIns="0" tIns="0" rIns="0" bIns="0" rtlCol="0" anchor="ctr"/>
          <a:lstStyle/>
          <a:p>
            <a:pPr indent="0" marL="0">
              <a:buNone/>
            </a:pPr>
            <a:r>
              <a:rPr lang="en-US" sz="1150" dirty="0">
                <a:solidFill>
                  <a:srgbClr val="121A3A"/>
                </a:solidFill>
                <a:latin typeface="Calibri" pitchFamily="34" charset="0"/>
                <a:ea typeface="Calibri" pitchFamily="34" charset="-122"/>
                <a:cs typeface="Calibri" pitchFamily="34" charset="-120"/>
              </a:rPr>
              <a:t>DeepSeek-AI. “DeepSeek-V2: A Strong, Economical, and Efficient Mixture-of-Experts Language Model.” arXiv:2405.04434, 2024.</a:t>
            </a:r>
            <a:endParaRPr lang="en-US" sz="1150" dirty="0"/>
          </a:p>
        </p:txBody>
      </p:sp>
      <p:sp>
        <p:nvSpPr>
          <p:cNvPr id="12" name="Shape 10"/>
          <p:cNvSpPr/>
          <p:nvPr/>
        </p:nvSpPr>
        <p:spPr>
          <a:xfrm>
            <a:off x="502920" y="3200400"/>
            <a:ext cx="11155680" cy="658368"/>
          </a:xfrm>
          <a:prstGeom prst="roundRect">
            <a:avLst>
              <a:gd name="adj" fmla="val 8333"/>
            </a:avLst>
          </a:prstGeom>
          <a:solidFill>
            <a:srgbClr val="FFFFFF"/>
          </a:solidFill>
          <a:ln w="12700">
            <a:solidFill>
              <a:srgbClr val="E1E5F5"/>
            </a:solidFill>
            <a:prstDash val="solid"/>
          </a:ln>
        </p:spPr>
      </p:sp>
      <p:sp>
        <p:nvSpPr>
          <p:cNvPr id="13" name="Shape 11"/>
          <p:cNvSpPr/>
          <p:nvPr/>
        </p:nvSpPr>
        <p:spPr>
          <a:xfrm>
            <a:off x="667512" y="3346704"/>
            <a:ext cx="365760" cy="365760"/>
          </a:xfrm>
          <a:prstGeom prst="ellipse">
            <a:avLst/>
          </a:prstGeom>
          <a:solidFill>
            <a:srgbClr val="0E93A6"/>
          </a:solidFill>
          <a:ln/>
        </p:spPr>
      </p:sp>
      <p:sp>
        <p:nvSpPr>
          <p:cNvPr id="14" name="Text 12"/>
          <p:cNvSpPr/>
          <p:nvPr/>
        </p:nvSpPr>
        <p:spPr>
          <a:xfrm>
            <a:off x="667512" y="334670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3200400"/>
            <a:ext cx="10241280" cy="658368"/>
          </a:xfrm>
          <a:prstGeom prst="rect">
            <a:avLst/>
          </a:prstGeom>
          <a:noFill/>
          <a:ln/>
        </p:spPr>
        <p:txBody>
          <a:bodyPr wrap="square" lIns="0" tIns="0" rIns="0" bIns="0" rtlCol="0" anchor="ctr"/>
          <a:lstStyle/>
          <a:p>
            <a:pPr indent="0" marL="0">
              <a:buNone/>
            </a:pPr>
            <a:r>
              <a:rPr lang="en-US" sz="1150" dirty="0">
                <a:solidFill>
                  <a:srgbClr val="121A3A"/>
                </a:solidFill>
                <a:latin typeface="Calibri" pitchFamily="34" charset="0"/>
                <a:ea typeface="Calibri" pitchFamily="34" charset="-122"/>
                <a:cs typeface="Calibri" pitchFamily="34" charset="-120"/>
              </a:rPr>
              <a:t>DeepSeek-AI. “DeepSeek-R1: Incentivizing Reasoning Capability in LLMs via Reinforcement Learning.” 2025.</a:t>
            </a:r>
            <a:endParaRPr lang="en-US" sz="1150" dirty="0"/>
          </a:p>
        </p:txBody>
      </p:sp>
      <p:sp>
        <p:nvSpPr>
          <p:cNvPr id="16" name="Shape 14"/>
          <p:cNvSpPr/>
          <p:nvPr/>
        </p:nvSpPr>
        <p:spPr>
          <a:xfrm>
            <a:off x="502920" y="3977640"/>
            <a:ext cx="11155680" cy="658368"/>
          </a:xfrm>
          <a:prstGeom prst="roundRect">
            <a:avLst>
              <a:gd name="adj" fmla="val 8333"/>
            </a:avLst>
          </a:prstGeom>
          <a:solidFill>
            <a:srgbClr val="FFFFFF"/>
          </a:solidFill>
          <a:ln w="12700">
            <a:solidFill>
              <a:srgbClr val="E1E5F5"/>
            </a:solidFill>
            <a:prstDash val="solid"/>
          </a:ln>
        </p:spPr>
      </p:sp>
      <p:sp>
        <p:nvSpPr>
          <p:cNvPr id="17" name="Shape 15"/>
          <p:cNvSpPr/>
          <p:nvPr/>
        </p:nvSpPr>
        <p:spPr>
          <a:xfrm>
            <a:off x="667512" y="4123944"/>
            <a:ext cx="365760" cy="365760"/>
          </a:xfrm>
          <a:prstGeom prst="ellipse">
            <a:avLst/>
          </a:prstGeom>
          <a:solidFill>
            <a:srgbClr val="0E93A6"/>
          </a:solidFill>
          <a:ln/>
        </p:spPr>
      </p:sp>
      <p:sp>
        <p:nvSpPr>
          <p:cNvPr id="18" name="Text 16"/>
          <p:cNvSpPr/>
          <p:nvPr/>
        </p:nvSpPr>
        <p:spPr>
          <a:xfrm>
            <a:off x="667512" y="412394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977640"/>
            <a:ext cx="10241280" cy="658368"/>
          </a:xfrm>
          <a:prstGeom prst="rect">
            <a:avLst/>
          </a:prstGeom>
          <a:noFill/>
          <a:ln/>
        </p:spPr>
        <p:txBody>
          <a:bodyPr wrap="square" lIns="0" tIns="0" rIns="0" bIns="0" rtlCol="0" anchor="ctr"/>
          <a:lstStyle/>
          <a:p>
            <a:pPr indent="0" marL="0">
              <a:buNone/>
            </a:pPr>
            <a:r>
              <a:rPr lang="en-US" sz="1150" dirty="0">
                <a:solidFill>
                  <a:srgbClr val="121A3A"/>
                </a:solidFill>
                <a:latin typeface="Calibri" pitchFamily="34" charset="0"/>
                <a:ea typeface="Calibri" pitchFamily="34" charset="-122"/>
                <a:cs typeface="Calibri" pitchFamily="34" charset="-120"/>
              </a:rPr>
              <a:t>Vaswani, A. et al. “Attention Is All You Need.” arXiv:1706.03762, 2017.</a:t>
            </a:r>
            <a:endParaRPr lang="en-US" sz="1150" dirty="0"/>
          </a:p>
        </p:txBody>
      </p:sp>
      <p:sp>
        <p:nvSpPr>
          <p:cNvPr id="20" name="Shape 18"/>
          <p:cNvSpPr/>
          <p:nvPr/>
        </p:nvSpPr>
        <p:spPr>
          <a:xfrm>
            <a:off x="502920" y="4754880"/>
            <a:ext cx="11155680" cy="658368"/>
          </a:xfrm>
          <a:prstGeom prst="roundRect">
            <a:avLst>
              <a:gd name="adj" fmla="val 8333"/>
            </a:avLst>
          </a:prstGeom>
          <a:solidFill>
            <a:srgbClr val="FFFFFF"/>
          </a:solidFill>
          <a:ln w="12700">
            <a:solidFill>
              <a:srgbClr val="E1E5F5"/>
            </a:solidFill>
            <a:prstDash val="solid"/>
          </a:ln>
        </p:spPr>
      </p:sp>
      <p:sp>
        <p:nvSpPr>
          <p:cNvPr id="21" name="Shape 19"/>
          <p:cNvSpPr/>
          <p:nvPr/>
        </p:nvSpPr>
        <p:spPr>
          <a:xfrm>
            <a:off x="667512" y="4901184"/>
            <a:ext cx="365760" cy="365760"/>
          </a:xfrm>
          <a:prstGeom prst="ellipse">
            <a:avLst/>
          </a:prstGeom>
          <a:solidFill>
            <a:srgbClr val="0E93A6"/>
          </a:solidFill>
          <a:ln/>
        </p:spPr>
      </p:sp>
      <p:sp>
        <p:nvSpPr>
          <p:cNvPr id="22" name="Text 20"/>
          <p:cNvSpPr/>
          <p:nvPr/>
        </p:nvSpPr>
        <p:spPr>
          <a:xfrm>
            <a:off x="667512" y="490118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754880"/>
            <a:ext cx="10241280" cy="658368"/>
          </a:xfrm>
          <a:prstGeom prst="rect">
            <a:avLst/>
          </a:prstGeom>
          <a:noFill/>
          <a:ln/>
        </p:spPr>
        <p:txBody>
          <a:bodyPr wrap="square" lIns="0" tIns="0" rIns="0" bIns="0" rtlCol="0" anchor="ctr"/>
          <a:lstStyle/>
          <a:p>
            <a:pPr indent="0" marL="0">
              <a:buNone/>
            </a:pPr>
            <a:r>
              <a:rPr lang="en-US" sz="1150" dirty="0">
                <a:solidFill>
                  <a:srgbClr val="121A3A"/>
                </a:solidFill>
                <a:latin typeface="Calibri" pitchFamily="34" charset="0"/>
                <a:ea typeface="Calibri" pitchFamily="34" charset="-122"/>
                <a:cs typeface="Calibri" pitchFamily="34" charset="-120"/>
              </a:rPr>
              <a:t>Su, J. et al. “RoFormer: Enhanced Transformer with Rotary Position Embedding.” Neurocomputing, 2024.</a:t>
            </a:r>
            <a:endParaRPr lang="en-US" sz="1150" dirty="0"/>
          </a:p>
        </p:txBody>
      </p:sp>
      <p:sp>
        <p:nvSpPr>
          <p:cNvPr id="24" name="Shape 22"/>
          <p:cNvSpPr/>
          <p:nvPr/>
        </p:nvSpPr>
        <p:spPr>
          <a:xfrm>
            <a:off x="502920" y="5532120"/>
            <a:ext cx="11155680" cy="658368"/>
          </a:xfrm>
          <a:prstGeom prst="roundRect">
            <a:avLst>
              <a:gd name="adj" fmla="val 8333"/>
            </a:avLst>
          </a:prstGeom>
          <a:solidFill>
            <a:srgbClr val="FFFFFF"/>
          </a:solidFill>
          <a:ln w="12700">
            <a:solidFill>
              <a:srgbClr val="E1E5F5"/>
            </a:solidFill>
            <a:prstDash val="solid"/>
          </a:ln>
        </p:spPr>
      </p:sp>
      <p:sp>
        <p:nvSpPr>
          <p:cNvPr id="25" name="Shape 23"/>
          <p:cNvSpPr/>
          <p:nvPr/>
        </p:nvSpPr>
        <p:spPr>
          <a:xfrm>
            <a:off x="667512" y="5678424"/>
            <a:ext cx="365760" cy="365760"/>
          </a:xfrm>
          <a:prstGeom prst="ellipse">
            <a:avLst/>
          </a:prstGeom>
          <a:solidFill>
            <a:srgbClr val="0E93A6"/>
          </a:solidFill>
          <a:ln/>
        </p:spPr>
      </p:sp>
      <p:sp>
        <p:nvSpPr>
          <p:cNvPr id="26" name="Text 24"/>
          <p:cNvSpPr/>
          <p:nvPr/>
        </p:nvSpPr>
        <p:spPr>
          <a:xfrm>
            <a:off x="667512" y="567842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5532120"/>
            <a:ext cx="10241280" cy="658368"/>
          </a:xfrm>
          <a:prstGeom prst="rect">
            <a:avLst/>
          </a:prstGeom>
          <a:noFill/>
          <a:ln/>
        </p:spPr>
        <p:txBody>
          <a:bodyPr wrap="square" lIns="0" tIns="0" rIns="0" bIns="0" rtlCol="0" anchor="ctr"/>
          <a:lstStyle/>
          <a:p>
            <a:pPr indent="0" marL="0">
              <a:buNone/>
            </a:pPr>
            <a:r>
              <a:rPr lang="en-US" sz="1150" dirty="0">
                <a:solidFill>
                  <a:srgbClr val="121A3A"/>
                </a:solidFill>
                <a:latin typeface="Calibri" pitchFamily="34" charset="0"/>
                <a:ea typeface="Calibri" pitchFamily="34" charset="-122"/>
                <a:cs typeface="Calibri" pitchFamily="34" charset="-120"/>
              </a:rPr>
              <a:t>Dai, D. et al. “DeepSeekMoE: Towards Ultimate Expert Specialization in Mixture-of-Experts Language Models.” 2024.</a:t>
            </a:r>
            <a:endParaRPr lang="en-US" sz="1150" dirty="0"/>
          </a:p>
        </p:txBody>
      </p:sp>
      <p:sp>
        <p:nvSpPr>
          <p:cNvPr id="28" name="Text 26"/>
          <p:cNvSpPr/>
          <p:nvPr/>
        </p:nvSpPr>
        <p:spPr>
          <a:xfrm>
            <a:off x="502920" y="6473952"/>
            <a:ext cx="6400800" cy="274320"/>
          </a:xfrm>
          <a:prstGeom prst="rect">
            <a:avLst/>
          </a:prstGeom>
          <a:noFill/>
          <a:ln/>
        </p:spPr>
        <p:txBody>
          <a:bodyPr wrap="square" rtlCol="0" anchor="ctr"/>
          <a:lstStyle/>
          <a:p>
            <a:pPr indent="0" marL="0">
              <a:buNone/>
            </a:pPr>
            <a:r>
              <a:rPr lang="en-US" sz="900" spc="100" kern="0" dirty="0">
                <a:solidFill>
                  <a:srgbClr val="5B6480"/>
                </a:solidFill>
                <a:latin typeface="Calibri" pitchFamily="34" charset="0"/>
                <a:ea typeface="Calibri" pitchFamily="34" charset="-122"/>
                <a:cs typeface="Calibri" pitchFamily="34" charset="-120"/>
              </a:rPr>
              <a:t>DEEPSEEK AI MODEL  |  AI ENGINEERING SEMINAR</a:t>
            </a:r>
            <a:endParaRPr lang="en-US" sz="900" dirty="0"/>
          </a:p>
        </p:txBody>
      </p:sp>
      <p:sp>
        <p:nvSpPr>
          <p:cNvPr id="29" name="Text 27"/>
          <p:cNvSpPr/>
          <p:nvPr/>
        </p:nvSpPr>
        <p:spPr>
          <a:xfrm>
            <a:off x="11228832" y="6473952"/>
            <a:ext cx="457200" cy="274320"/>
          </a:xfrm>
          <a:prstGeom prst="rect">
            <a:avLst/>
          </a:prstGeom>
          <a:noFill/>
          <a:ln/>
        </p:spPr>
        <p:txBody>
          <a:bodyPr wrap="square" rtlCol="0" anchor="ctr"/>
          <a:lstStyle/>
          <a:p>
            <a:pPr algn="r" indent="0" marL="0">
              <a:buNone/>
            </a:pPr>
            <a:r>
              <a:rPr lang="en-US" sz="900" dirty="0">
                <a:solidFill>
                  <a:srgbClr val="5B648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2026-07-19T07:45:30Z</dcterms:created>
  <dcterms:modified xsi:type="dcterms:W3CDTF">2026-07-19T07:45:30Z</dcterms:modified>
</cp:coreProperties>
</file>